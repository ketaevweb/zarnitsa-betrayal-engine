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111"/>
        </a:solidFill>
      </p:bgPr>
    </p:bg>
    <p:spTree>
      <p:nvGrpSpPr>
        <p:cNvPr id="1" name=""/>
        <p:cNvGrpSpPr/>
        <p:nvPr/>
      </p:nvGrpSpPr>
      <p:grpSpPr>
        <a:xfrm>
          <a:off x="0" y="0"/>
          <a:ext cx="0" cy="0"/>
          <a:chOff x="0" y="0"/>
          <a:chExt cx="0" cy="0"/>
        </a:xfrm>
      </p:grpSpPr>
      <p:pic>
        <p:nvPicPr>
          <p:cNvPr id="2" name="Image 0" descr="/tmp/h2p-fit-1792619795632-qkrnam.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stretch>
            <a:fillRect/>
          </a:stretch>
        </p:blipFill>
        <p:spPr>
          <a:xfrm>
            <a:off x="0" y="0"/>
            <a:ext cx="9144000" cy="5143500"/>
          </a:xfrm>
          <a:prstGeom prst="rect">
            <a:avLst/>
          </a:prstGeom>
        </p:spPr>
      </p:pic>
      <p:sp>
        <p:nvSpPr>
          <p:cNvPr id="5" name="Text 0"/>
          <p:cNvSpPr/>
          <p:nvPr/>
        </p:nvSpPr>
        <p:spPr>
          <a:xfrm>
            <a:off x="514350" y="2661940"/>
            <a:ext cx="5965054" cy="164592"/>
          </a:xfrm>
          <a:prstGeom prst="rect">
            <a:avLst/>
          </a:prstGeom>
          <a:noFill/>
          <a:ln/>
        </p:spPr>
        <p:txBody>
          <a:bodyPr wrap="none" lIns="0" tIns="0" rIns="0" bIns="0" rtlCol="0" anchor="t"/>
          <a:lstStyle/>
          <a:p>
            <a:pPr algn="l" indent="0" marL="0">
              <a:lnSpc>
                <a:spcPts val="1055"/>
              </a:lnSpc>
              <a:buNone/>
            </a:pPr>
            <a:r>
              <a:rPr lang="en-US" sz="800" spc="211" kern="0" dirty="0">
                <a:solidFill>
                  <a:srgbClr val="C0A774"/>
                </a:solidFill>
                <a:latin typeface="Liberation Sans Narrow" pitchFamily="34" charset="0"/>
                <a:ea typeface="Liberation Sans Narrow" pitchFamily="34" charset="-122"/>
                <a:cs typeface="Liberation Sans Narrow" pitchFamily="34" charset="-120"/>
              </a:rPr>
              <a:t>PUBLISHER PITCH · 2026</a:t>
            </a:r>
            <a:endParaRPr lang="en-US" sz="800" dirty="0"/>
          </a:p>
        </p:txBody>
      </p:sp>
      <p:sp>
        <p:nvSpPr>
          <p:cNvPr id="6" name="Text 1"/>
          <p:cNvSpPr/>
          <p:nvPr/>
        </p:nvSpPr>
        <p:spPr>
          <a:xfrm>
            <a:off x="514350" y="2910185"/>
            <a:ext cx="6055433" cy="864108"/>
          </a:xfrm>
          <a:prstGeom prst="rect">
            <a:avLst/>
          </a:prstGeom>
          <a:noFill/>
          <a:ln/>
          <a:effectLst>
            <a:outerShdw sx="100000" sy="100000" kx="0" ky="0" algn="bl" rotWithShape="0" blurRad="323850" dist="38100" dir="5400000">
              <a:srgbClr val="000000">
                <a:alpha val="50000"/>
              </a:srgbClr>
            </a:outerShdw>
          </a:effectLst>
        </p:spPr>
        <p:txBody>
          <a:bodyPr wrap="none" lIns="0" tIns="0" rIns="0" bIns="0" rtlCol="0" anchor="t"/>
          <a:lstStyle/>
          <a:p>
            <a:pPr algn="l" indent="0" marL="0">
              <a:lnSpc>
                <a:spcPts val="6300"/>
              </a:lnSpc>
              <a:buNone/>
            </a:pPr>
            <a:r>
              <a:rPr lang="en-US" sz="6300" b="1" spc="378" kern="0" dirty="0">
                <a:solidFill>
                  <a:srgbClr val="E8DFC8"/>
                </a:solidFill>
                <a:latin typeface="Tinos" pitchFamily="34" charset="0"/>
                <a:ea typeface="Tinos" pitchFamily="34" charset="-122"/>
                <a:cs typeface="Tinos" pitchFamily="34" charset="-120"/>
              </a:rPr>
              <a:t>ZARNITSA</a:t>
            </a:r>
            <a:endParaRPr lang="en-US" sz="6300" dirty="0"/>
          </a:p>
        </p:txBody>
      </p:sp>
      <p:sp>
        <p:nvSpPr>
          <p:cNvPr id="7" name="Text 2"/>
          <p:cNvSpPr/>
          <p:nvPr/>
        </p:nvSpPr>
        <p:spPr>
          <a:xfrm>
            <a:off x="514350" y="3853160"/>
            <a:ext cx="4429125" cy="469666"/>
          </a:xfrm>
          <a:prstGeom prst="rect">
            <a:avLst/>
          </a:prstGeom>
          <a:noFill/>
          <a:ln/>
        </p:spPr>
        <p:txBody>
          <a:bodyPr wrap="square" lIns="0" tIns="0" rIns="0" bIns="0" rtlCol="0" anchor="t"/>
          <a:lstStyle/>
          <a:p>
            <a:pPr algn="l" indent="0" marL="0">
              <a:lnSpc>
                <a:spcPts val="1713"/>
              </a:lnSpc>
              <a:buNone/>
            </a:pPr>
            <a:r>
              <a:rPr lang="en-US" sz="1181" i="1" dirty="0">
                <a:solidFill>
                  <a:srgbClr val="E8DFC8">
                    <a:alpha val="90000"/>
                  </a:srgbClr>
                </a:solidFill>
                <a:latin typeface="Tinos" pitchFamily="34" charset="0"/>
                <a:ea typeface="Tinos" pitchFamily="34" charset="-122"/>
                <a:cs typeface="Tinos" pitchFamily="34" charset="-120"/>
              </a:rPr>
              <a:t>“The oath binds the vataga. The vataga holds the world. Betray the oath — and the world falls first.”</a:t>
            </a:r>
            <a:endParaRPr lang="en-US" sz="1181" dirty="0"/>
          </a:p>
        </p:txBody>
      </p:sp>
      <p:sp>
        <p:nvSpPr>
          <p:cNvPr id="8" name="Text 3"/>
          <p:cNvSpPr/>
          <p:nvPr/>
        </p:nvSpPr>
        <p:spPr>
          <a:xfrm>
            <a:off x="514350" y="4459486"/>
            <a:ext cx="3714750" cy="7144"/>
          </a:xfrm>
          <a:prstGeom prst="rect">
            <a:avLst/>
          </a:prstGeom>
          <a:solidFill>
            <a:srgbClr val="C0A774">
              <a:alpha val="55000"/>
            </a:srgbClr>
          </a:solidFill>
          <a:ln/>
        </p:spPr>
        <p:txBody>
          <a:bodyPr wrap="square" rtlCol="0" anchor="ctr"/>
          <a:lstStyle/>
          <a:p>
            <a:pPr indent="0" marL="0">
              <a:buNone/>
            </a:pPr>
            <a:endParaRPr lang="en-US" dirty="0"/>
          </a:p>
        </p:txBody>
      </p:sp>
      <p:sp>
        <p:nvSpPr>
          <p:cNvPr id="9" name="Text 4"/>
          <p:cNvSpPr/>
          <p:nvPr/>
        </p:nvSpPr>
        <p:spPr>
          <a:xfrm>
            <a:off x="514350" y="4580930"/>
            <a:ext cx="4518980" cy="164592"/>
          </a:xfrm>
          <a:prstGeom prst="rect">
            <a:avLst/>
          </a:prstGeom>
          <a:noFill/>
          <a:ln/>
        </p:spPr>
        <p:txBody>
          <a:bodyPr wrap="square" lIns="0" tIns="0" rIns="0" bIns="0" rtlCol="0" anchor="t"/>
          <a:lstStyle/>
          <a:p>
            <a:pPr algn="l" indent="0" marL="0">
              <a:lnSpc>
                <a:spcPts val="1055"/>
              </a:lnSpc>
              <a:buNone/>
            </a:pPr>
            <a:r>
              <a:rPr lang="en-US" sz="703" spc="21" kern="0" dirty="0">
                <a:solidFill>
                  <a:srgbClr val="A89E88"/>
                </a:solidFill>
                <a:latin typeface="Carlito" pitchFamily="34" charset="0"/>
                <a:ea typeface="Carlito" pitchFamily="34" charset="-122"/>
                <a:cs typeface="Carlito" pitchFamily="34" charset="-120"/>
              </a:rPr>
              <a:t>Narrative action-RPG · Single-player + co-op 2–4 · PC / next-gen consoles / cloud · Release 2031</a:t>
            </a:r>
            <a:endParaRPr lang="en-US" sz="703" dirty="0"/>
          </a:p>
        </p:txBody>
      </p:sp>
      <p:sp>
        <p:nvSpPr>
          <p:cNvPr id="10" name="Text 5"/>
          <p:cNvSpPr/>
          <p:nvPr/>
        </p:nvSpPr>
        <p:spPr>
          <a:xfrm>
            <a:off x="8017336" y="4845248"/>
            <a:ext cx="778866" cy="164592"/>
          </a:xfrm>
          <a:prstGeom prst="rect">
            <a:avLst/>
          </a:prstGeom>
          <a:noFill/>
          <a:ln/>
        </p:spPr>
        <p:txBody>
          <a:bodyPr wrap="none" lIns="0" tIns="0" rIns="0" bIns="0" rtlCol="0" anchor="t"/>
          <a:lstStyle/>
          <a:p>
            <a:pPr algn="l" indent="0" marL="0">
              <a:lnSpc>
                <a:spcPts val="886"/>
              </a:lnSpc>
              <a:buNone/>
            </a:pPr>
            <a:r>
              <a:rPr lang="en-US" sz="800" spc="71" kern="0" dirty="0">
                <a:solidFill>
                  <a:srgbClr val="A89E88"/>
                </a:solidFill>
                <a:latin typeface="Carlito" pitchFamily="34" charset="0"/>
                <a:ea typeface="Carlito" pitchFamily="34" charset="-122"/>
                <a:cs typeface="Carlito" pitchFamily="34" charset="-120"/>
              </a:rPr>
              <a:t>Vataga Games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1111"/>
        </a:solidFill>
      </p:bgPr>
    </p:bg>
    <p:spTree>
      <p:nvGrpSpPr>
        <p:cNvPr id="1" name=""/>
        <p:cNvGrpSpPr/>
        <p:nvPr/>
      </p:nvGrpSpPr>
      <p:grpSpPr>
        <a:xfrm>
          <a:off x="0" y="0"/>
          <a:ext cx="0" cy="0"/>
          <a:chOff x="0" y="0"/>
          <a:chExt cx="0" cy="0"/>
        </a:xfrm>
      </p:grpSpPr>
      <p:pic>
        <p:nvPicPr>
          <p:cNvPr id="2" name="Image 0" descr="/tmp/h2p-fit-1792619794513-9do6c3.png">    </p:cNvPr>
          <p:cNvPicPr>
            <a:picLocks noChangeAspect="1"/>
          </p:cNvPicPr>
          <p:nvPr/>
        </p:nvPicPr>
        <p:blipFill>
          <a:blip r:embed="rId1"/>
          <a:stretch>
            <a:fillRect/>
          </a:stretch>
        </p:blipFill>
        <p:spPr>
          <a:xfrm>
            <a:off x="4937782" y="0"/>
            <a:ext cx="4206218" cy="5143500"/>
          </a:xfrm>
          <a:prstGeom prst="rect">
            <a:avLst/>
          </a:prstGeom>
        </p:spPr>
      </p:pic>
      <p:pic>
        <p:nvPicPr>
          <p:cNvPr id="3" name="Image 1" descr="preencoded.png">    </p:cNvPr>
          <p:cNvPicPr>
            <a:picLocks noChangeAspect="1"/>
          </p:cNvPicPr>
          <p:nvPr/>
        </p:nvPicPr>
        <p:blipFill>
          <a:blip r:embed="rId2"/>
          <a:stretch>
            <a:fillRect/>
          </a:stretch>
        </p:blipFill>
        <p:spPr>
          <a:xfrm>
            <a:off x="4937782" y="0"/>
            <a:ext cx="4206218" cy="5143500"/>
          </a:xfrm>
          <a:prstGeom prst="rect">
            <a:avLst/>
          </a:prstGeom>
        </p:spPr>
      </p:pic>
      <p:sp>
        <p:nvSpPr>
          <p:cNvPr id="4" name="Shape 0"/>
          <p:cNvSpPr/>
          <p:nvPr/>
        </p:nvSpPr>
        <p:spPr>
          <a:xfrm>
            <a:off x="1662708" y="4482368"/>
            <a:ext cx="0" cy="361094"/>
          </a:xfrm>
          <a:prstGeom prst="line">
            <a:avLst/>
          </a:prstGeom>
          <a:noFill/>
          <a:ln w="7144">
            <a:solidFill>
              <a:srgbClr val="E8DFC8"/>
            </a:solidFill>
            <a:prstDash val="solid"/>
          </a:ln>
        </p:spPr>
      </p:sp>
      <p:sp>
        <p:nvSpPr>
          <p:cNvPr id="5" name="Shape 1"/>
          <p:cNvSpPr/>
          <p:nvPr/>
        </p:nvSpPr>
        <p:spPr>
          <a:xfrm>
            <a:off x="2957513" y="4482368"/>
            <a:ext cx="0" cy="361094"/>
          </a:xfrm>
          <a:prstGeom prst="line">
            <a:avLst/>
          </a:prstGeom>
          <a:noFill/>
          <a:ln w="7144">
            <a:solidFill>
              <a:srgbClr val="E8DFC8"/>
            </a:solidFill>
            <a:prstDash val="solid"/>
          </a:ln>
        </p:spPr>
      </p:sp>
      <p:sp>
        <p:nvSpPr>
          <p:cNvPr id="6" name="Shape 2"/>
          <p:cNvSpPr/>
          <p:nvPr/>
        </p:nvSpPr>
        <p:spPr>
          <a:xfrm>
            <a:off x="4252317" y="4482368"/>
            <a:ext cx="0" cy="361094"/>
          </a:xfrm>
          <a:prstGeom prst="line">
            <a:avLst/>
          </a:prstGeom>
          <a:noFill/>
          <a:ln w="7144">
            <a:solidFill>
              <a:srgbClr val="E8DFC8"/>
            </a:solidFill>
            <a:prstDash val="solid"/>
          </a:ln>
        </p:spPr>
      </p:sp>
      <p:sp>
        <p:nvSpPr>
          <p:cNvPr id="7" name="Text 3"/>
          <p:cNvSpPr/>
          <p:nvPr/>
        </p:nvSpPr>
        <p:spPr>
          <a:xfrm>
            <a:off x="457200" y="328613"/>
            <a:ext cx="7603741" cy="164592"/>
          </a:xfrm>
          <a:prstGeom prst="rect">
            <a:avLst/>
          </a:prstGeom>
          <a:noFill/>
          <a:ln/>
        </p:spPr>
        <p:txBody>
          <a:bodyPr wrap="none" lIns="0" tIns="0" rIns="0" bIns="0" rtlCol="0" anchor="t"/>
          <a:lstStyle/>
          <a:p>
            <a:pPr algn="l" indent="0" marL="0">
              <a:lnSpc>
                <a:spcPts val="1055"/>
              </a:lnSpc>
              <a:buNone/>
            </a:pPr>
            <a:r>
              <a:rPr lang="en-US" sz="800" b="1" spc="211" kern="0" dirty="0">
                <a:solidFill>
                  <a:srgbClr val="C94B4B"/>
                </a:solidFill>
                <a:latin typeface="Carlito" pitchFamily="34" charset="0"/>
                <a:ea typeface="Carlito" pitchFamily="34" charset="-122"/>
                <a:cs typeface="Carlito" pitchFamily="34" charset="-120"/>
              </a:rPr>
              <a:t>LOGLINE</a:t>
            </a:r>
            <a:endParaRPr lang="en-US" sz="800" dirty="0"/>
          </a:p>
        </p:txBody>
      </p:sp>
      <p:sp>
        <p:nvSpPr>
          <p:cNvPr id="8" name="Text 4"/>
          <p:cNvSpPr/>
          <p:nvPr/>
        </p:nvSpPr>
        <p:spPr>
          <a:xfrm>
            <a:off x="457200" y="562570"/>
            <a:ext cx="4714875" cy="794912"/>
          </a:xfrm>
          <a:prstGeom prst="rect">
            <a:avLst/>
          </a:prstGeom>
          <a:noFill/>
          <a:ln/>
        </p:spPr>
        <p:txBody>
          <a:bodyPr wrap="square" lIns="0" tIns="0" rIns="0" bIns="0" rtlCol="0" anchor="t"/>
          <a:lstStyle/>
          <a:p>
            <a:pPr algn="l" indent="0" marL="0">
              <a:lnSpc>
                <a:spcPts val="2898"/>
              </a:lnSpc>
              <a:buNone/>
            </a:pPr>
            <a:r>
              <a:rPr lang="en-US" sz="2588" b="1" dirty="0">
                <a:solidFill>
                  <a:srgbClr val="E8DFC8"/>
                </a:solidFill>
                <a:latin typeface="Tinos" pitchFamily="34" charset="0"/>
                <a:ea typeface="Tinos" pitchFamily="34" charset="-122"/>
                <a:cs typeface="Tinos" pitchFamily="34" charset="-120"/>
              </a:rPr>
              <a:t>The god is dead. Night is coming. The Vataga remembers.</a:t>
            </a:r>
            <a:endParaRPr lang="en-US" sz="2588" dirty="0"/>
          </a:p>
        </p:txBody>
      </p:sp>
      <p:sp>
        <p:nvSpPr>
          <p:cNvPr id="9" name="Text 5"/>
          <p:cNvSpPr/>
          <p:nvPr/>
        </p:nvSpPr>
        <p:spPr>
          <a:xfrm>
            <a:off x="457200" y="1398612"/>
            <a:ext cx="3694881" cy="867966"/>
          </a:xfrm>
          <a:prstGeom prst="rect">
            <a:avLst/>
          </a:prstGeom>
          <a:noFill/>
          <a:ln/>
        </p:spPr>
        <p:txBody>
          <a:bodyPr wrap="square" lIns="0" tIns="0" rIns="0" bIns="0" rtlCol="0" anchor="t"/>
          <a:lstStyle/>
          <a:p>
            <a:pPr algn="l" indent="0" marL="0">
              <a:lnSpc>
                <a:spcPts val="1266"/>
              </a:lnSpc>
              <a:buNone/>
            </a:pPr>
            <a:r>
              <a:rPr lang="en-US" sz="844" dirty="0">
                <a:solidFill>
                  <a:srgbClr val="E8DFC8">
                    <a:alpha val="92000"/>
                  </a:srgbClr>
                </a:solidFill>
                <a:latin typeface="Carlito" pitchFamily="34" charset="0"/>
                <a:ea typeface="Carlito" pitchFamily="34" charset="-122"/>
                <a:cs typeface="Carlito" pitchFamily="34" charset="-120"/>
              </a:rPr>
              <a:t>Thirty years ago, people killed the last god — Zlatoglav. Since then the Mgla rises from the earth each night, and the country grows rich digging gold out of his body. Every ingot unearthed brings the eternal night closer. The player is the Oathbound Ataman, leading a vataga of sworn brothers: six companions with their own memory, hidden agendas and a very real capacity for betrayal.</a:t>
            </a:r>
            <a:endParaRPr lang="en-US" sz="844" dirty="0"/>
          </a:p>
        </p:txBody>
      </p:sp>
      <p:sp>
        <p:nvSpPr>
          <p:cNvPr id="10" name="Text 6"/>
          <p:cNvSpPr/>
          <p:nvPr/>
        </p:nvSpPr>
        <p:spPr>
          <a:xfrm>
            <a:off x="460772" y="2320156"/>
            <a:ext cx="2450306" cy="634008"/>
          </a:xfrm>
          <a:prstGeom prst="roundRect">
            <a:avLst>
              <a:gd name="adj" fmla="val 12019"/>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1" name="Text 7"/>
          <p:cNvSpPr/>
          <p:nvPr/>
        </p:nvSpPr>
        <p:spPr>
          <a:xfrm>
            <a:off x="578644" y="2409453"/>
            <a:ext cx="2214563" cy="177951"/>
          </a:xfrm>
          <a:prstGeom prst="rect">
            <a:avLst/>
          </a:prstGeom>
          <a:noFill/>
          <a:ln/>
        </p:spPr>
        <p:txBody>
          <a:bodyPr wrap="none" lIns="0" tIns="0" rIns="0" bIns="0" rtlCol="0" anchor="t">
            <a:normAutofit/>
          </a:bodyPr>
          <a:lstStyle/>
          <a:p>
            <a:pPr algn="l" indent="0" marL="0">
              <a:lnSpc>
                <a:spcPts val="1336"/>
              </a:lnSpc>
              <a:buNone/>
            </a:pPr>
            <a:r>
              <a:rPr lang="en-US" sz="1069" b="1" dirty="0">
                <a:solidFill>
                  <a:srgbClr val="E8DFC8"/>
                </a:solidFill>
                <a:latin typeface="Tinos" pitchFamily="34" charset="0"/>
                <a:ea typeface="Tinos" pitchFamily="34" charset="-122"/>
                <a:cs typeface="Tinos" pitchFamily="34" charset="-120"/>
              </a:rPr>
              <a:t>Memory of the brotherhood</a:t>
            </a:r>
            <a:endParaRPr lang="en-US" sz="1069" dirty="0"/>
          </a:p>
        </p:txBody>
      </p:sp>
      <p:sp>
        <p:nvSpPr>
          <p:cNvPr id="12" name="Text 8"/>
          <p:cNvSpPr/>
          <p:nvPr/>
        </p:nvSpPr>
        <p:spPr>
          <a:xfrm>
            <a:off x="578644" y="2614836"/>
            <a:ext cx="2324291" cy="153619"/>
          </a:xfrm>
          <a:prstGeom prst="rect">
            <a:avLst/>
          </a:prstGeom>
          <a:noFill/>
          <a:ln/>
        </p:spPr>
        <p:txBody>
          <a:bodyPr wrap="square" lIns="0" tIns="0" rIns="0" bIns="0" rtlCol="0" anchor="t"/>
          <a:lstStyle/>
          <a:p>
            <a:pPr algn="l" indent="0" marL="0">
              <a:lnSpc>
                <a:spcPts val="984"/>
              </a:lnSpc>
              <a:buNone/>
            </a:pPr>
            <a:r>
              <a:rPr lang="en-US" sz="800" dirty="0">
                <a:solidFill>
                  <a:srgbClr val="A89E88"/>
                </a:solidFill>
                <a:latin typeface="Carlito" pitchFamily="34" charset="0"/>
                <a:ea typeface="Carlito" pitchFamily="34" charset="-122"/>
                <a:cs typeface="Carlito" pitchFamily="34" charset="-120"/>
              </a:rPr>
              <a:t>choices stay in every companion's memory</a:t>
            </a:r>
            <a:endParaRPr lang="en-US" sz="800" dirty="0"/>
          </a:p>
        </p:txBody>
      </p:sp>
      <p:sp>
        <p:nvSpPr>
          <p:cNvPr id="13" name="Text 9"/>
          <p:cNvSpPr/>
          <p:nvPr/>
        </p:nvSpPr>
        <p:spPr>
          <a:xfrm>
            <a:off x="3003947" y="2320156"/>
            <a:ext cx="2450306" cy="634008"/>
          </a:xfrm>
          <a:prstGeom prst="roundRect">
            <a:avLst>
              <a:gd name="adj" fmla="val 12019"/>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4" name="Text 10"/>
          <p:cNvSpPr/>
          <p:nvPr/>
        </p:nvSpPr>
        <p:spPr>
          <a:xfrm>
            <a:off x="3121819" y="2409453"/>
            <a:ext cx="2324291" cy="177951"/>
          </a:xfrm>
          <a:prstGeom prst="rect">
            <a:avLst/>
          </a:prstGeom>
          <a:noFill/>
          <a:ln/>
        </p:spPr>
        <p:txBody>
          <a:bodyPr wrap="square" lIns="0" tIns="0" rIns="0" bIns="0" rtlCol="0" anchor="t">
            <a:normAutofit/>
          </a:bodyPr>
          <a:lstStyle/>
          <a:p>
            <a:pPr algn="l" indent="0" marL="0">
              <a:lnSpc>
                <a:spcPts val="1336"/>
              </a:lnSpc>
              <a:buNone/>
            </a:pPr>
            <a:r>
              <a:rPr lang="en-US" sz="1069" b="1" dirty="0">
                <a:solidFill>
                  <a:srgbClr val="E8DFC8"/>
                </a:solidFill>
                <a:latin typeface="Tinos" pitchFamily="34" charset="0"/>
                <a:ea typeface="Tinos" pitchFamily="34" charset="-122"/>
                <a:cs typeface="Tinos" pitchFamily="34" charset="-120"/>
              </a:rPr>
              <a:t>A world worth preparing for</a:t>
            </a:r>
            <a:endParaRPr lang="en-US" sz="1069" dirty="0"/>
          </a:p>
        </p:txBody>
      </p:sp>
      <p:sp>
        <p:nvSpPr>
          <p:cNvPr id="15" name="Text 11"/>
          <p:cNvSpPr/>
          <p:nvPr/>
        </p:nvSpPr>
        <p:spPr>
          <a:xfrm>
            <a:off x="3121819" y="2614836"/>
            <a:ext cx="2214563" cy="250031"/>
          </a:xfrm>
          <a:prstGeom prst="rect">
            <a:avLst/>
          </a:prstGeom>
          <a:noFill/>
          <a:ln/>
        </p:spPr>
        <p:txBody>
          <a:bodyPr wrap="square" lIns="0" tIns="0" rIns="0" bIns="0" rtlCol="0" anchor="t"/>
          <a:lstStyle/>
          <a:p>
            <a:pPr algn="l" indent="0" marL="0">
              <a:lnSpc>
                <a:spcPts val="984"/>
              </a:lnSpc>
              <a:buNone/>
            </a:pPr>
            <a:r>
              <a:rPr lang="en-US" sz="800" dirty="0">
                <a:solidFill>
                  <a:srgbClr val="A89E88"/>
                </a:solidFill>
                <a:latin typeface="Carlito" pitchFamily="34" charset="0"/>
                <a:ea typeface="Carlito" pitchFamily="34" charset="-122"/>
                <a:cs typeface="Carlito" pitchFamily="34" charset="-120"/>
              </a:rPr>
              <a:t>victory is earned before the battle: scouting, oils, the hour you march</a:t>
            </a:r>
            <a:endParaRPr lang="en-US" sz="800" dirty="0"/>
          </a:p>
        </p:txBody>
      </p:sp>
      <p:sp>
        <p:nvSpPr>
          <p:cNvPr id="16" name="Text 12"/>
          <p:cNvSpPr/>
          <p:nvPr/>
        </p:nvSpPr>
        <p:spPr>
          <a:xfrm>
            <a:off x="460772" y="3047033"/>
            <a:ext cx="2450306" cy="508992"/>
          </a:xfrm>
          <a:prstGeom prst="roundRect">
            <a:avLst>
              <a:gd name="adj" fmla="val 14971"/>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7" name="Text 13"/>
          <p:cNvSpPr/>
          <p:nvPr/>
        </p:nvSpPr>
        <p:spPr>
          <a:xfrm>
            <a:off x="578644" y="3136329"/>
            <a:ext cx="2214563" cy="177951"/>
          </a:xfrm>
          <a:prstGeom prst="rect">
            <a:avLst/>
          </a:prstGeom>
          <a:noFill/>
          <a:ln/>
        </p:spPr>
        <p:txBody>
          <a:bodyPr wrap="none" lIns="0" tIns="0" rIns="0" bIns="0" rtlCol="0" anchor="t">
            <a:normAutofit/>
          </a:bodyPr>
          <a:lstStyle/>
          <a:p>
            <a:pPr algn="l" indent="0" marL="0">
              <a:lnSpc>
                <a:spcPts val="1336"/>
              </a:lnSpc>
              <a:buNone/>
            </a:pPr>
            <a:r>
              <a:rPr lang="en-US" sz="1069" b="1" dirty="0">
                <a:solidFill>
                  <a:srgbClr val="E8DFC8"/>
                </a:solidFill>
                <a:latin typeface="Tinos" pitchFamily="34" charset="0"/>
                <a:ea typeface="Tinos" pitchFamily="34" charset="-122"/>
                <a:cs typeface="Tinos" pitchFamily="34" charset="-120"/>
              </a:rPr>
              <a:t>Morality without a judge</a:t>
            </a:r>
            <a:endParaRPr lang="en-US" sz="1069" dirty="0"/>
          </a:p>
        </p:txBody>
      </p:sp>
      <p:sp>
        <p:nvSpPr>
          <p:cNvPr id="18" name="Text 14"/>
          <p:cNvSpPr/>
          <p:nvPr/>
        </p:nvSpPr>
        <p:spPr>
          <a:xfrm>
            <a:off x="578644" y="3341712"/>
            <a:ext cx="2214563" cy="125016"/>
          </a:xfrm>
          <a:prstGeom prst="rect">
            <a:avLst/>
          </a:prstGeom>
          <a:noFill/>
          <a:ln/>
        </p:spPr>
        <p:txBody>
          <a:bodyPr wrap="square" lIns="0" tIns="0" rIns="0" bIns="0" rtlCol="0" anchor="t"/>
          <a:lstStyle/>
          <a:p>
            <a:pPr algn="l" indent="0" marL="0">
              <a:lnSpc>
                <a:spcPts val="984"/>
              </a:lnSpc>
              <a:buNone/>
            </a:pPr>
            <a:r>
              <a:rPr lang="en-US" sz="703" dirty="0">
                <a:solidFill>
                  <a:srgbClr val="A89E88"/>
                </a:solidFill>
                <a:latin typeface="Carlito" pitchFamily="34" charset="0"/>
                <a:ea typeface="Carlito" pitchFamily="34" charset="-122"/>
                <a:cs typeface="Carlito" pitchFamily="34" charset="-120"/>
              </a:rPr>
              <a:t>no good-and-evil meter, only consequences that ripen</a:t>
            </a:r>
            <a:endParaRPr lang="en-US" sz="703" dirty="0"/>
          </a:p>
        </p:txBody>
      </p:sp>
      <p:sp>
        <p:nvSpPr>
          <p:cNvPr id="19" name="Text 15"/>
          <p:cNvSpPr/>
          <p:nvPr/>
        </p:nvSpPr>
        <p:spPr>
          <a:xfrm>
            <a:off x="3003947" y="3047033"/>
            <a:ext cx="2450306" cy="508992"/>
          </a:xfrm>
          <a:prstGeom prst="roundRect">
            <a:avLst>
              <a:gd name="adj" fmla="val 14971"/>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20" name="Text 16"/>
          <p:cNvSpPr/>
          <p:nvPr/>
        </p:nvSpPr>
        <p:spPr>
          <a:xfrm>
            <a:off x="3121819" y="3136329"/>
            <a:ext cx="2214563" cy="177951"/>
          </a:xfrm>
          <a:prstGeom prst="rect">
            <a:avLst/>
          </a:prstGeom>
          <a:noFill/>
          <a:ln/>
        </p:spPr>
        <p:txBody>
          <a:bodyPr wrap="none" lIns="0" tIns="0" rIns="0" bIns="0" rtlCol="0" anchor="t">
            <a:normAutofit/>
          </a:bodyPr>
          <a:lstStyle/>
          <a:p>
            <a:pPr algn="l" indent="0" marL="0">
              <a:lnSpc>
                <a:spcPts val="1336"/>
              </a:lnSpc>
              <a:buNone/>
            </a:pPr>
            <a:r>
              <a:rPr lang="en-US" sz="1069" b="1" dirty="0">
                <a:solidFill>
                  <a:srgbClr val="E8DFC8"/>
                </a:solidFill>
                <a:latin typeface="Tinos" pitchFamily="34" charset="0"/>
                <a:ea typeface="Tinos" pitchFamily="34" charset="-122"/>
                <a:cs typeface="Tinos" pitchFamily="34" charset="-120"/>
              </a:rPr>
              <a:t>The night as an element</a:t>
            </a:r>
            <a:endParaRPr lang="en-US" sz="1069" dirty="0"/>
          </a:p>
        </p:txBody>
      </p:sp>
      <p:sp>
        <p:nvSpPr>
          <p:cNvPr id="21" name="Text 17"/>
          <p:cNvSpPr/>
          <p:nvPr/>
        </p:nvSpPr>
        <p:spPr>
          <a:xfrm>
            <a:off x="3121819" y="3341712"/>
            <a:ext cx="2324291" cy="125016"/>
          </a:xfrm>
          <a:prstGeom prst="rect">
            <a:avLst/>
          </a:prstGeom>
          <a:noFill/>
          <a:ln/>
        </p:spPr>
        <p:txBody>
          <a:bodyPr wrap="square" lIns="0" tIns="0" rIns="0" bIns="0" rtlCol="0" anchor="t"/>
          <a:lstStyle/>
          <a:p>
            <a:pPr algn="l" indent="0" marL="0">
              <a:lnSpc>
                <a:spcPts val="984"/>
              </a:lnSpc>
              <a:buNone/>
            </a:pPr>
            <a:r>
              <a:rPr lang="en-US" sz="703" dirty="0">
                <a:solidFill>
                  <a:srgbClr val="A89E88"/>
                </a:solidFill>
                <a:latin typeface="Carlito" pitchFamily="34" charset="0"/>
                <a:ea typeface="Carlito" pitchFamily="34" charset="-122"/>
                <a:cs typeface="Carlito" pitchFamily="34" charset="-120"/>
              </a:rPr>
              <a:t>trade and politics by day, survival by night</a:t>
            </a:r>
            <a:endParaRPr lang="en-US" sz="703" dirty="0"/>
          </a:p>
        </p:txBody>
      </p:sp>
      <p:sp>
        <p:nvSpPr>
          <p:cNvPr id="22" name="Text 18"/>
          <p:cNvSpPr/>
          <p:nvPr/>
        </p:nvSpPr>
        <p:spPr>
          <a:xfrm>
            <a:off x="457200" y="4482368"/>
            <a:ext cx="1740218" cy="221148"/>
          </a:xfrm>
          <a:prstGeom prst="rect">
            <a:avLst/>
          </a:prstGeom>
          <a:noFill/>
          <a:ln/>
        </p:spPr>
        <p:txBody>
          <a:bodyPr wrap="none" lIns="0" tIns="0" rIns="0" bIns="0" rtlCol="0" anchor="t">
            <a:normAutofit/>
          </a:bodyPr>
          <a:lstStyle/>
          <a:p>
            <a:pPr algn="l" indent="0" marL="0">
              <a:lnSpc>
                <a:spcPts val="1733"/>
              </a:lnSpc>
              <a:buNone/>
            </a:pPr>
            <a:r>
              <a:rPr lang="en-US" sz="1575" b="1" dirty="0">
                <a:solidFill>
                  <a:srgbClr val="C0A774"/>
                </a:solidFill>
                <a:latin typeface="Liberation Sans Narrow" pitchFamily="34" charset="0"/>
                <a:ea typeface="Liberation Sans Narrow" pitchFamily="34" charset="-122"/>
                <a:cs typeface="Liberation Sans Narrow" pitchFamily="34" charset="-120"/>
              </a:rPr>
              <a:t>100+</a:t>
            </a:r>
            <a:endParaRPr lang="en-US" sz="1575" dirty="0"/>
          </a:p>
        </p:txBody>
      </p:sp>
      <p:sp>
        <p:nvSpPr>
          <p:cNvPr id="23" name="Text 19"/>
          <p:cNvSpPr/>
          <p:nvPr/>
        </p:nvSpPr>
        <p:spPr>
          <a:xfrm>
            <a:off x="457200" y="4730948"/>
            <a:ext cx="1306829" cy="164592"/>
          </a:xfrm>
          <a:prstGeom prst="rect">
            <a:avLst/>
          </a:prstGeom>
          <a:noFill/>
          <a:ln/>
        </p:spPr>
        <p:txBody>
          <a:bodyPr wrap="none" lIns="0" tIns="0" rIns="0" bIns="0" rtlCol="0" anchor="t"/>
          <a:lstStyle/>
          <a:p>
            <a:pPr algn="l" indent="0" marL="0">
              <a:lnSpc>
                <a:spcPts val="886"/>
              </a:lnSpc>
              <a:buNone/>
            </a:pPr>
            <a:r>
              <a:rPr lang="en-US" sz="800" spc="24" kern="0" dirty="0">
                <a:solidFill>
                  <a:srgbClr val="A89E88"/>
                </a:solidFill>
                <a:latin typeface="Carlito" pitchFamily="34" charset="0"/>
                <a:ea typeface="Carlito" pitchFamily="34" charset="-122"/>
                <a:cs typeface="Carlito" pitchFamily="34" charset="-120"/>
              </a:rPr>
              <a:t>hours of content</a:t>
            </a:r>
            <a:endParaRPr lang="en-US" sz="800" dirty="0"/>
          </a:p>
        </p:txBody>
      </p:sp>
      <p:sp>
        <p:nvSpPr>
          <p:cNvPr id="24" name="Text 20"/>
          <p:cNvSpPr/>
          <p:nvPr/>
        </p:nvSpPr>
        <p:spPr>
          <a:xfrm>
            <a:off x="1780580" y="4482368"/>
            <a:ext cx="1087636" cy="221148"/>
          </a:xfrm>
          <a:prstGeom prst="rect">
            <a:avLst/>
          </a:prstGeom>
          <a:noFill/>
          <a:ln/>
        </p:spPr>
        <p:txBody>
          <a:bodyPr wrap="none" lIns="0" tIns="0" rIns="0" bIns="0" rtlCol="0" anchor="t">
            <a:normAutofit/>
          </a:bodyPr>
          <a:lstStyle/>
          <a:p>
            <a:pPr algn="l" indent="0" marL="0">
              <a:lnSpc>
                <a:spcPts val="1733"/>
              </a:lnSpc>
              <a:buNone/>
            </a:pPr>
            <a:r>
              <a:rPr lang="en-US" sz="1575" b="1" dirty="0">
                <a:solidFill>
                  <a:srgbClr val="C0A774"/>
                </a:solidFill>
                <a:latin typeface="Liberation Sans Narrow" pitchFamily="34" charset="0"/>
                <a:ea typeface="Liberation Sans Narrow" pitchFamily="34" charset="-122"/>
                <a:cs typeface="Liberation Sans Narrow" pitchFamily="34" charset="-120"/>
              </a:rPr>
              <a:t>6</a:t>
            </a:r>
            <a:endParaRPr lang="en-US" sz="1575" dirty="0"/>
          </a:p>
        </p:txBody>
      </p:sp>
      <p:sp>
        <p:nvSpPr>
          <p:cNvPr id="25" name="Text 21"/>
          <p:cNvSpPr/>
          <p:nvPr/>
        </p:nvSpPr>
        <p:spPr>
          <a:xfrm>
            <a:off x="1780580" y="4730948"/>
            <a:ext cx="1087636" cy="112514"/>
          </a:xfrm>
          <a:prstGeom prst="rect">
            <a:avLst/>
          </a:prstGeom>
          <a:noFill/>
          <a:ln/>
        </p:spPr>
        <p:txBody>
          <a:bodyPr wrap="none" lIns="0" tIns="0" rIns="0" bIns="0" rtlCol="0" anchor="t"/>
          <a:lstStyle/>
          <a:p>
            <a:pPr algn="l" indent="0" marL="0">
              <a:lnSpc>
                <a:spcPts val="886"/>
              </a:lnSpc>
              <a:buNone/>
            </a:pPr>
            <a:r>
              <a:rPr lang="en-US" sz="600" spc="24" kern="0" dirty="0">
                <a:solidFill>
                  <a:srgbClr val="A89E88"/>
                </a:solidFill>
                <a:latin typeface="Carlito" pitchFamily="34" charset="0"/>
                <a:ea typeface="Carlito" pitchFamily="34" charset="-122"/>
                <a:cs typeface="Carlito" pitchFamily="34" charset="-120"/>
              </a:rPr>
              <a:t>companions with memory</a:t>
            </a:r>
            <a:endParaRPr lang="en-US" sz="600" dirty="0"/>
          </a:p>
        </p:txBody>
      </p:sp>
      <p:sp>
        <p:nvSpPr>
          <p:cNvPr id="26" name="Text 22"/>
          <p:cNvSpPr/>
          <p:nvPr/>
        </p:nvSpPr>
        <p:spPr>
          <a:xfrm>
            <a:off x="3075384" y="4482368"/>
            <a:ext cx="1087636" cy="221148"/>
          </a:xfrm>
          <a:prstGeom prst="rect">
            <a:avLst/>
          </a:prstGeom>
          <a:noFill/>
          <a:ln/>
        </p:spPr>
        <p:txBody>
          <a:bodyPr wrap="none" lIns="0" tIns="0" rIns="0" bIns="0" rtlCol="0" anchor="t">
            <a:normAutofit/>
          </a:bodyPr>
          <a:lstStyle/>
          <a:p>
            <a:pPr algn="l" indent="0" marL="0">
              <a:lnSpc>
                <a:spcPts val="1733"/>
              </a:lnSpc>
              <a:buNone/>
            </a:pPr>
            <a:r>
              <a:rPr lang="en-US" sz="1575" b="1" dirty="0">
                <a:solidFill>
                  <a:srgbClr val="C0A774"/>
                </a:solidFill>
                <a:latin typeface="Liberation Sans Narrow" pitchFamily="34" charset="0"/>
                <a:ea typeface="Liberation Sans Narrow" pitchFamily="34" charset="-122"/>
                <a:cs typeface="Liberation Sans Narrow" pitchFamily="34" charset="-120"/>
              </a:rPr>
              <a:t>5</a:t>
            </a:r>
            <a:endParaRPr lang="en-US" sz="1575" dirty="0"/>
          </a:p>
        </p:txBody>
      </p:sp>
      <p:sp>
        <p:nvSpPr>
          <p:cNvPr id="27" name="Text 23"/>
          <p:cNvSpPr/>
          <p:nvPr/>
        </p:nvSpPr>
        <p:spPr>
          <a:xfrm>
            <a:off x="3075384" y="4730948"/>
            <a:ext cx="1087636" cy="112514"/>
          </a:xfrm>
          <a:prstGeom prst="rect">
            <a:avLst/>
          </a:prstGeom>
          <a:noFill/>
          <a:ln/>
        </p:spPr>
        <p:txBody>
          <a:bodyPr wrap="none" lIns="0" tIns="0" rIns="0" bIns="0" rtlCol="0" anchor="t"/>
          <a:lstStyle/>
          <a:p>
            <a:pPr algn="l" indent="0" marL="0">
              <a:lnSpc>
                <a:spcPts val="886"/>
              </a:lnSpc>
              <a:buNone/>
            </a:pPr>
            <a:r>
              <a:rPr lang="en-US" sz="800" spc="24" kern="0" dirty="0">
                <a:solidFill>
                  <a:srgbClr val="A89E88"/>
                </a:solidFill>
                <a:latin typeface="Carlito" pitchFamily="34" charset="0"/>
                <a:ea typeface="Carlito" pitchFamily="34" charset="-122"/>
                <a:cs typeface="Carlito" pitchFamily="34" charset="-120"/>
              </a:rPr>
              <a:t>regions of Okovye</a:t>
            </a:r>
            <a:endParaRPr lang="en-US" sz="800" dirty="0"/>
          </a:p>
        </p:txBody>
      </p:sp>
      <p:sp>
        <p:nvSpPr>
          <p:cNvPr id="28" name="Text 24"/>
          <p:cNvSpPr/>
          <p:nvPr/>
        </p:nvSpPr>
        <p:spPr>
          <a:xfrm>
            <a:off x="4370189" y="4482368"/>
            <a:ext cx="1087636" cy="221148"/>
          </a:xfrm>
          <a:prstGeom prst="rect">
            <a:avLst/>
          </a:prstGeom>
          <a:noFill/>
          <a:ln/>
        </p:spPr>
        <p:txBody>
          <a:bodyPr wrap="none" lIns="0" tIns="0" rIns="0" bIns="0" rtlCol="0" anchor="t">
            <a:normAutofit/>
          </a:bodyPr>
          <a:lstStyle/>
          <a:p>
            <a:pPr algn="l" indent="0" marL="0">
              <a:lnSpc>
                <a:spcPts val="1733"/>
              </a:lnSpc>
              <a:buNone/>
            </a:pPr>
            <a:r>
              <a:rPr lang="en-US" sz="1575" b="1" dirty="0">
                <a:solidFill>
                  <a:srgbClr val="C0A774"/>
                </a:solidFill>
                <a:latin typeface="Liberation Sans Narrow" pitchFamily="34" charset="0"/>
                <a:ea typeface="Liberation Sans Narrow" pitchFamily="34" charset="-122"/>
                <a:cs typeface="Liberation Sans Narrow" pitchFamily="34" charset="-120"/>
              </a:rPr>
              <a:t>4</a:t>
            </a:r>
            <a:endParaRPr lang="en-US" sz="1575" dirty="0"/>
          </a:p>
        </p:txBody>
      </p:sp>
      <p:sp>
        <p:nvSpPr>
          <p:cNvPr id="29" name="Text 25"/>
          <p:cNvSpPr/>
          <p:nvPr/>
        </p:nvSpPr>
        <p:spPr>
          <a:xfrm>
            <a:off x="4370189" y="4730948"/>
            <a:ext cx="1087636" cy="112514"/>
          </a:xfrm>
          <a:prstGeom prst="rect">
            <a:avLst/>
          </a:prstGeom>
          <a:noFill/>
          <a:ln/>
        </p:spPr>
        <p:txBody>
          <a:bodyPr wrap="none" lIns="0" tIns="0" rIns="0" bIns="0" rtlCol="0" anchor="t"/>
          <a:lstStyle/>
          <a:p>
            <a:pPr algn="l" indent="0" marL="0">
              <a:lnSpc>
                <a:spcPts val="886"/>
              </a:lnSpc>
              <a:buNone/>
            </a:pPr>
            <a:r>
              <a:rPr lang="en-US" sz="800" spc="24" kern="0" dirty="0">
                <a:solidFill>
                  <a:srgbClr val="A89E88"/>
                </a:solidFill>
                <a:latin typeface="Carlito" pitchFamily="34" charset="0"/>
                <a:ea typeface="Carlito" pitchFamily="34" charset="-122"/>
                <a:cs typeface="Carlito" pitchFamily="34" charset="-120"/>
              </a:rPr>
              <a:t>global endings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384891" y="2025253"/>
            <a:ext cx="2202018" cy="1180433"/>
          </a:xfrm>
          <a:prstGeom prst="rect">
            <a:avLst/>
          </a:prstGeom>
          <a:noFill/>
          <a:ln/>
        </p:spPr>
        <p:txBody>
          <a:bodyPr wrap="none" lIns="0" tIns="0" rIns="0" bIns="0" rtlCol="0" anchor="t"/>
          <a:lstStyle/>
          <a:p>
            <a:pPr algn="l" indent="0" marL="0">
              <a:lnSpc>
                <a:spcPts val="8606"/>
              </a:lnSpc>
              <a:buNone/>
            </a:pPr>
            <a:r>
              <a:rPr lang="en-US" sz="9563" b="1" dirty="0">
                <a:solidFill>
                  <a:srgbClr val="A82727">
                    <a:alpha val="85000"/>
                  </a:srgbClr>
                </a:solidFill>
                <a:latin typeface="Liberation Sans Narrow" pitchFamily="34" charset="0"/>
                <a:ea typeface="Liberation Sans Narrow" pitchFamily="34" charset="-122"/>
                <a:cs typeface="Liberation Sans Narrow" pitchFamily="34" charset="-120"/>
              </a:rPr>
              <a:t>01</a:t>
            </a:r>
            <a:endParaRPr lang="en-US" sz="9563" dirty="0"/>
          </a:p>
        </p:txBody>
      </p:sp>
      <p:sp>
        <p:nvSpPr>
          <p:cNvPr id="3" name="Text 1"/>
          <p:cNvSpPr/>
          <p:nvPr/>
        </p:nvSpPr>
        <p:spPr>
          <a:xfrm>
            <a:off x="2100263" y="1918655"/>
            <a:ext cx="4402440" cy="164592"/>
          </a:xfrm>
          <a:prstGeom prst="rect">
            <a:avLst/>
          </a:prstGeom>
          <a:noFill/>
          <a:ln/>
        </p:spPr>
        <p:txBody>
          <a:bodyPr wrap="none" lIns="0" tIns="0" rIns="0" bIns="0" rtlCol="0" anchor="t"/>
          <a:lstStyle/>
          <a:p>
            <a:pPr algn="l" indent="0" marL="0">
              <a:lnSpc>
                <a:spcPts val="1055"/>
              </a:lnSpc>
              <a:buNone/>
            </a:pPr>
            <a:r>
              <a:rPr lang="en-US" sz="800" spc="246" kern="0" dirty="0">
                <a:solidFill>
                  <a:srgbClr val="A89E88"/>
                </a:solidFill>
                <a:latin typeface="Liberation Sans Narrow" pitchFamily="34" charset="0"/>
                <a:ea typeface="Liberation Sans Narrow" pitchFamily="34" charset="-122"/>
                <a:cs typeface="Liberation Sans Narrow" pitchFamily="34" charset="-120"/>
              </a:rPr>
              <a:t>SECTION 01 / 03</a:t>
            </a:r>
            <a:endParaRPr lang="en-US" sz="800" dirty="0"/>
          </a:p>
        </p:txBody>
      </p:sp>
      <p:sp>
        <p:nvSpPr>
          <p:cNvPr id="4" name="Text 2"/>
          <p:cNvSpPr/>
          <p:nvPr/>
        </p:nvSpPr>
        <p:spPr>
          <a:xfrm>
            <a:off x="2100263" y="2166900"/>
            <a:ext cx="4143100" cy="583225"/>
          </a:xfrm>
          <a:prstGeom prst="rect">
            <a:avLst/>
          </a:prstGeom>
          <a:noFill/>
          <a:ln/>
        </p:spPr>
        <p:txBody>
          <a:bodyPr wrap="none" lIns="0" tIns="0" rIns="0" bIns="0" rtlCol="0" anchor="t"/>
          <a:lstStyle/>
          <a:p>
            <a:pPr algn="l" indent="0" marL="0">
              <a:lnSpc>
                <a:spcPts val="4253"/>
              </a:lnSpc>
              <a:buNone/>
            </a:pPr>
            <a:r>
              <a:rPr lang="en-US" sz="4050" b="1" spc="122" kern="0" dirty="0">
                <a:solidFill>
                  <a:srgbClr val="E8DFC8"/>
                </a:solidFill>
                <a:latin typeface="Tinos" pitchFamily="34" charset="0"/>
                <a:ea typeface="Tinos" pitchFamily="34" charset="-122"/>
                <a:cs typeface="Tinos" pitchFamily="34" charset="-120"/>
              </a:rPr>
              <a:t>THE GAME</a:t>
            </a:r>
            <a:endParaRPr lang="en-US" sz="4050" dirty="0"/>
          </a:p>
        </p:txBody>
      </p:sp>
      <p:sp>
        <p:nvSpPr>
          <p:cNvPr id="5" name="Text 3"/>
          <p:cNvSpPr/>
          <p:nvPr/>
        </p:nvSpPr>
        <p:spPr>
          <a:xfrm>
            <a:off x="2100263" y="2864086"/>
            <a:ext cx="857250" cy="14288"/>
          </a:xfrm>
          <a:prstGeom prst="rect">
            <a:avLst/>
          </a:prstGeom>
          <a:solidFill>
            <a:srgbClr val="A82727"/>
          </a:solidFill>
          <a:ln/>
        </p:spPr>
        <p:txBody>
          <a:bodyPr wrap="square" rtlCol="0" anchor="ctr"/>
          <a:lstStyle/>
          <a:p>
            <a:pPr indent="0" marL="0">
              <a:buNone/>
            </a:pPr>
            <a:endParaRPr lang="en-US" dirty="0"/>
          </a:p>
        </p:txBody>
      </p:sp>
      <p:sp>
        <p:nvSpPr>
          <p:cNvPr id="6" name="Text 4"/>
          <p:cNvSpPr/>
          <p:nvPr/>
        </p:nvSpPr>
        <p:spPr>
          <a:xfrm>
            <a:off x="2100263" y="3021248"/>
            <a:ext cx="3162672" cy="219885"/>
          </a:xfrm>
          <a:prstGeom prst="rect">
            <a:avLst/>
          </a:prstGeom>
          <a:noFill/>
          <a:ln/>
        </p:spPr>
        <p:txBody>
          <a:bodyPr wrap="square" lIns="0" tIns="0" rIns="0" bIns="0" rtlCol="0" anchor="t"/>
          <a:lstStyle/>
          <a:p>
            <a:pPr algn="l" indent="0" marL="0">
              <a:lnSpc>
                <a:spcPts val="1603"/>
              </a:lnSpc>
              <a:buNone/>
            </a:pPr>
            <a:r>
              <a:rPr lang="en-US" sz="1069" i="1" dirty="0">
                <a:solidFill>
                  <a:srgbClr val="A89E88"/>
                </a:solidFill>
                <a:latin typeface="Tinos" pitchFamily="34" charset="0"/>
                <a:ea typeface="Tinos" pitchFamily="34" charset="-122"/>
                <a:cs typeface="Tinos" pitchFamily="34" charset="-120"/>
              </a:rPr>
              <a:t>The world of Okovye, the vataga, and the Betrayal Engine</a:t>
            </a:r>
            <a:endParaRPr lang="en-US" sz="1069" dirty="0"/>
          </a:p>
        </p:txBody>
      </p:sp>
      <p:sp>
        <p:nvSpPr>
          <p:cNvPr id="7" name="Text 5"/>
          <p:cNvSpPr/>
          <p:nvPr/>
        </p:nvSpPr>
        <p:spPr>
          <a:xfrm>
            <a:off x="7400479" y="4816673"/>
            <a:ext cx="1743521" cy="164592"/>
          </a:xfrm>
          <a:prstGeom prst="rect">
            <a:avLst/>
          </a:prstGeom>
          <a:noFill/>
          <a:ln/>
        </p:spPr>
        <p:txBody>
          <a:bodyPr wrap="square" lIns="0" tIns="0" rIns="0" bIns="0" rtlCol="0" anchor="t"/>
          <a:lstStyle/>
          <a:p>
            <a:pPr algn="l" indent="0" marL="0">
              <a:lnSpc>
                <a:spcPts val="886"/>
              </a:lnSpc>
              <a:buNone/>
            </a:pPr>
            <a:r>
              <a:rPr lang="en-US" sz="800" spc="95" kern="0" dirty="0">
                <a:solidFill>
                  <a:srgbClr val="A89E88"/>
                </a:solidFill>
                <a:latin typeface="Carlito" pitchFamily="34" charset="0"/>
                <a:ea typeface="Carlito" pitchFamily="34" charset="-122"/>
                <a:cs typeface="Carlito" pitchFamily="34" charset="-120"/>
              </a:rPr>
              <a:t>ZARNITSA · publisher pitch</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457200" y="314325"/>
            <a:ext cx="8636000" cy="164592"/>
          </a:xfrm>
          <a:prstGeom prst="rect">
            <a:avLst/>
          </a:prstGeom>
          <a:noFill/>
          <a:ln/>
        </p:spPr>
        <p:txBody>
          <a:bodyPr wrap="none" lIns="0" tIns="0" rIns="0" bIns="0" rtlCol="0" anchor="t"/>
          <a:lstStyle/>
          <a:p>
            <a:pPr algn="l" indent="0" marL="0">
              <a:lnSpc>
                <a:spcPts val="1055"/>
              </a:lnSpc>
              <a:buNone/>
            </a:pPr>
            <a:r>
              <a:rPr lang="en-US" sz="800" b="1" spc="197" kern="0" dirty="0">
                <a:solidFill>
                  <a:srgbClr val="C94B4B"/>
                </a:solidFill>
                <a:latin typeface="Carlito" pitchFamily="34" charset="0"/>
                <a:ea typeface="Carlito" pitchFamily="34" charset="-122"/>
                <a:cs typeface="Carlito" pitchFamily="34" charset="-120"/>
              </a:rPr>
              <a:t>UNIQUE SELLING POINT</a:t>
            </a:r>
            <a:endParaRPr lang="en-US" sz="800" dirty="0"/>
          </a:p>
        </p:txBody>
      </p:sp>
      <p:sp>
        <p:nvSpPr>
          <p:cNvPr id="3" name="Text 1"/>
          <p:cNvSpPr/>
          <p:nvPr/>
        </p:nvSpPr>
        <p:spPr>
          <a:xfrm>
            <a:off x="457200" y="533995"/>
            <a:ext cx="8636000" cy="390343"/>
          </a:xfrm>
          <a:prstGeom prst="rect">
            <a:avLst/>
          </a:prstGeom>
          <a:noFill/>
          <a:ln/>
        </p:spPr>
        <p:txBody>
          <a:bodyPr wrap="square" lIns="0" tIns="0" rIns="0" bIns="0" rtlCol="0" anchor="t"/>
          <a:lstStyle/>
          <a:p>
            <a:pPr algn="l" indent="0" marL="0">
              <a:lnSpc>
                <a:spcPts val="2846"/>
              </a:lnSpc>
              <a:buNone/>
            </a:pPr>
            <a:r>
              <a:rPr lang="en-US" sz="2588" b="1" dirty="0">
                <a:solidFill>
                  <a:srgbClr val="E8DFC8"/>
                </a:solidFill>
                <a:latin typeface="Tinos" pitchFamily="34" charset="0"/>
                <a:ea typeface="Tinos" pitchFamily="34" charset="-122"/>
                <a:cs typeface="Tinos" pitchFamily="34" charset="-120"/>
              </a:rPr>
              <a:t>Companions who remember everything</a:t>
            </a:r>
            <a:endParaRPr lang="en-US" sz="2588" dirty="0"/>
          </a:p>
        </p:txBody>
      </p:sp>
      <p:sp>
        <p:nvSpPr>
          <p:cNvPr id="4" name="Text 2"/>
          <p:cNvSpPr/>
          <p:nvPr/>
        </p:nvSpPr>
        <p:spPr>
          <a:xfrm>
            <a:off x="457200" y="1275159"/>
            <a:ext cx="7715250" cy="538139"/>
          </a:xfrm>
          <a:prstGeom prst="rect">
            <a:avLst/>
          </a:prstGeom>
          <a:noFill/>
          <a:ln/>
        </p:spPr>
        <p:txBody>
          <a:bodyPr wrap="square" lIns="0" tIns="0" rIns="0" bIns="0" rtlCol="0" anchor="t"/>
          <a:lstStyle/>
          <a:p>
            <a:pPr algn="l" indent="0" marL="0">
              <a:lnSpc>
                <a:spcPts val="1308"/>
              </a:lnSpc>
              <a:buNone/>
            </a:pPr>
            <a:r>
              <a:rPr lang="en-US" sz="844" dirty="0">
                <a:solidFill>
                  <a:srgbClr val="E8DFC8">
                    <a:alpha val="92000"/>
                  </a:srgbClr>
                </a:solidFill>
                <a:latin typeface="Carlito" pitchFamily="34" charset="0"/>
                <a:ea typeface="Carlito" pitchFamily="34" charset="-122"/>
                <a:cs typeface="Carlito" pitchFamily="34" charset="-120"/>
              </a:rPr>
              <a:t>In existing RPGs, companions are either eternal, or their attitude shifts by a single number, or they betray on script. In Zarnitsa, betrayal is a simulation: every companion carries a memory journal, a personal rupture threshold and a goal pursued even off-screen. The game continuously checks three conditions, and when they converge, the companion acts against the ataman — from sabotaging gear to a Night of Knives.</a:t>
            </a:r>
            <a:endParaRPr lang="en-US" sz="844" dirty="0"/>
          </a:p>
        </p:txBody>
      </p:sp>
      <p:sp>
        <p:nvSpPr>
          <p:cNvPr id="5" name="Text 3"/>
          <p:cNvSpPr/>
          <p:nvPr/>
        </p:nvSpPr>
        <p:spPr>
          <a:xfrm>
            <a:off x="460772" y="2156743"/>
            <a:ext cx="2669418" cy="712589"/>
          </a:xfrm>
          <a:prstGeom prst="roundRect">
            <a:avLst>
              <a:gd name="adj" fmla="val 10693"/>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6" name="Text 4"/>
          <p:cNvSpPr/>
          <p:nvPr/>
        </p:nvSpPr>
        <p:spPr>
          <a:xfrm>
            <a:off x="592931" y="2260327"/>
            <a:ext cx="2405100" cy="219027"/>
          </a:xfrm>
          <a:prstGeom prst="rect">
            <a:avLst/>
          </a:prstGeom>
          <a:noFill/>
          <a:ln/>
        </p:spPr>
        <p:txBody>
          <a:bodyPr wrap="none" lIns="0" tIns="0" rIns="0" bIns="0" rtlCol="0" anchor="t"/>
          <a:lstStyle/>
          <a:p>
            <a:pPr algn="l" indent="0" marL="0">
              <a:lnSpc>
                <a:spcPts val="1603"/>
              </a:lnSpc>
              <a:buNone/>
            </a:pPr>
            <a:r>
              <a:rPr lang="en-US" sz="1069" b="1" dirty="0">
                <a:solidFill>
                  <a:srgbClr val="E8DFC8"/>
                </a:solidFill>
                <a:latin typeface="Tinos" pitchFamily="34" charset="0"/>
                <a:ea typeface="Tinos" pitchFamily="34" charset="-122"/>
                <a:cs typeface="Tinos" pitchFamily="34" charset="-120"/>
              </a:rPr>
              <a:t>Memory journal</a:t>
            </a:r>
            <a:endParaRPr lang="en-US" sz="1069" dirty="0"/>
          </a:p>
        </p:txBody>
      </p:sp>
      <p:sp>
        <p:nvSpPr>
          <p:cNvPr id="7" name="Text 5"/>
          <p:cNvSpPr/>
          <p:nvPr/>
        </p:nvSpPr>
        <p:spPr>
          <a:xfrm>
            <a:off x="592931" y="2506787"/>
            <a:ext cx="2514828" cy="159106"/>
          </a:xfrm>
          <a:prstGeom prst="rect">
            <a:avLst/>
          </a:prstGeom>
          <a:noFill/>
          <a:ln/>
        </p:spPr>
        <p:txBody>
          <a:bodyPr wrap="square" lIns="0" tIns="0" rIns="0" bIns="0" rtlCol="0" anchor="t"/>
          <a:lstStyle/>
          <a:p>
            <a:pPr algn="l" indent="0" marL="0">
              <a:lnSpc>
                <a:spcPts val="1020"/>
              </a:lnSpc>
              <a:buNone/>
            </a:pPr>
            <a:r>
              <a:rPr lang="en-US" sz="703" dirty="0">
                <a:solidFill>
                  <a:srgbClr val="A89E88"/>
                </a:solidFill>
                <a:latin typeface="Carlito" pitchFamily="34" charset="0"/>
                <a:ea typeface="Carlito" pitchFamily="34" charset="-122"/>
                <a:cs typeface="Carlito" pitchFamily="34" charset="-120"/>
              </a:rPr>
              <a:t>four kinds of tags: honor · blood · gold · faith</a:t>
            </a:r>
            <a:endParaRPr lang="en-US" sz="703" dirty="0"/>
          </a:p>
        </p:txBody>
      </p:sp>
      <p:sp>
        <p:nvSpPr>
          <p:cNvPr id="8" name="Text 6"/>
          <p:cNvSpPr/>
          <p:nvPr/>
        </p:nvSpPr>
        <p:spPr>
          <a:xfrm>
            <a:off x="3237347" y="2156743"/>
            <a:ext cx="2669418" cy="712589"/>
          </a:xfrm>
          <a:prstGeom prst="roundRect">
            <a:avLst>
              <a:gd name="adj" fmla="val 10693"/>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9" name="Text 7"/>
          <p:cNvSpPr/>
          <p:nvPr/>
        </p:nvSpPr>
        <p:spPr>
          <a:xfrm>
            <a:off x="3369506" y="2260327"/>
            <a:ext cx="2405100" cy="219027"/>
          </a:xfrm>
          <a:prstGeom prst="rect">
            <a:avLst/>
          </a:prstGeom>
          <a:noFill/>
          <a:ln/>
        </p:spPr>
        <p:txBody>
          <a:bodyPr wrap="none" lIns="0" tIns="0" rIns="0" bIns="0" rtlCol="0" anchor="t"/>
          <a:lstStyle/>
          <a:p>
            <a:pPr algn="l" indent="0" marL="0">
              <a:lnSpc>
                <a:spcPts val="1603"/>
              </a:lnSpc>
              <a:buNone/>
            </a:pPr>
            <a:r>
              <a:rPr lang="en-US" sz="1069" b="1" dirty="0">
                <a:solidFill>
                  <a:srgbClr val="E8DFC8"/>
                </a:solidFill>
                <a:latin typeface="Tinos" pitchFamily="34" charset="0"/>
                <a:ea typeface="Tinos" pitchFamily="34" charset="-122"/>
                <a:cs typeface="Tinos" pitchFamily="34" charset="-120"/>
              </a:rPr>
              <a:t>Personal threshold</a:t>
            </a:r>
            <a:endParaRPr lang="en-US" sz="1069" dirty="0"/>
          </a:p>
        </p:txBody>
      </p:sp>
      <p:sp>
        <p:nvSpPr>
          <p:cNvPr id="10" name="Text 8"/>
          <p:cNvSpPr/>
          <p:nvPr/>
        </p:nvSpPr>
        <p:spPr>
          <a:xfrm>
            <a:off x="3369506" y="2506787"/>
            <a:ext cx="2405100" cy="258961"/>
          </a:xfrm>
          <a:prstGeom prst="rect">
            <a:avLst/>
          </a:prstGeom>
          <a:noFill/>
          <a:ln/>
        </p:spPr>
        <p:txBody>
          <a:bodyPr wrap="square" lIns="0" tIns="0" rIns="0" bIns="0" rtlCol="0" anchor="t"/>
          <a:lstStyle/>
          <a:p>
            <a:pPr algn="l" indent="0" marL="0">
              <a:lnSpc>
                <a:spcPts val="1020"/>
              </a:lnSpc>
              <a:buNone/>
            </a:pPr>
            <a:r>
              <a:rPr lang="en-US" sz="800" dirty="0">
                <a:solidFill>
                  <a:srgbClr val="A89E88"/>
                </a:solidFill>
                <a:latin typeface="Carlito" pitchFamily="34" charset="0"/>
                <a:ea typeface="Carlito" pitchFamily="34" charset="-122"/>
                <a:cs typeface="Carlito" pitchFamily="34" charset="-120"/>
              </a:rPr>
              <a:t>five irreversible stages: from first doubt to the Night of Knives</a:t>
            </a:r>
            <a:endParaRPr lang="en-US" sz="800" dirty="0"/>
          </a:p>
        </p:txBody>
      </p:sp>
      <p:sp>
        <p:nvSpPr>
          <p:cNvPr id="11" name="Text 9"/>
          <p:cNvSpPr/>
          <p:nvPr/>
        </p:nvSpPr>
        <p:spPr>
          <a:xfrm>
            <a:off x="6013921" y="2156743"/>
            <a:ext cx="2669418" cy="712589"/>
          </a:xfrm>
          <a:prstGeom prst="roundRect">
            <a:avLst>
              <a:gd name="adj" fmla="val 10693"/>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2" name="Text 10"/>
          <p:cNvSpPr/>
          <p:nvPr/>
        </p:nvSpPr>
        <p:spPr>
          <a:xfrm>
            <a:off x="6146081" y="2260327"/>
            <a:ext cx="2405100" cy="219027"/>
          </a:xfrm>
          <a:prstGeom prst="rect">
            <a:avLst/>
          </a:prstGeom>
          <a:noFill/>
          <a:ln/>
        </p:spPr>
        <p:txBody>
          <a:bodyPr wrap="none" lIns="0" tIns="0" rIns="0" bIns="0" rtlCol="0" anchor="t"/>
          <a:lstStyle/>
          <a:p>
            <a:pPr algn="l" indent="0" marL="0">
              <a:lnSpc>
                <a:spcPts val="1603"/>
              </a:lnSpc>
              <a:buNone/>
            </a:pPr>
            <a:r>
              <a:rPr lang="en-US" sz="1069" b="1" dirty="0">
                <a:solidFill>
                  <a:srgbClr val="E8DFC8"/>
                </a:solidFill>
                <a:latin typeface="Tinos" pitchFamily="34" charset="0"/>
                <a:ea typeface="Tinos" pitchFamily="34" charset="-122"/>
                <a:cs typeface="Tinos" pitchFamily="34" charset="-120"/>
              </a:rPr>
              <a:t>Circumstance node</a:t>
            </a:r>
            <a:endParaRPr lang="en-US" sz="1069" dirty="0"/>
          </a:p>
        </p:txBody>
      </p:sp>
      <p:sp>
        <p:nvSpPr>
          <p:cNvPr id="13" name="Text 11"/>
          <p:cNvSpPr/>
          <p:nvPr/>
        </p:nvSpPr>
        <p:spPr>
          <a:xfrm>
            <a:off x="6146081" y="2506787"/>
            <a:ext cx="2405100" cy="258961"/>
          </a:xfrm>
          <a:prstGeom prst="rect">
            <a:avLst/>
          </a:prstGeom>
          <a:noFill/>
          <a:ln/>
        </p:spPr>
        <p:txBody>
          <a:bodyPr wrap="square" lIns="0" tIns="0" rIns="0" bIns="0" rtlCol="0" anchor="t"/>
          <a:lstStyle/>
          <a:p>
            <a:pPr algn="l" indent="0" marL="0">
              <a:lnSpc>
                <a:spcPts val="1020"/>
              </a:lnSpc>
              <a:buNone/>
            </a:pPr>
            <a:r>
              <a:rPr lang="en-US" sz="800" dirty="0">
                <a:solidFill>
                  <a:srgbClr val="A89E88"/>
                </a:solidFill>
                <a:latin typeface="Carlito" pitchFamily="34" charset="0"/>
                <a:ea typeface="Carlito" pitchFamily="34" charset="-122"/>
                <a:cs typeface="Carlito" pitchFamily="34" charset="-120"/>
              </a:rPr>
              <a:t>accumulated grudge, opportunity and incentive must converge at once</a:t>
            </a:r>
            <a:endParaRPr lang="en-US" sz="800" dirty="0"/>
          </a:p>
        </p:txBody>
      </p:sp>
      <p:sp>
        <p:nvSpPr>
          <p:cNvPr id="14" name="Text 12"/>
          <p:cNvSpPr/>
          <p:nvPr/>
        </p:nvSpPr>
        <p:spPr>
          <a:xfrm>
            <a:off x="460772" y="3256211"/>
            <a:ext cx="1894991" cy="198239"/>
          </a:xfrm>
          <a:prstGeom prst="roundRect">
            <a:avLst>
              <a:gd name="adj" fmla="val 4800002"/>
            </a:avLst>
          </a:prstGeom>
          <a:noFill/>
          <a:ln w="7144">
            <a:solidFill>
              <a:srgbClr val="E8DFC8"/>
            </a:solidFill>
            <a:prstDash val="solid"/>
          </a:ln>
        </p:spPr>
        <p:txBody>
          <a:bodyPr wrap="square" rtlCol="0" anchor="ctr"/>
          <a:lstStyle/>
          <a:p>
            <a:pPr indent="0" marL="0">
              <a:buNone/>
            </a:pPr>
            <a:endParaRPr lang="en-US" dirty="0"/>
          </a:p>
        </p:txBody>
      </p:sp>
      <p:sp>
        <p:nvSpPr>
          <p:cNvPr id="15" name="Text 13"/>
          <p:cNvSpPr/>
          <p:nvPr/>
        </p:nvSpPr>
        <p:spPr>
          <a:xfrm>
            <a:off x="550069" y="3288357"/>
            <a:ext cx="1819381" cy="13394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Liberation Sans Narrow" pitchFamily="34" charset="0"/>
                <a:ea typeface="Liberation Sans Narrow" pitchFamily="34" charset="-122"/>
                <a:cs typeface="Liberation Sans Narrow" pitchFamily="34" charset="-120"/>
              </a:rPr>
              <a:t>The Witcher 3</a:t>
            </a:r>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 — set-dressing companions</a:t>
            </a:r>
            <a:endParaRPr lang="en-US" sz="703" dirty="0"/>
          </a:p>
        </p:txBody>
      </p:sp>
      <p:sp>
        <p:nvSpPr>
          <p:cNvPr id="16" name="Text 14"/>
          <p:cNvSpPr/>
          <p:nvPr/>
        </p:nvSpPr>
        <p:spPr>
          <a:xfrm>
            <a:off x="2448632" y="3256211"/>
            <a:ext cx="1895996" cy="198239"/>
          </a:xfrm>
          <a:prstGeom prst="roundRect">
            <a:avLst>
              <a:gd name="adj" fmla="val 4800002"/>
            </a:avLst>
          </a:prstGeom>
          <a:noFill/>
          <a:ln w="7144">
            <a:solidFill>
              <a:srgbClr val="E8DFC8"/>
            </a:solidFill>
            <a:prstDash val="solid"/>
          </a:ln>
        </p:spPr>
        <p:txBody>
          <a:bodyPr wrap="square" rtlCol="0" anchor="ctr"/>
          <a:lstStyle/>
          <a:p>
            <a:pPr indent="0" marL="0">
              <a:buNone/>
            </a:pPr>
            <a:endParaRPr lang="en-US" dirty="0"/>
          </a:p>
        </p:txBody>
      </p:sp>
      <p:sp>
        <p:nvSpPr>
          <p:cNvPr id="17" name="Text 15"/>
          <p:cNvSpPr/>
          <p:nvPr/>
        </p:nvSpPr>
        <p:spPr>
          <a:xfrm>
            <a:off x="2537929" y="3288357"/>
            <a:ext cx="1820446" cy="13394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Liberation Sans Narrow" pitchFamily="34" charset="0"/>
                <a:ea typeface="Liberation Sans Narrow" pitchFamily="34" charset="-122"/>
                <a:cs typeface="Liberation Sans Narrow" pitchFamily="34" charset="-120"/>
              </a:rPr>
              <a:t>Baldur’s Gate 3</a:t>
            </a:r>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 — no life outside the party</a:t>
            </a:r>
            <a:endParaRPr lang="en-US" sz="703" dirty="0"/>
          </a:p>
        </p:txBody>
      </p:sp>
      <p:sp>
        <p:nvSpPr>
          <p:cNvPr id="18" name="Text 16"/>
          <p:cNvSpPr/>
          <p:nvPr/>
        </p:nvSpPr>
        <p:spPr>
          <a:xfrm>
            <a:off x="4437497" y="3256211"/>
            <a:ext cx="1664271" cy="198239"/>
          </a:xfrm>
          <a:prstGeom prst="roundRect">
            <a:avLst>
              <a:gd name="adj" fmla="val 4800002"/>
            </a:avLst>
          </a:prstGeom>
          <a:noFill/>
          <a:ln w="7144">
            <a:solidFill>
              <a:srgbClr val="E8DFC8"/>
            </a:solidFill>
            <a:prstDash val="solid"/>
          </a:ln>
        </p:spPr>
        <p:txBody>
          <a:bodyPr wrap="square" rtlCol="0" anchor="ctr"/>
          <a:lstStyle/>
          <a:p>
            <a:pPr indent="0" marL="0">
              <a:buNone/>
            </a:pPr>
            <a:endParaRPr lang="en-US" dirty="0"/>
          </a:p>
        </p:txBody>
      </p:sp>
      <p:sp>
        <p:nvSpPr>
          <p:cNvPr id="19" name="Text 17"/>
          <p:cNvSpPr/>
          <p:nvPr/>
        </p:nvSpPr>
        <p:spPr>
          <a:xfrm>
            <a:off x="4526793" y="3288357"/>
            <a:ext cx="1574817" cy="13394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Carlito" pitchFamily="34" charset="0"/>
                <a:ea typeface="Carlito" pitchFamily="34" charset="-122"/>
                <a:cs typeface="Carlito" pitchFamily="34" charset="-120"/>
              </a:rPr>
              <a:t>Dragon Age</a:t>
            </a:r>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 — one approval number</a:t>
            </a:r>
            <a:endParaRPr lang="en-US" sz="703" dirty="0"/>
          </a:p>
        </p:txBody>
      </p:sp>
      <p:sp>
        <p:nvSpPr>
          <p:cNvPr id="20" name="Text 18"/>
          <p:cNvSpPr/>
          <p:nvPr/>
        </p:nvSpPr>
        <p:spPr>
          <a:xfrm>
            <a:off x="6194636" y="3256211"/>
            <a:ext cx="1707133" cy="198239"/>
          </a:xfrm>
          <a:prstGeom prst="roundRect">
            <a:avLst>
              <a:gd name="adj" fmla="val 4800002"/>
            </a:avLst>
          </a:prstGeom>
          <a:solidFill>
            <a:srgbClr val="A82727">
              <a:alpha val="10000"/>
            </a:srgbClr>
          </a:solidFill>
          <a:ln w="7144">
            <a:solidFill>
              <a:srgbClr val="A82727"/>
            </a:solidFill>
            <a:prstDash val="solid"/>
          </a:ln>
        </p:spPr>
        <p:txBody>
          <a:bodyPr wrap="square" rtlCol="0" anchor="ctr"/>
          <a:lstStyle/>
          <a:p>
            <a:pPr indent="0" marL="0">
              <a:buNone/>
            </a:pPr>
            <a:endParaRPr lang="en-US" dirty="0"/>
          </a:p>
        </p:txBody>
      </p:sp>
      <p:sp>
        <p:nvSpPr>
          <p:cNvPr id="21" name="Text 19"/>
          <p:cNvSpPr/>
          <p:nvPr/>
        </p:nvSpPr>
        <p:spPr>
          <a:xfrm>
            <a:off x="6283933" y="3288357"/>
            <a:ext cx="1650822" cy="133945"/>
          </a:xfrm>
          <a:prstGeom prst="rect">
            <a:avLst/>
          </a:prstGeom>
          <a:noFill/>
          <a:ln/>
        </p:spPr>
        <p:txBody>
          <a:bodyPr wrap="none" lIns="0" tIns="0" rIns="0" bIns="0" rtlCol="0" anchor="t"/>
          <a:lstStyle/>
          <a:p>
            <a:pPr algn="l" indent="0" marL="0">
              <a:lnSpc>
                <a:spcPts val="1055"/>
              </a:lnSpc>
              <a:buNone/>
            </a:pPr>
            <a:r>
              <a:rPr lang="en-US" sz="703" b="1" dirty="0">
                <a:solidFill>
                  <a:srgbClr val="C0A774"/>
                </a:solidFill>
                <a:latin typeface="Carlito" pitchFamily="34" charset="0"/>
                <a:ea typeface="Carlito" pitchFamily="34" charset="-122"/>
                <a:cs typeface="Carlito" pitchFamily="34" charset="-120"/>
              </a:rPr>
              <a:t>ZARNITSA</a:t>
            </a:r>
            <a:pPr algn="l" indent="0" marL="0">
              <a:lnSpc>
                <a:spcPts val="1055"/>
              </a:lnSpc>
              <a:buNone/>
            </a:pPr>
            <a:r>
              <a:rPr lang="en-US" sz="703" dirty="0">
                <a:solidFill>
                  <a:srgbClr val="E8DFC8"/>
                </a:solidFill>
                <a:latin typeface="Carlito" pitchFamily="34" charset="0"/>
                <a:ea typeface="Carlito" pitchFamily="34" charset="-122"/>
                <a:cs typeface="Carlito" pitchFamily="34" charset="-120"/>
              </a:rPr>
              <a:t> — betrayal as a simulation</a:t>
            </a:r>
            <a:endParaRPr lang="en-US" sz="703" dirty="0"/>
          </a:p>
        </p:txBody>
      </p:sp>
      <p:sp>
        <p:nvSpPr>
          <p:cNvPr id="22" name="Text 20"/>
          <p:cNvSpPr/>
          <p:nvPr/>
        </p:nvSpPr>
        <p:spPr>
          <a:xfrm>
            <a:off x="460772" y="3841328"/>
            <a:ext cx="1304962" cy="850106"/>
          </a:xfrm>
          <a:prstGeom prst="roundRect">
            <a:avLst>
              <a:gd name="adj" fmla="val 8964"/>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23" name="Image 0" descr="/tmp/h2p-fit-1792619795408-5nxzpq.png">    </p:cNvPr>
          <p:cNvPicPr>
            <a:picLocks noChangeAspect="1"/>
          </p:cNvPicPr>
          <p:nvPr/>
        </p:nvPicPr>
        <p:blipFill>
          <a:blip r:embed="rId1"/>
          <a:stretch>
            <a:fillRect/>
          </a:stretch>
        </p:blipFill>
        <p:spPr>
          <a:xfrm>
            <a:off x="464344" y="3844900"/>
            <a:ext cx="1297818" cy="842963"/>
          </a:xfrm>
          <a:prstGeom prst="rect">
            <a:avLst/>
          </a:prstGeom>
        </p:spPr>
      </p:pic>
      <p:sp>
        <p:nvSpPr>
          <p:cNvPr id="24" name="Text 21"/>
          <p:cNvSpPr/>
          <p:nvPr/>
        </p:nvSpPr>
        <p:spPr>
          <a:xfrm>
            <a:off x="1844315" y="3841328"/>
            <a:ext cx="1304962" cy="850106"/>
          </a:xfrm>
          <a:prstGeom prst="roundRect">
            <a:avLst>
              <a:gd name="adj" fmla="val 8964"/>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25" name="Image 1" descr="/tmp/h2p-fit-1792619795404-ntklie.png">    </p:cNvPr>
          <p:cNvPicPr>
            <a:picLocks noChangeAspect="1"/>
          </p:cNvPicPr>
          <p:nvPr/>
        </p:nvPicPr>
        <p:blipFill>
          <a:blip r:embed="rId2"/>
          <a:stretch>
            <a:fillRect/>
          </a:stretch>
        </p:blipFill>
        <p:spPr>
          <a:xfrm>
            <a:off x="1847887" y="3844900"/>
            <a:ext cx="1297818" cy="842963"/>
          </a:xfrm>
          <a:prstGeom prst="rect">
            <a:avLst/>
          </a:prstGeom>
        </p:spPr>
      </p:pic>
      <p:sp>
        <p:nvSpPr>
          <p:cNvPr id="26" name="Text 22"/>
          <p:cNvSpPr/>
          <p:nvPr/>
        </p:nvSpPr>
        <p:spPr>
          <a:xfrm>
            <a:off x="3227859" y="3841328"/>
            <a:ext cx="1304962" cy="850106"/>
          </a:xfrm>
          <a:prstGeom prst="roundRect">
            <a:avLst>
              <a:gd name="adj" fmla="val 8964"/>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27" name="Image 2" descr="/tmp/h2p-fit-1792619795404-47wmu6.png">    </p:cNvPr>
          <p:cNvPicPr>
            <a:picLocks noChangeAspect="1"/>
          </p:cNvPicPr>
          <p:nvPr/>
        </p:nvPicPr>
        <p:blipFill>
          <a:blip r:embed="rId3"/>
          <a:stretch>
            <a:fillRect/>
          </a:stretch>
        </p:blipFill>
        <p:spPr>
          <a:xfrm>
            <a:off x="3231431" y="3844900"/>
            <a:ext cx="1297818" cy="842963"/>
          </a:xfrm>
          <a:prstGeom prst="rect">
            <a:avLst/>
          </a:prstGeom>
        </p:spPr>
      </p:pic>
      <p:sp>
        <p:nvSpPr>
          <p:cNvPr id="28" name="Text 23"/>
          <p:cNvSpPr/>
          <p:nvPr/>
        </p:nvSpPr>
        <p:spPr>
          <a:xfrm>
            <a:off x="4611402" y="3841328"/>
            <a:ext cx="1304962" cy="850106"/>
          </a:xfrm>
          <a:prstGeom prst="roundRect">
            <a:avLst>
              <a:gd name="adj" fmla="val 8964"/>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29" name="Image 3" descr="/tmp/h2p-fit-1792619795404-63244j.png">    </p:cNvPr>
          <p:cNvPicPr>
            <a:picLocks noChangeAspect="1"/>
          </p:cNvPicPr>
          <p:nvPr/>
        </p:nvPicPr>
        <p:blipFill>
          <a:blip r:embed="rId4"/>
          <a:stretch>
            <a:fillRect/>
          </a:stretch>
        </p:blipFill>
        <p:spPr>
          <a:xfrm>
            <a:off x="4614974" y="3844900"/>
            <a:ext cx="1297818" cy="842963"/>
          </a:xfrm>
          <a:prstGeom prst="rect">
            <a:avLst/>
          </a:prstGeom>
        </p:spPr>
      </p:pic>
      <p:sp>
        <p:nvSpPr>
          <p:cNvPr id="30" name="Text 24"/>
          <p:cNvSpPr/>
          <p:nvPr/>
        </p:nvSpPr>
        <p:spPr>
          <a:xfrm>
            <a:off x="5994946" y="3841328"/>
            <a:ext cx="1304962" cy="850106"/>
          </a:xfrm>
          <a:prstGeom prst="roundRect">
            <a:avLst>
              <a:gd name="adj" fmla="val 8964"/>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31" name="Image 4" descr="/tmp/h2p-fit-1792619795404-gi4e3f.png">    </p:cNvPr>
          <p:cNvPicPr>
            <a:picLocks noChangeAspect="1"/>
          </p:cNvPicPr>
          <p:nvPr/>
        </p:nvPicPr>
        <p:blipFill>
          <a:blip r:embed="rId5"/>
          <a:stretch>
            <a:fillRect/>
          </a:stretch>
        </p:blipFill>
        <p:spPr>
          <a:xfrm>
            <a:off x="5998518" y="3844900"/>
            <a:ext cx="1297818" cy="842963"/>
          </a:xfrm>
          <a:prstGeom prst="rect">
            <a:avLst/>
          </a:prstGeom>
        </p:spPr>
      </p:pic>
      <p:sp>
        <p:nvSpPr>
          <p:cNvPr id="32" name="Text 25"/>
          <p:cNvSpPr/>
          <p:nvPr/>
        </p:nvSpPr>
        <p:spPr>
          <a:xfrm>
            <a:off x="7378489" y="3841328"/>
            <a:ext cx="1304962" cy="850106"/>
          </a:xfrm>
          <a:prstGeom prst="roundRect">
            <a:avLst>
              <a:gd name="adj" fmla="val 8964"/>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33" name="Image 5" descr="/tmp/h2p-fit-1792619795404-cnbgcv.png">    </p:cNvPr>
          <p:cNvPicPr>
            <a:picLocks noChangeAspect="1"/>
          </p:cNvPicPr>
          <p:nvPr/>
        </p:nvPicPr>
        <p:blipFill>
          <a:blip r:embed="rId6"/>
          <a:stretch>
            <a:fillRect/>
          </a:stretch>
        </p:blipFill>
        <p:spPr>
          <a:xfrm>
            <a:off x="7382061" y="3844900"/>
            <a:ext cx="1297818" cy="842963"/>
          </a:xfrm>
          <a:prstGeom prst="rect">
            <a:avLst/>
          </a:prstGeom>
        </p:spPr>
      </p:pic>
      <p:sp>
        <p:nvSpPr>
          <p:cNvPr id="34" name="Text 26"/>
          <p:cNvSpPr/>
          <p:nvPr/>
        </p:nvSpPr>
        <p:spPr>
          <a:xfrm>
            <a:off x="457200" y="4759300"/>
            <a:ext cx="8229600" cy="164592"/>
          </a:xfrm>
          <a:prstGeom prst="rect">
            <a:avLst/>
          </a:prstGeom>
          <a:noFill/>
          <a:ln/>
        </p:spPr>
        <p:txBody>
          <a:bodyPr wrap="square" lIns="0" tIns="0" rIns="0" bIns="0" rtlCol="0" anchor="t"/>
          <a:lstStyle/>
          <a:p>
            <a:pPr algn="ctr" indent="0" marL="0">
              <a:lnSpc>
                <a:spcPts val="886"/>
              </a:lnSpc>
              <a:buNone/>
            </a:pPr>
            <a:r>
              <a:rPr lang="en-US" sz="800" spc="35" kern="0" dirty="0">
                <a:solidFill>
                  <a:srgbClr val="A89E88"/>
                </a:solidFill>
                <a:latin typeface="Carlito" pitchFamily="34" charset="0"/>
                <a:ea typeface="Carlito" pitchFamily="34" charset="-122"/>
                <a:cs typeface="Carlito" pitchFamily="34" charset="-120"/>
              </a:rPr>
              <a:t>6 companions × 5 stages × 4 endings — a matrix you cannot see in a single playthrough</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111"/>
        </a:solidFill>
      </p:bgPr>
    </p:bg>
    <p:spTree>
      <p:nvGrpSpPr>
        <p:cNvPr id="1" name=""/>
        <p:cNvGrpSpPr/>
        <p:nvPr/>
      </p:nvGrpSpPr>
      <p:grpSpPr>
        <a:xfrm>
          <a:off x="0" y="0"/>
          <a:ext cx="0" cy="0"/>
          <a:chOff x="0" y="0"/>
          <a:chExt cx="0" cy="0"/>
        </a:xfrm>
      </p:grpSpPr>
      <p:pic>
        <p:nvPicPr>
          <p:cNvPr id="2" name="Image 0" descr="/tmp/h2p-fit-1792619795820-lfkb86.png">    </p:cNvPr>
          <p:cNvPicPr>
            <a:picLocks noChangeAspect="1"/>
          </p:cNvPicPr>
          <p:nvPr/>
        </p:nvPicPr>
        <p:blipFill>
          <a:blip r:embed="rId1"/>
          <a:stretch>
            <a:fillRect/>
          </a:stretch>
        </p:blipFill>
        <p:spPr>
          <a:xfrm>
            <a:off x="0" y="0"/>
            <a:ext cx="3840435"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3840435" cy="5143500"/>
          </a:xfrm>
          <a:prstGeom prst="rect">
            <a:avLst/>
          </a:prstGeom>
        </p:spPr>
      </p:pic>
      <p:sp>
        <p:nvSpPr>
          <p:cNvPr id="4" name="Text 0"/>
          <p:cNvSpPr/>
          <p:nvPr/>
        </p:nvSpPr>
        <p:spPr>
          <a:xfrm>
            <a:off x="4111898" y="342900"/>
            <a:ext cx="5032102" cy="164592"/>
          </a:xfrm>
          <a:prstGeom prst="rect">
            <a:avLst/>
          </a:prstGeom>
          <a:noFill/>
          <a:ln/>
        </p:spPr>
        <p:txBody>
          <a:bodyPr wrap="none" lIns="0" tIns="0" rIns="0" bIns="0" rtlCol="0" anchor="t"/>
          <a:lstStyle/>
          <a:p>
            <a:pPr algn="l" indent="0" marL="0">
              <a:lnSpc>
                <a:spcPts val="1055"/>
              </a:lnSpc>
              <a:buNone/>
            </a:pPr>
            <a:r>
              <a:rPr lang="en-US" sz="800" b="1" spc="211" kern="0" dirty="0">
                <a:solidFill>
                  <a:srgbClr val="C94B4B"/>
                </a:solidFill>
                <a:latin typeface="Carlito" pitchFamily="34" charset="0"/>
                <a:ea typeface="Carlito" pitchFamily="34" charset="-122"/>
                <a:cs typeface="Carlito" pitchFamily="34" charset="-120"/>
              </a:rPr>
              <a:t>SETTING</a:t>
            </a:r>
            <a:endParaRPr lang="en-US" sz="800" dirty="0"/>
          </a:p>
        </p:txBody>
      </p:sp>
      <p:sp>
        <p:nvSpPr>
          <p:cNvPr id="5" name="Text 1"/>
          <p:cNvSpPr/>
          <p:nvPr/>
        </p:nvSpPr>
        <p:spPr>
          <a:xfrm>
            <a:off x="4111898" y="569714"/>
            <a:ext cx="4603477" cy="794912"/>
          </a:xfrm>
          <a:prstGeom prst="rect">
            <a:avLst/>
          </a:prstGeom>
          <a:noFill/>
          <a:ln/>
        </p:spPr>
        <p:txBody>
          <a:bodyPr wrap="square" lIns="0" tIns="0" rIns="0" bIns="0" rtlCol="0" anchor="t"/>
          <a:lstStyle/>
          <a:p>
            <a:pPr algn="l" indent="0" marL="0">
              <a:lnSpc>
                <a:spcPts val="2898"/>
              </a:lnSpc>
              <a:buNone/>
            </a:pPr>
            <a:r>
              <a:rPr lang="en-US" sz="2588" b="1" dirty="0">
                <a:solidFill>
                  <a:srgbClr val="E8DFC8"/>
                </a:solidFill>
                <a:latin typeface="Tinos" pitchFamily="34" charset="0"/>
                <a:ea typeface="Tinos" pitchFamily="34" charset="-122"/>
                <a:cs typeface="Tinos" pitchFamily="34" charset="-120"/>
              </a:rPr>
              <a:t>Okovye: a country living on the body of a god</a:t>
            </a:r>
            <a:endParaRPr lang="en-US" sz="2588" dirty="0"/>
          </a:p>
        </p:txBody>
      </p:sp>
      <p:sp>
        <p:nvSpPr>
          <p:cNvPr id="6" name="Text 2"/>
          <p:cNvSpPr/>
          <p:nvPr/>
        </p:nvSpPr>
        <p:spPr>
          <a:xfrm>
            <a:off x="4111898" y="1412900"/>
            <a:ext cx="4603477" cy="527651"/>
          </a:xfrm>
          <a:prstGeom prst="rect">
            <a:avLst/>
          </a:prstGeom>
          <a:noFill/>
          <a:ln/>
        </p:spPr>
        <p:txBody>
          <a:bodyPr wrap="square" lIns="0" tIns="0" rIns="0" bIns="0" rtlCol="0" anchor="t"/>
          <a:lstStyle/>
          <a:p>
            <a:pPr algn="l" indent="0" marL="0">
              <a:lnSpc>
                <a:spcPts val="1283"/>
              </a:lnSpc>
              <a:buNone/>
            </a:pPr>
            <a:r>
              <a:rPr lang="en-US" sz="844" dirty="0">
                <a:solidFill>
                  <a:srgbClr val="E8DFC8">
                    <a:alpha val="92000"/>
                  </a:srgbClr>
                </a:solidFill>
                <a:latin typeface="Carlito" pitchFamily="34" charset="0"/>
                <a:ea typeface="Carlito" pitchFamily="34" charset="-122"/>
                <a:cs typeface="Carlito" pitchFamily="34" charset="-120"/>
              </a:rPr>
              <a:t>Dark Slavic fantasy with no orcs and no elves: the nav, the Oathbound, rumor-mongering taverns and the Gilded Decree. By day Okovye trades, litigates and weaves politics; by night the world belongs to the Mgla. The player chooses the hour of leaving camp — and pays for the choice.</a:t>
            </a:r>
            <a:endParaRPr lang="en-US" sz="844" dirty="0"/>
          </a:p>
        </p:txBody>
      </p:sp>
      <p:sp>
        <p:nvSpPr>
          <p:cNvPr id="7" name="Text 3"/>
          <p:cNvSpPr/>
          <p:nvPr/>
        </p:nvSpPr>
        <p:spPr>
          <a:xfrm>
            <a:off x="4111898" y="2365363"/>
            <a:ext cx="91440" cy="139303"/>
          </a:xfrm>
          <a:prstGeom prst="rect">
            <a:avLst/>
          </a:prstGeom>
          <a:noFill/>
          <a:ln/>
        </p:spPr>
        <p:txBody>
          <a:bodyPr wrap="none" lIns="0" tIns="0" rIns="0" bIns="0" rtlCol="0" anchor="ctr"/>
          <a:lstStyle/>
          <a:p>
            <a:pPr algn="ctr" indent="0" marL="0">
              <a:buNone/>
            </a:pPr>
            <a:r>
              <a:rPr lang="en-US" sz="800" dirty="0">
                <a:solidFill>
                  <a:srgbClr val="C0A774"/>
                </a:solidFill>
                <a:latin typeface="Segoe UI Symbol" pitchFamily="34" charset="0"/>
                <a:ea typeface="Segoe UI Symbol" pitchFamily="34" charset="-122"/>
                <a:cs typeface="Segoe UI Symbol" pitchFamily="34" charset="-120"/>
              </a:rPr>
              <a:t>✦</a:t>
            </a:r>
            <a:endParaRPr lang="en-US" sz="800" dirty="0"/>
          </a:p>
        </p:txBody>
      </p:sp>
      <p:sp>
        <p:nvSpPr>
          <p:cNvPr id="8" name="Text 4"/>
          <p:cNvSpPr/>
          <p:nvPr/>
        </p:nvSpPr>
        <p:spPr>
          <a:xfrm>
            <a:off x="4276204" y="2351075"/>
            <a:ext cx="4439171" cy="167807"/>
          </a:xfrm>
          <a:prstGeom prst="rect">
            <a:avLst/>
          </a:prstGeom>
          <a:noFill/>
          <a:ln/>
        </p:spPr>
        <p:txBody>
          <a:bodyPr wrap="square" lIns="0" tIns="0" rIns="0" bIns="0" rtlCol="0" anchor="t"/>
          <a:lstStyle/>
          <a:p>
            <a:pPr algn="l" indent="0" marL="0">
              <a:lnSpc>
                <a:spcPts val="1223"/>
              </a:lnSpc>
              <a:buNone/>
            </a:pPr>
            <a:r>
              <a:rPr lang="en-US" sz="844" b="1" dirty="0">
                <a:solidFill>
                  <a:srgbClr val="E8DFC8"/>
                </a:solidFill>
                <a:latin typeface="Liberation Sans Narrow" pitchFamily="34" charset="0"/>
                <a:ea typeface="Liberation Sans Narrow" pitchFamily="34" charset="-122"/>
                <a:cs typeface="Liberation Sans Narrow" pitchFamily="34" charset="-120"/>
              </a:rPr>
              <a:t>5 regions</a:t>
            </a:r>
            <a:pPr algn="l" indent="0" marL="0">
              <a:lnSpc>
                <a:spcPts val="1223"/>
              </a:lnSpc>
              <a:buNone/>
            </a:pPr>
            <a:r>
              <a:rPr lang="en-US" sz="844" dirty="0">
                <a:solidFill>
                  <a:srgbClr val="E8DFC8"/>
                </a:solidFill>
                <a:latin typeface="Carlito" pitchFamily="34" charset="0"/>
                <a:ea typeface="Carlito" pitchFamily="34" charset="-122"/>
                <a:cs typeface="Carlito" pitchFamily="34" charset="-120"/>
              </a:rPr>
              <a:t> — from the Polesie marshes to the drowned Still Sea</a:t>
            </a:r>
            <a:endParaRPr lang="en-US" sz="844" dirty="0"/>
          </a:p>
        </p:txBody>
      </p:sp>
      <p:sp>
        <p:nvSpPr>
          <p:cNvPr id="9" name="Text 5"/>
          <p:cNvSpPr/>
          <p:nvPr/>
        </p:nvSpPr>
        <p:spPr>
          <a:xfrm>
            <a:off x="4111898" y="2592177"/>
            <a:ext cx="91440" cy="139303"/>
          </a:xfrm>
          <a:prstGeom prst="rect">
            <a:avLst/>
          </a:prstGeom>
          <a:noFill/>
          <a:ln/>
        </p:spPr>
        <p:txBody>
          <a:bodyPr wrap="none" lIns="0" tIns="0" rIns="0" bIns="0" rtlCol="0" anchor="ctr"/>
          <a:lstStyle/>
          <a:p>
            <a:pPr algn="ctr" indent="0" marL="0">
              <a:buNone/>
            </a:pPr>
            <a:r>
              <a:rPr lang="en-US" sz="800" dirty="0">
                <a:solidFill>
                  <a:srgbClr val="C0A774"/>
                </a:solidFill>
                <a:latin typeface="Segoe UI Symbol" pitchFamily="34" charset="0"/>
                <a:ea typeface="Segoe UI Symbol" pitchFamily="34" charset="-122"/>
                <a:cs typeface="Segoe UI Symbol" pitchFamily="34" charset="-120"/>
              </a:rPr>
              <a:t>✦</a:t>
            </a:r>
            <a:endParaRPr lang="en-US" sz="800" dirty="0"/>
          </a:p>
        </p:txBody>
      </p:sp>
      <p:sp>
        <p:nvSpPr>
          <p:cNvPr id="10" name="Text 6"/>
          <p:cNvSpPr/>
          <p:nvPr/>
        </p:nvSpPr>
        <p:spPr>
          <a:xfrm>
            <a:off x="4276204" y="2577889"/>
            <a:ext cx="4439171" cy="335613"/>
          </a:xfrm>
          <a:prstGeom prst="rect">
            <a:avLst/>
          </a:prstGeom>
          <a:noFill/>
          <a:ln/>
        </p:spPr>
        <p:txBody>
          <a:bodyPr wrap="square" lIns="0" tIns="0" rIns="0" bIns="0" rtlCol="0" anchor="t"/>
          <a:lstStyle/>
          <a:p>
            <a:pPr algn="l" indent="0" marL="0">
              <a:lnSpc>
                <a:spcPts val="1223"/>
              </a:lnSpc>
              <a:buNone/>
            </a:pPr>
            <a:r>
              <a:rPr lang="en-US" sz="844" b="1" dirty="0">
                <a:solidFill>
                  <a:srgbClr val="E8DFC8"/>
                </a:solidFill>
                <a:latin typeface="Carlito" pitchFamily="34" charset="0"/>
                <a:ea typeface="Carlito" pitchFamily="34" charset="-122"/>
                <a:cs typeface="Carlito" pitchFamily="34" charset="-120"/>
              </a:rPr>
              <a:t>The Mgla</a:t>
            </a:r>
            <a:pPr algn="l" indent="0" marL="0">
              <a:lnSpc>
                <a:spcPts val="1223"/>
              </a:lnSpc>
              <a:buNone/>
            </a:pPr>
            <a:r>
              <a:rPr lang="en-US" sz="844" dirty="0">
                <a:solidFill>
                  <a:srgbClr val="E8DFC8"/>
                </a:solidFill>
                <a:latin typeface="Carlito" pitchFamily="34" charset="0"/>
                <a:ea typeface="Carlito" pitchFamily="34" charset="-122"/>
                <a:cs typeface="Carlito" pitchFamily="34" charset="-120"/>
              </a:rPr>
              <a:t> — the world’s tension meter: gold dug from the god’s body brings the eternal night closer</a:t>
            </a:r>
            <a:endParaRPr lang="en-US" sz="844" dirty="0"/>
          </a:p>
        </p:txBody>
      </p:sp>
      <p:sp>
        <p:nvSpPr>
          <p:cNvPr id="11" name="Text 7"/>
          <p:cNvSpPr/>
          <p:nvPr/>
        </p:nvSpPr>
        <p:spPr>
          <a:xfrm>
            <a:off x="4111898" y="3338252"/>
            <a:ext cx="5032102" cy="164592"/>
          </a:xfrm>
          <a:prstGeom prst="rect">
            <a:avLst/>
          </a:prstGeom>
          <a:noFill/>
          <a:ln/>
        </p:spPr>
        <p:txBody>
          <a:bodyPr wrap="none" lIns="0" tIns="0" rIns="0" bIns="0" rtlCol="0" anchor="t"/>
          <a:lstStyle/>
          <a:p>
            <a:pPr algn="l" indent="0" marL="0">
              <a:lnSpc>
                <a:spcPts val="1055"/>
              </a:lnSpc>
              <a:buNone/>
            </a:pPr>
            <a:r>
              <a:rPr lang="en-US" sz="800" b="1" spc="155" kern="0" dirty="0">
                <a:solidFill>
                  <a:srgbClr val="A89E88"/>
                </a:solidFill>
                <a:latin typeface="Carlito" pitchFamily="34" charset="0"/>
                <a:ea typeface="Carlito" pitchFamily="34" charset="-122"/>
                <a:cs typeface="Carlito" pitchFamily="34" charset="-120"/>
              </a:rPr>
              <a:t>SIX FACTIONS</a:t>
            </a:r>
            <a:endParaRPr lang="en-US" sz="800" dirty="0"/>
          </a:p>
        </p:txBody>
      </p:sp>
      <p:sp>
        <p:nvSpPr>
          <p:cNvPr id="12" name="Text 8"/>
          <p:cNvSpPr/>
          <p:nvPr/>
        </p:nvSpPr>
        <p:spPr>
          <a:xfrm>
            <a:off x="4111898" y="3524168"/>
            <a:ext cx="1073572" cy="230029"/>
          </a:xfrm>
          <a:prstGeom prst="roundRect">
            <a:avLst>
              <a:gd name="adj" fmla="val 4136641"/>
            </a:avLst>
          </a:prstGeom>
          <a:noFill/>
          <a:ln w="7144">
            <a:solidFill>
              <a:srgbClr val="E8DFC8"/>
            </a:solidFill>
            <a:prstDash val="solid"/>
          </a:ln>
        </p:spPr>
        <p:txBody>
          <a:bodyPr wrap="square" rtlCol="0" anchor="ctr"/>
          <a:lstStyle/>
          <a:p>
            <a:pPr indent="0" marL="0">
              <a:buNone/>
            </a:pPr>
            <a:endParaRPr lang="en-US" dirty="0"/>
          </a:p>
        </p:txBody>
      </p:sp>
      <p:sp>
        <p:nvSpPr>
          <p:cNvPr id="13" name="Text 9"/>
          <p:cNvSpPr/>
          <p:nvPr/>
        </p:nvSpPr>
        <p:spPr>
          <a:xfrm>
            <a:off x="4204767" y="3610608"/>
            <a:ext cx="57150" cy="57150"/>
          </a:xfrm>
          <a:prstGeom prst="ellipse">
            <a:avLst/>
          </a:prstGeom>
          <a:solidFill>
            <a:srgbClr val="A82727"/>
          </a:solidFill>
          <a:ln/>
        </p:spPr>
        <p:txBody>
          <a:bodyPr wrap="square" rtlCol="0" anchor="ctr"/>
          <a:lstStyle/>
          <a:p>
            <a:pPr indent="0" marL="0">
              <a:buNone/>
            </a:pPr>
            <a:endParaRPr lang="en-US" dirty="0"/>
          </a:p>
        </p:txBody>
      </p:sp>
      <p:sp>
        <p:nvSpPr>
          <p:cNvPr id="14" name="Text 10"/>
          <p:cNvSpPr/>
          <p:nvPr/>
        </p:nvSpPr>
        <p:spPr>
          <a:xfrm>
            <a:off x="4304779" y="3572210"/>
            <a:ext cx="787822" cy="13394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Carlito" pitchFamily="34" charset="0"/>
                <a:ea typeface="Carlito" pitchFamily="34" charset="-122"/>
                <a:cs typeface="Carlito" pitchFamily="34" charset="-120"/>
              </a:rPr>
              <a:t>Oathbound Vatagas</a:t>
            </a:r>
            <a:endParaRPr lang="en-US" sz="703" dirty="0"/>
          </a:p>
        </p:txBody>
      </p:sp>
      <p:sp>
        <p:nvSpPr>
          <p:cNvPr id="15" name="Text 11"/>
          <p:cNvSpPr/>
          <p:nvPr/>
        </p:nvSpPr>
        <p:spPr>
          <a:xfrm>
            <a:off x="5242620" y="3524168"/>
            <a:ext cx="856580" cy="230029"/>
          </a:xfrm>
          <a:prstGeom prst="roundRect">
            <a:avLst>
              <a:gd name="adj" fmla="val 4136641"/>
            </a:avLst>
          </a:prstGeom>
          <a:noFill/>
          <a:ln w="7144">
            <a:solidFill>
              <a:srgbClr val="E8DFC8"/>
            </a:solidFill>
            <a:prstDash val="solid"/>
          </a:ln>
        </p:spPr>
        <p:txBody>
          <a:bodyPr wrap="square" rtlCol="0" anchor="ctr"/>
          <a:lstStyle/>
          <a:p>
            <a:pPr indent="0" marL="0">
              <a:buNone/>
            </a:pPr>
            <a:endParaRPr lang="en-US" dirty="0"/>
          </a:p>
        </p:txBody>
      </p:sp>
      <p:sp>
        <p:nvSpPr>
          <p:cNvPr id="16" name="Text 12"/>
          <p:cNvSpPr/>
          <p:nvPr/>
        </p:nvSpPr>
        <p:spPr>
          <a:xfrm>
            <a:off x="5335488" y="3610608"/>
            <a:ext cx="57150" cy="57150"/>
          </a:xfrm>
          <a:prstGeom prst="ellipse">
            <a:avLst/>
          </a:prstGeom>
          <a:solidFill>
            <a:srgbClr val="C0A774"/>
          </a:solidFill>
          <a:ln/>
        </p:spPr>
        <p:txBody>
          <a:bodyPr wrap="square" rtlCol="0" anchor="ctr"/>
          <a:lstStyle/>
          <a:p>
            <a:pPr indent="0" marL="0">
              <a:buNone/>
            </a:pPr>
            <a:endParaRPr lang="en-US" dirty="0"/>
          </a:p>
        </p:txBody>
      </p:sp>
      <p:sp>
        <p:nvSpPr>
          <p:cNvPr id="17" name="Text 13"/>
          <p:cNvSpPr/>
          <p:nvPr/>
        </p:nvSpPr>
        <p:spPr>
          <a:xfrm>
            <a:off x="5351245" y="3572210"/>
            <a:ext cx="739342" cy="13394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Carlito" pitchFamily="34" charset="0"/>
                <a:ea typeface="Carlito" pitchFamily="34" charset="-122"/>
                <a:cs typeface="Carlito" pitchFamily="34" charset="-120"/>
              </a:rPr>
              <a:t>Gilded Decree</a:t>
            </a:r>
            <a:endParaRPr lang="en-US" sz="703" dirty="0"/>
          </a:p>
        </p:txBody>
      </p:sp>
      <p:sp>
        <p:nvSpPr>
          <p:cNvPr id="18" name="Text 14"/>
          <p:cNvSpPr/>
          <p:nvPr/>
        </p:nvSpPr>
        <p:spPr>
          <a:xfrm>
            <a:off x="6156350" y="3524168"/>
            <a:ext cx="772083" cy="230029"/>
          </a:xfrm>
          <a:prstGeom prst="roundRect">
            <a:avLst>
              <a:gd name="adj" fmla="val 4136641"/>
            </a:avLst>
          </a:prstGeom>
          <a:noFill/>
          <a:ln w="7144">
            <a:solidFill>
              <a:srgbClr val="E8DFC8"/>
            </a:solidFill>
            <a:prstDash val="solid"/>
          </a:ln>
        </p:spPr>
        <p:txBody>
          <a:bodyPr wrap="square" rtlCol="0" anchor="ctr"/>
          <a:lstStyle/>
          <a:p>
            <a:pPr indent="0" marL="0">
              <a:buNone/>
            </a:pPr>
            <a:endParaRPr lang="en-US" dirty="0"/>
          </a:p>
        </p:txBody>
      </p:sp>
      <p:sp>
        <p:nvSpPr>
          <p:cNvPr id="19" name="Text 15"/>
          <p:cNvSpPr/>
          <p:nvPr/>
        </p:nvSpPr>
        <p:spPr>
          <a:xfrm>
            <a:off x="6249219" y="3610608"/>
            <a:ext cx="57150" cy="57150"/>
          </a:xfrm>
          <a:prstGeom prst="ellipse">
            <a:avLst/>
          </a:prstGeom>
          <a:solidFill>
            <a:srgbClr val="7D94B0"/>
          </a:solidFill>
          <a:ln/>
        </p:spPr>
        <p:txBody>
          <a:bodyPr wrap="square" rtlCol="0" anchor="ctr"/>
          <a:lstStyle/>
          <a:p>
            <a:pPr indent="0" marL="0">
              <a:buNone/>
            </a:pPr>
            <a:endParaRPr lang="en-US" dirty="0"/>
          </a:p>
        </p:txBody>
      </p:sp>
      <p:sp>
        <p:nvSpPr>
          <p:cNvPr id="20" name="Text 16"/>
          <p:cNvSpPr/>
          <p:nvPr/>
        </p:nvSpPr>
        <p:spPr>
          <a:xfrm>
            <a:off x="6250123" y="3572210"/>
            <a:ext cx="684550" cy="13394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Carlito" pitchFamily="34" charset="0"/>
                <a:ea typeface="Carlito" pitchFamily="34" charset="-122"/>
                <a:cs typeface="Carlito" pitchFamily="34" charset="-120"/>
              </a:rPr>
              <a:t>Seer Circles</a:t>
            </a:r>
            <a:endParaRPr lang="en-US" sz="703" dirty="0"/>
          </a:p>
        </p:txBody>
      </p:sp>
      <p:sp>
        <p:nvSpPr>
          <p:cNvPr id="21" name="Text 17"/>
          <p:cNvSpPr/>
          <p:nvPr/>
        </p:nvSpPr>
        <p:spPr>
          <a:xfrm>
            <a:off x="6985583" y="3524168"/>
            <a:ext cx="831689" cy="230029"/>
          </a:xfrm>
          <a:prstGeom prst="roundRect">
            <a:avLst>
              <a:gd name="adj" fmla="val 4136641"/>
            </a:avLst>
          </a:prstGeom>
          <a:noFill/>
          <a:ln w="7144">
            <a:solidFill>
              <a:srgbClr val="E8DFC8"/>
            </a:solidFill>
            <a:prstDash val="solid"/>
          </a:ln>
        </p:spPr>
        <p:txBody>
          <a:bodyPr wrap="square" rtlCol="0" anchor="ctr"/>
          <a:lstStyle/>
          <a:p>
            <a:pPr indent="0" marL="0">
              <a:buNone/>
            </a:pPr>
            <a:endParaRPr lang="en-US" dirty="0"/>
          </a:p>
        </p:txBody>
      </p:sp>
      <p:sp>
        <p:nvSpPr>
          <p:cNvPr id="22" name="Text 18"/>
          <p:cNvSpPr/>
          <p:nvPr/>
        </p:nvSpPr>
        <p:spPr>
          <a:xfrm>
            <a:off x="7078452" y="3610608"/>
            <a:ext cx="57150" cy="57150"/>
          </a:xfrm>
          <a:prstGeom prst="ellipse">
            <a:avLst/>
          </a:prstGeom>
          <a:solidFill>
            <a:srgbClr val="5E8C6A"/>
          </a:solidFill>
          <a:ln/>
        </p:spPr>
        <p:txBody>
          <a:bodyPr wrap="square" rtlCol="0" anchor="ctr"/>
          <a:lstStyle/>
          <a:p>
            <a:pPr indent="0" marL="0">
              <a:buNone/>
            </a:pPr>
            <a:endParaRPr lang="en-US" dirty="0"/>
          </a:p>
        </p:txBody>
      </p:sp>
      <p:sp>
        <p:nvSpPr>
          <p:cNvPr id="23" name="Text 19"/>
          <p:cNvSpPr/>
          <p:nvPr/>
        </p:nvSpPr>
        <p:spPr>
          <a:xfrm>
            <a:off x="7094407" y="3572210"/>
            <a:ext cx="714054" cy="13394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Carlito" pitchFamily="34" charset="0"/>
                <a:ea typeface="Carlito" pitchFamily="34" charset="-122"/>
                <a:cs typeface="Carlito" pitchFamily="34" charset="-120"/>
              </a:rPr>
              <a:t>Courts of Nav</a:t>
            </a:r>
            <a:endParaRPr lang="en-US" sz="703" dirty="0"/>
          </a:p>
        </p:txBody>
      </p:sp>
      <p:sp>
        <p:nvSpPr>
          <p:cNvPr id="24" name="Text 20"/>
          <p:cNvSpPr/>
          <p:nvPr/>
        </p:nvSpPr>
        <p:spPr>
          <a:xfrm>
            <a:off x="4111898" y="3786701"/>
            <a:ext cx="922660" cy="230029"/>
          </a:xfrm>
          <a:prstGeom prst="roundRect">
            <a:avLst>
              <a:gd name="adj" fmla="val 4136641"/>
            </a:avLst>
          </a:prstGeom>
          <a:noFill/>
          <a:ln w="7144">
            <a:solidFill>
              <a:srgbClr val="E8DFC8"/>
            </a:solidFill>
            <a:prstDash val="solid"/>
          </a:ln>
        </p:spPr>
        <p:txBody>
          <a:bodyPr wrap="square" rtlCol="0" anchor="ctr"/>
          <a:lstStyle/>
          <a:p>
            <a:pPr indent="0" marL="0">
              <a:buNone/>
            </a:pPr>
            <a:endParaRPr lang="en-US" dirty="0"/>
          </a:p>
        </p:txBody>
      </p:sp>
      <p:sp>
        <p:nvSpPr>
          <p:cNvPr id="25" name="Text 21"/>
          <p:cNvSpPr/>
          <p:nvPr/>
        </p:nvSpPr>
        <p:spPr>
          <a:xfrm>
            <a:off x="4204767" y="3873140"/>
            <a:ext cx="57150" cy="57150"/>
          </a:xfrm>
          <a:prstGeom prst="ellipse">
            <a:avLst/>
          </a:prstGeom>
          <a:solidFill>
            <a:srgbClr val="9A7B52"/>
          </a:solidFill>
          <a:ln/>
        </p:spPr>
        <p:txBody>
          <a:bodyPr wrap="square" rtlCol="0" anchor="ctr"/>
          <a:lstStyle/>
          <a:p>
            <a:pPr indent="0" marL="0">
              <a:buNone/>
            </a:pPr>
            <a:endParaRPr lang="en-US" dirty="0"/>
          </a:p>
        </p:txBody>
      </p:sp>
      <p:sp>
        <p:nvSpPr>
          <p:cNvPr id="26" name="Text 22"/>
          <p:cNvSpPr/>
          <p:nvPr/>
        </p:nvSpPr>
        <p:spPr>
          <a:xfrm>
            <a:off x="4304779" y="3834743"/>
            <a:ext cx="636910" cy="13394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Carlito" pitchFamily="34" charset="0"/>
                <a:ea typeface="Carlito" pitchFamily="34" charset="-122"/>
                <a:cs typeface="Carlito" pitchFamily="34" charset="-120"/>
              </a:rPr>
              <a:t>Princes’ Council</a:t>
            </a:r>
            <a:endParaRPr lang="en-US" sz="703" dirty="0"/>
          </a:p>
        </p:txBody>
      </p:sp>
      <p:sp>
        <p:nvSpPr>
          <p:cNvPr id="27" name="Text 23"/>
          <p:cNvSpPr/>
          <p:nvPr/>
        </p:nvSpPr>
        <p:spPr>
          <a:xfrm>
            <a:off x="5091708" y="3786701"/>
            <a:ext cx="970769" cy="230029"/>
          </a:xfrm>
          <a:prstGeom prst="roundRect">
            <a:avLst>
              <a:gd name="adj" fmla="val 4136641"/>
            </a:avLst>
          </a:prstGeom>
          <a:noFill/>
          <a:ln w="7144">
            <a:solidFill>
              <a:srgbClr val="E8DFC8"/>
            </a:solidFill>
            <a:prstDash val="solid"/>
          </a:ln>
        </p:spPr>
        <p:txBody>
          <a:bodyPr wrap="square" rtlCol="0" anchor="ctr"/>
          <a:lstStyle/>
          <a:p>
            <a:pPr indent="0" marL="0">
              <a:buNone/>
            </a:pPr>
            <a:endParaRPr lang="en-US" dirty="0"/>
          </a:p>
        </p:txBody>
      </p:sp>
      <p:sp>
        <p:nvSpPr>
          <p:cNvPr id="28" name="Text 24"/>
          <p:cNvSpPr/>
          <p:nvPr/>
        </p:nvSpPr>
        <p:spPr>
          <a:xfrm>
            <a:off x="5184577" y="3873140"/>
            <a:ext cx="57150" cy="57150"/>
          </a:xfrm>
          <a:prstGeom prst="ellipse">
            <a:avLst/>
          </a:prstGeom>
          <a:solidFill>
            <a:srgbClr val="8A5AA8"/>
          </a:solidFill>
          <a:ln/>
        </p:spPr>
        <p:txBody>
          <a:bodyPr wrap="square" rtlCol="0" anchor="ctr"/>
          <a:lstStyle/>
          <a:p>
            <a:pPr indent="0" marL="0">
              <a:buNone/>
            </a:pPr>
            <a:endParaRPr lang="en-US" dirty="0"/>
          </a:p>
        </p:txBody>
      </p:sp>
      <p:sp>
        <p:nvSpPr>
          <p:cNvPr id="29" name="Text 25"/>
          <p:cNvSpPr/>
          <p:nvPr/>
        </p:nvSpPr>
        <p:spPr>
          <a:xfrm>
            <a:off x="5284589" y="3834743"/>
            <a:ext cx="685019" cy="13394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Carlito" pitchFamily="34" charset="0"/>
                <a:ea typeface="Carlito" pitchFamily="34" charset="-122"/>
                <a:cs typeface="Carlito" pitchFamily="34" charset="-120"/>
              </a:rPr>
              <a:t>Children of Dawn</a:t>
            </a:r>
            <a:endParaRPr lang="en-US" sz="703" dirty="0"/>
          </a:p>
        </p:txBody>
      </p:sp>
      <p:sp>
        <p:nvSpPr>
          <p:cNvPr id="30" name="Text 26"/>
          <p:cNvSpPr/>
          <p:nvPr/>
        </p:nvSpPr>
        <p:spPr>
          <a:xfrm>
            <a:off x="4111898" y="4454017"/>
            <a:ext cx="5032102" cy="164592"/>
          </a:xfrm>
          <a:prstGeom prst="rect">
            <a:avLst/>
          </a:prstGeom>
          <a:noFill/>
          <a:ln/>
        </p:spPr>
        <p:txBody>
          <a:bodyPr wrap="none" lIns="0" tIns="0" rIns="0" bIns="0" rtlCol="0" anchor="t"/>
          <a:lstStyle/>
          <a:p>
            <a:pPr algn="l" indent="0" marL="0">
              <a:lnSpc>
                <a:spcPts val="1055"/>
              </a:lnSpc>
              <a:buNone/>
            </a:pPr>
            <a:r>
              <a:rPr lang="en-US" sz="800" b="1" spc="155" kern="0" dirty="0">
                <a:solidFill>
                  <a:srgbClr val="A89E88"/>
                </a:solidFill>
                <a:latin typeface="Carlito" pitchFamily="34" charset="0"/>
                <a:ea typeface="Carlito" pitchFamily="34" charset="-122"/>
                <a:cs typeface="Carlito" pitchFamily="34" charset="-120"/>
              </a:rPr>
              <a:t>BESTIARY OF THE NAV</a:t>
            </a:r>
            <a:endParaRPr lang="en-US" sz="800" dirty="0"/>
          </a:p>
        </p:txBody>
      </p:sp>
      <p:sp>
        <p:nvSpPr>
          <p:cNvPr id="31" name="Text 27"/>
          <p:cNvSpPr/>
          <p:nvPr/>
        </p:nvSpPr>
        <p:spPr>
          <a:xfrm>
            <a:off x="4111898" y="4640790"/>
            <a:ext cx="479189" cy="214027"/>
          </a:xfrm>
          <a:prstGeom prst="roundRect">
            <a:avLst>
              <a:gd name="adj" fmla="val 4445923"/>
            </a:avLst>
          </a:prstGeom>
          <a:noFill/>
          <a:ln w="7144">
            <a:solidFill>
              <a:srgbClr val="E8DFC8"/>
            </a:solidFill>
            <a:prstDash val="solid"/>
          </a:ln>
        </p:spPr>
        <p:txBody>
          <a:bodyPr wrap="square" rtlCol="0" anchor="ctr"/>
          <a:lstStyle/>
          <a:p>
            <a:pPr indent="0" marL="0">
              <a:buNone/>
            </a:pPr>
            <a:endParaRPr lang="en-US" dirty="0"/>
          </a:p>
        </p:txBody>
      </p:sp>
      <p:sp>
        <p:nvSpPr>
          <p:cNvPr id="32" name="Text 28"/>
          <p:cNvSpPr/>
          <p:nvPr/>
        </p:nvSpPr>
        <p:spPr>
          <a:xfrm>
            <a:off x="4138823" y="4680831"/>
            <a:ext cx="425339" cy="133945"/>
          </a:xfrm>
          <a:prstGeom prst="rect">
            <a:avLst/>
          </a:prstGeom>
          <a:noFill/>
          <a:ln/>
        </p:spPr>
        <p:txBody>
          <a:bodyPr wrap="none" lIns="0" tIns="0" rIns="0" bIns="0" rtlCol="0" anchor="t"/>
          <a:lstStyle/>
          <a:p>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Mglenik</a:t>
            </a:r>
            <a:endParaRPr lang="en-US" sz="703" dirty="0"/>
          </a:p>
        </p:txBody>
      </p:sp>
      <p:sp>
        <p:nvSpPr>
          <p:cNvPr id="33" name="Text 29"/>
          <p:cNvSpPr/>
          <p:nvPr/>
        </p:nvSpPr>
        <p:spPr>
          <a:xfrm>
            <a:off x="4648237" y="4640790"/>
            <a:ext cx="464344" cy="214027"/>
          </a:xfrm>
          <a:prstGeom prst="roundRect">
            <a:avLst>
              <a:gd name="adj" fmla="val 4445923"/>
            </a:avLst>
          </a:prstGeom>
          <a:noFill/>
          <a:ln w="7144">
            <a:solidFill>
              <a:srgbClr val="E8DFC8"/>
            </a:solidFill>
            <a:prstDash val="solid"/>
          </a:ln>
        </p:spPr>
        <p:txBody>
          <a:bodyPr wrap="square" rtlCol="0" anchor="ctr"/>
          <a:lstStyle/>
          <a:p>
            <a:pPr indent="0" marL="0">
              <a:buNone/>
            </a:pPr>
            <a:endParaRPr lang="en-US" dirty="0"/>
          </a:p>
        </p:txBody>
      </p:sp>
      <p:sp>
        <p:nvSpPr>
          <p:cNvPr id="34" name="Text 30"/>
          <p:cNvSpPr/>
          <p:nvPr/>
        </p:nvSpPr>
        <p:spPr>
          <a:xfrm>
            <a:off x="4695136" y="4680831"/>
            <a:ext cx="370546" cy="133945"/>
          </a:xfrm>
          <a:prstGeom prst="rect">
            <a:avLst/>
          </a:prstGeom>
          <a:noFill/>
          <a:ln/>
        </p:spPr>
        <p:txBody>
          <a:bodyPr wrap="none" lIns="0" tIns="0" rIns="0" bIns="0" rtlCol="0" anchor="t"/>
          <a:lstStyle/>
          <a:p>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Uporen</a:t>
            </a:r>
            <a:endParaRPr lang="en-US" sz="703" dirty="0"/>
          </a:p>
        </p:txBody>
      </p:sp>
      <p:sp>
        <p:nvSpPr>
          <p:cNvPr id="35" name="Text 31"/>
          <p:cNvSpPr/>
          <p:nvPr/>
        </p:nvSpPr>
        <p:spPr>
          <a:xfrm>
            <a:off x="5169731" y="4640790"/>
            <a:ext cx="633115" cy="214027"/>
          </a:xfrm>
          <a:prstGeom prst="roundRect">
            <a:avLst>
              <a:gd name="adj" fmla="val 4445923"/>
            </a:avLst>
          </a:prstGeom>
          <a:noFill/>
          <a:ln w="7144">
            <a:solidFill>
              <a:srgbClr val="E8DFC8"/>
            </a:solidFill>
            <a:prstDash val="solid"/>
          </a:ln>
        </p:spPr>
        <p:txBody>
          <a:bodyPr wrap="square" rtlCol="0" anchor="ctr"/>
          <a:lstStyle/>
          <a:p>
            <a:pPr indent="0" marL="0">
              <a:buNone/>
            </a:pPr>
            <a:endParaRPr lang="en-US" dirty="0"/>
          </a:p>
        </p:txBody>
      </p:sp>
      <p:sp>
        <p:nvSpPr>
          <p:cNvPr id="36" name="Text 32"/>
          <p:cNvSpPr/>
          <p:nvPr/>
        </p:nvSpPr>
        <p:spPr>
          <a:xfrm>
            <a:off x="5164034" y="4680831"/>
            <a:ext cx="644509" cy="133945"/>
          </a:xfrm>
          <a:prstGeom prst="rect">
            <a:avLst/>
          </a:prstGeom>
          <a:noFill/>
          <a:ln/>
        </p:spPr>
        <p:txBody>
          <a:bodyPr wrap="none" lIns="0" tIns="0" rIns="0" bIns="0" rtlCol="0" anchor="t"/>
          <a:lstStyle/>
          <a:p>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Kostyanitsa</a:t>
            </a:r>
            <a:endParaRPr lang="en-US" sz="703" dirty="0"/>
          </a:p>
        </p:txBody>
      </p:sp>
      <p:sp>
        <p:nvSpPr>
          <p:cNvPr id="37" name="Text 33"/>
          <p:cNvSpPr/>
          <p:nvPr/>
        </p:nvSpPr>
        <p:spPr>
          <a:xfrm>
            <a:off x="5859996" y="4640790"/>
            <a:ext cx="419584" cy="214027"/>
          </a:xfrm>
          <a:prstGeom prst="roundRect">
            <a:avLst>
              <a:gd name="adj" fmla="val 4445923"/>
            </a:avLst>
          </a:prstGeom>
          <a:noFill/>
          <a:ln w="7144">
            <a:solidFill>
              <a:srgbClr val="E8DFC8"/>
            </a:solidFill>
            <a:prstDash val="solid"/>
          </a:ln>
        </p:spPr>
        <p:txBody>
          <a:bodyPr wrap="square" rtlCol="0" anchor="ctr"/>
          <a:lstStyle/>
          <a:p>
            <a:pPr indent="0" marL="0">
              <a:buNone/>
            </a:pPr>
            <a:endParaRPr lang="en-US" dirty="0"/>
          </a:p>
        </p:txBody>
      </p:sp>
      <p:sp>
        <p:nvSpPr>
          <p:cNvPr id="38" name="Text 34"/>
          <p:cNvSpPr/>
          <p:nvPr/>
        </p:nvSpPr>
        <p:spPr>
          <a:xfrm>
            <a:off x="5884514" y="4680831"/>
            <a:ext cx="370546" cy="133945"/>
          </a:xfrm>
          <a:prstGeom prst="rect">
            <a:avLst/>
          </a:prstGeom>
          <a:noFill/>
          <a:ln/>
        </p:spPr>
        <p:txBody>
          <a:bodyPr wrap="none" lIns="0" tIns="0" rIns="0" bIns="0" rtlCol="0" anchor="t"/>
          <a:lstStyle/>
          <a:p>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Zarnik</a:t>
            </a:r>
            <a:endParaRPr lang="en-US" sz="703" dirty="0"/>
          </a:p>
        </p:txBody>
      </p:sp>
      <p:sp>
        <p:nvSpPr>
          <p:cNvPr id="39" name="Text 35"/>
          <p:cNvSpPr/>
          <p:nvPr/>
        </p:nvSpPr>
        <p:spPr>
          <a:xfrm>
            <a:off x="6336729" y="4640790"/>
            <a:ext cx="648072" cy="214027"/>
          </a:xfrm>
          <a:prstGeom prst="roundRect">
            <a:avLst>
              <a:gd name="adj" fmla="val 4445923"/>
            </a:avLst>
          </a:prstGeom>
          <a:noFill/>
          <a:ln w="7144">
            <a:solidFill>
              <a:srgbClr val="E8DFC8"/>
            </a:solidFill>
            <a:prstDash val="solid"/>
          </a:ln>
        </p:spPr>
        <p:txBody>
          <a:bodyPr wrap="square" rtlCol="0" anchor="ctr"/>
          <a:lstStyle/>
          <a:p>
            <a:pPr indent="0" marL="0">
              <a:buNone/>
            </a:pPr>
            <a:endParaRPr lang="en-US" dirty="0"/>
          </a:p>
        </p:txBody>
      </p:sp>
      <p:sp>
        <p:nvSpPr>
          <p:cNvPr id="40" name="Text 36"/>
          <p:cNvSpPr/>
          <p:nvPr/>
        </p:nvSpPr>
        <p:spPr>
          <a:xfrm>
            <a:off x="6364327" y="4680831"/>
            <a:ext cx="592878" cy="133945"/>
          </a:xfrm>
          <a:prstGeom prst="rect">
            <a:avLst/>
          </a:prstGeom>
          <a:noFill/>
          <a:ln/>
        </p:spPr>
        <p:txBody>
          <a:bodyPr wrap="none" lIns="0" tIns="0" rIns="0" bIns="0" rtlCol="0" anchor="t"/>
          <a:lstStyle/>
          <a:p>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Mgla-Vedun</a:t>
            </a:r>
            <a:endParaRPr lang="en-US" sz="70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457200" y="371475"/>
            <a:ext cx="8636000" cy="164592"/>
          </a:xfrm>
          <a:prstGeom prst="rect">
            <a:avLst/>
          </a:prstGeom>
          <a:noFill/>
          <a:ln/>
        </p:spPr>
        <p:txBody>
          <a:bodyPr wrap="none" lIns="0" tIns="0" rIns="0" bIns="0" rtlCol="0" anchor="t"/>
          <a:lstStyle/>
          <a:p>
            <a:pPr algn="l" indent="0" marL="0">
              <a:lnSpc>
                <a:spcPts val="1055"/>
              </a:lnSpc>
              <a:buNone/>
            </a:pPr>
            <a:r>
              <a:rPr lang="en-US" sz="800" b="1" spc="211" kern="0" dirty="0">
                <a:solidFill>
                  <a:srgbClr val="C94B4B"/>
                </a:solidFill>
                <a:latin typeface="Carlito" pitchFamily="34" charset="0"/>
                <a:ea typeface="Carlito" pitchFamily="34" charset="-122"/>
                <a:cs typeface="Carlito" pitchFamily="34" charset="-120"/>
              </a:rPr>
              <a:t>GAMEPLAY LOOP</a:t>
            </a:r>
            <a:endParaRPr lang="en-US" sz="800" dirty="0"/>
          </a:p>
        </p:txBody>
      </p:sp>
      <p:sp>
        <p:nvSpPr>
          <p:cNvPr id="3" name="Text 1"/>
          <p:cNvSpPr/>
          <p:nvPr/>
        </p:nvSpPr>
        <p:spPr>
          <a:xfrm>
            <a:off x="457200" y="591145"/>
            <a:ext cx="8636000" cy="390343"/>
          </a:xfrm>
          <a:prstGeom prst="rect">
            <a:avLst/>
          </a:prstGeom>
          <a:noFill/>
          <a:ln/>
        </p:spPr>
        <p:txBody>
          <a:bodyPr wrap="none" lIns="0" tIns="0" rIns="0" bIns="0" rtlCol="0" anchor="t"/>
          <a:lstStyle/>
          <a:p>
            <a:pPr algn="l" indent="0" marL="0">
              <a:lnSpc>
                <a:spcPts val="2846"/>
              </a:lnSpc>
              <a:buNone/>
            </a:pPr>
            <a:r>
              <a:rPr lang="en-US" sz="2588" b="1" dirty="0">
                <a:solidFill>
                  <a:srgbClr val="E8DFC8"/>
                </a:solidFill>
                <a:latin typeface="Tinos" pitchFamily="34" charset="0"/>
                <a:ea typeface="Tinos" pitchFamily="34" charset="-122"/>
                <a:cs typeface="Tinos" pitchFamily="34" charset="-120"/>
              </a:rPr>
              <a:t>Contract </a:t>
            </a:r>
            <a:pPr algn="l" indent="0" marL="0">
              <a:lnSpc>
                <a:spcPts val="2846"/>
              </a:lnSpc>
              <a:buNone/>
            </a:pPr>
            <a:r>
              <a:rPr lang="en-US" sz="2588" b="1" dirty="0">
                <a:solidFill>
                  <a:srgbClr val="C0A774"/>
                </a:solidFill>
                <a:latin typeface="Tinos" pitchFamily="34" charset="0"/>
                <a:ea typeface="Tinos" pitchFamily="34" charset="-122"/>
                <a:cs typeface="Tinos" pitchFamily="34" charset="-120"/>
              </a:rPr>
              <a:t>→</a:t>
            </a:r>
            <a:pPr algn="l" indent="0" marL="0">
              <a:lnSpc>
                <a:spcPts val="2846"/>
              </a:lnSpc>
              <a:buNone/>
            </a:pPr>
            <a:r>
              <a:rPr lang="en-US" sz="2588" b="1" dirty="0">
                <a:solidFill>
                  <a:srgbClr val="E8DFC8"/>
                </a:solidFill>
                <a:latin typeface="Tinos" pitchFamily="34" charset="0"/>
                <a:ea typeface="Tinos" pitchFamily="34" charset="-122"/>
                <a:cs typeface="Tinos" pitchFamily="34" charset="-120"/>
              </a:rPr>
              <a:t> Camp </a:t>
            </a:r>
            <a:pPr algn="l" indent="0" marL="0">
              <a:lnSpc>
                <a:spcPts val="2846"/>
              </a:lnSpc>
              <a:buNone/>
            </a:pPr>
            <a:r>
              <a:rPr lang="en-US" sz="2588" b="1" dirty="0">
                <a:solidFill>
                  <a:srgbClr val="C0A774"/>
                </a:solidFill>
                <a:latin typeface="Tinos" pitchFamily="34" charset="0"/>
                <a:ea typeface="Tinos" pitchFamily="34" charset="-122"/>
                <a:cs typeface="Tinos" pitchFamily="34" charset="-120"/>
              </a:rPr>
              <a:t>→</a:t>
            </a:r>
            <a:pPr algn="l" indent="0" marL="0">
              <a:lnSpc>
                <a:spcPts val="2846"/>
              </a:lnSpc>
              <a:buNone/>
            </a:pPr>
            <a:r>
              <a:rPr lang="en-US" sz="2588" b="1" dirty="0">
                <a:solidFill>
                  <a:srgbClr val="E8DFC8"/>
                </a:solidFill>
                <a:latin typeface="Tinos" pitchFamily="34" charset="0"/>
                <a:ea typeface="Tinos" pitchFamily="34" charset="-122"/>
                <a:cs typeface="Tinos" pitchFamily="34" charset="-120"/>
              </a:rPr>
              <a:t> Night</a:t>
            </a:r>
            <a:endParaRPr lang="en-US" sz="2588" dirty="0"/>
          </a:p>
        </p:txBody>
      </p:sp>
      <p:sp>
        <p:nvSpPr>
          <p:cNvPr id="4" name="Text 2"/>
          <p:cNvSpPr/>
          <p:nvPr/>
        </p:nvSpPr>
        <p:spPr>
          <a:xfrm>
            <a:off x="460772" y="1692511"/>
            <a:ext cx="2450306" cy="2050256"/>
          </a:xfrm>
          <a:prstGeom prst="roundRect">
            <a:avLst>
              <a:gd name="adj" fmla="val 371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5" name="Text 3"/>
          <p:cNvSpPr/>
          <p:nvPr/>
        </p:nvSpPr>
        <p:spPr>
          <a:xfrm>
            <a:off x="621506" y="1867533"/>
            <a:ext cx="2128838" cy="339471"/>
          </a:xfrm>
          <a:prstGeom prst="rect">
            <a:avLst/>
          </a:prstGeom>
          <a:noFill/>
          <a:ln/>
        </p:spPr>
        <p:txBody>
          <a:bodyPr wrap="none" lIns="0" tIns="0" rIns="0" bIns="0" rtlCol="0" anchor="t"/>
          <a:lstStyle/>
          <a:p>
            <a:pPr algn="l" indent="0" marL="0">
              <a:lnSpc>
                <a:spcPts val="2475"/>
              </a:lnSpc>
              <a:buNone/>
            </a:pPr>
            <a:r>
              <a:rPr lang="en-US" sz="2475" b="1" dirty="0">
                <a:solidFill>
                  <a:srgbClr val="C94B4B"/>
                </a:solidFill>
                <a:latin typeface="Liberation Sans Narrow" pitchFamily="34" charset="0"/>
                <a:ea typeface="Liberation Sans Narrow" pitchFamily="34" charset="-122"/>
                <a:cs typeface="Liberation Sans Narrow" pitchFamily="34" charset="-120"/>
              </a:rPr>
              <a:t>1</a:t>
            </a:r>
            <a:endParaRPr lang="en-US" sz="2475" dirty="0"/>
          </a:p>
        </p:txBody>
      </p:sp>
      <p:sp>
        <p:nvSpPr>
          <p:cNvPr id="6" name="Text 4"/>
          <p:cNvSpPr/>
          <p:nvPr/>
        </p:nvSpPr>
        <p:spPr>
          <a:xfrm>
            <a:off x="621506" y="2281870"/>
            <a:ext cx="2128838" cy="219885"/>
          </a:xfrm>
          <a:prstGeom prst="rect">
            <a:avLst/>
          </a:prstGeom>
          <a:noFill/>
          <a:ln/>
        </p:spPr>
        <p:txBody>
          <a:bodyPr wrap="none" lIns="0" tIns="0" rIns="0" bIns="0" rtlCol="0" anchor="t"/>
          <a:lstStyle/>
          <a:p>
            <a:pPr algn="l" indent="0" marL="0">
              <a:lnSpc>
                <a:spcPts val="1603"/>
              </a:lnSpc>
              <a:buNone/>
            </a:pPr>
            <a:r>
              <a:rPr lang="en-US" sz="1069" b="1" spc="150" kern="0" dirty="0">
                <a:solidFill>
                  <a:srgbClr val="E8DFC8"/>
                </a:solidFill>
                <a:latin typeface="Tinos" pitchFamily="34" charset="0"/>
                <a:ea typeface="Tinos" pitchFamily="34" charset="-122"/>
                <a:cs typeface="Tinos" pitchFamily="34" charset="-120"/>
              </a:rPr>
              <a:t>CONTRACT</a:t>
            </a:r>
            <a:endParaRPr lang="en-US" sz="1069" dirty="0"/>
          </a:p>
        </p:txBody>
      </p:sp>
      <p:sp>
        <p:nvSpPr>
          <p:cNvPr id="7" name="Text 5"/>
          <p:cNvSpPr/>
          <p:nvPr/>
        </p:nvSpPr>
        <p:spPr>
          <a:xfrm>
            <a:off x="621506" y="2571192"/>
            <a:ext cx="257175" cy="7144"/>
          </a:xfrm>
          <a:prstGeom prst="rect">
            <a:avLst/>
          </a:prstGeom>
          <a:solidFill>
            <a:srgbClr val="C0A774">
              <a:alpha val="55000"/>
            </a:srgbClr>
          </a:solidFill>
          <a:ln/>
        </p:spPr>
        <p:txBody>
          <a:bodyPr wrap="square" rtlCol="0" anchor="ctr"/>
          <a:lstStyle/>
          <a:p>
            <a:pPr indent="0" marL="0">
              <a:buNone/>
            </a:pPr>
            <a:endParaRPr lang="en-US" dirty="0"/>
          </a:p>
        </p:txBody>
      </p:sp>
      <p:sp>
        <p:nvSpPr>
          <p:cNvPr id="8" name="Text 6"/>
          <p:cNvSpPr/>
          <p:nvPr/>
        </p:nvSpPr>
        <p:spPr>
          <a:xfrm>
            <a:off x="621506" y="2664061"/>
            <a:ext cx="2128838" cy="896898"/>
          </a:xfrm>
          <a:prstGeom prst="rect">
            <a:avLst/>
          </a:prstGeom>
          <a:noFill/>
          <a:ln/>
        </p:spPr>
        <p:txBody>
          <a:bodyPr wrap="square" lIns="0" tIns="0" rIns="0" bIns="0" rtlCol="0" anchor="t"/>
          <a:lstStyle/>
          <a:p>
            <a:pPr algn="l" indent="0" marL="0">
              <a:lnSpc>
                <a:spcPts val="1308"/>
              </a:lnSpc>
              <a:buNone/>
            </a:pPr>
            <a:r>
              <a:rPr lang="en-US" sz="844" dirty="0">
                <a:solidFill>
                  <a:srgbClr val="E8DFC8">
                    <a:alpha val="92000"/>
                  </a:srgbClr>
                </a:solidFill>
                <a:latin typeface="Carlito" pitchFamily="34" charset="0"/>
                <a:ea typeface="Carlito" pitchFamily="34" charset="-122"/>
                <a:cs typeface="Carlito" pitchFamily="34" charset="-120"/>
              </a:rPr>
              <a:t>A job board with bargaining: price, deadlines, currency, witnesses. Terms shift in dialogue — witnesses remember the deal, and a stingy haggle comes back through a companion’s memory journal.</a:t>
            </a:r>
            <a:endParaRPr lang="en-US" sz="844" dirty="0"/>
          </a:p>
        </p:txBody>
      </p:sp>
      <p:sp>
        <p:nvSpPr>
          <p:cNvPr id="9" name="Text 7"/>
          <p:cNvSpPr/>
          <p:nvPr/>
        </p:nvSpPr>
        <p:spPr>
          <a:xfrm>
            <a:off x="3014663" y="2546189"/>
            <a:ext cx="228600" cy="342900"/>
          </a:xfrm>
          <a:prstGeom prst="rect">
            <a:avLst/>
          </a:prstGeom>
          <a:noFill/>
          <a:ln/>
        </p:spPr>
        <p:txBody>
          <a:bodyPr wrap="none" lIns="0" tIns="0" rIns="0" bIns="0" rtlCol="0" anchor="ctr"/>
          <a:lstStyle/>
          <a:p>
            <a:pPr algn="ctr" indent="0" marL="0">
              <a:buNone/>
            </a:pPr>
            <a:r>
              <a:rPr lang="en-US" sz="1800" dirty="0">
                <a:solidFill>
                  <a:srgbClr val="C0A774"/>
                </a:solidFill>
                <a:latin typeface="Segoe UI Symbol" pitchFamily="34" charset="0"/>
                <a:ea typeface="Segoe UI Symbol" pitchFamily="34" charset="-122"/>
                <a:cs typeface="Segoe UI Symbol" pitchFamily="34" charset="-120"/>
              </a:rPr>
              <a:t>→</a:t>
            </a:r>
            <a:endParaRPr lang="en-US" sz="1800" dirty="0"/>
          </a:p>
        </p:txBody>
      </p:sp>
      <p:sp>
        <p:nvSpPr>
          <p:cNvPr id="10" name="Text 8"/>
          <p:cNvSpPr/>
          <p:nvPr/>
        </p:nvSpPr>
        <p:spPr>
          <a:xfrm>
            <a:off x="3346847" y="1692511"/>
            <a:ext cx="2450306" cy="2050256"/>
          </a:xfrm>
          <a:prstGeom prst="roundRect">
            <a:avLst>
              <a:gd name="adj" fmla="val 371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1" name="Text 9"/>
          <p:cNvSpPr/>
          <p:nvPr/>
        </p:nvSpPr>
        <p:spPr>
          <a:xfrm>
            <a:off x="3507581" y="1867533"/>
            <a:ext cx="2128838" cy="339471"/>
          </a:xfrm>
          <a:prstGeom prst="rect">
            <a:avLst/>
          </a:prstGeom>
          <a:noFill/>
          <a:ln/>
        </p:spPr>
        <p:txBody>
          <a:bodyPr wrap="none" lIns="0" tIns="0" rIns="0" bIns="0" rtlCol="0" anchor="t"/>
          <a:lstStyle/>
          <a:p>
            <a:pPr algn="l" indent="0" marL="0">
              <a:lnSpc>
                <a:spcPts val="2475"/>
              </a:lnSpc>
              <a:buNone/>
            </a:pPr>
            <a:r>
              <a:rPr lang="en-US" sz="2475" b="1" dirty="0">
                <a:solidFill>
                  <a:srgbClr val="C94B4B"/>
                </a:solidFill>
                <a:latin typeface="Liberation Sans Narrow" pitchFamily="34" charset="0"/>
                <a:ea typeface="Liberation Sans Narrow" pitchFamily="34" charset="-122"/>
                <a:cs typeface="Liberation Sans Narrow" pitchFamily="34" charset="-120"/>
              </a:rPr>
              <a:t>2</a:t>
            </a:r>
            <a:endParaRPr lang="en-US" sz="2475" dirty="0"/>
          </a:p>
        </p:txBody>
      </p:sp>
      <p:sp>
        <p:nvSpPr>
          <p:cNvPr id="12" name="Text 10"/>
          <p:cNvSpPr/>
          <p:nvPr/>
        </p:nvSpPr>
        <p:spPr>
          <a:xfrm>
            <a:off x="3507581" y="2281870"/>
            <a:ext cx="2128838" cy="219885"/>
          </a:xfrm>
          <a:prstGeom prst="rect">
            <a:avLst/>
          </a:prstGeom>
          <a:noFill/>
          <a:ln/>
        </p:spPr>
        <p:txBody>
          <a:bodyPr wrap="none" lIns="0" tIns="0" rIns="0" bIns="0" rtlCol="0" anchor="t"/>
          <a:lstStyle/>
          <a:p>
            <a:pPr algn="l" indent="0" marL="0">
              <a:lnSpc>
                <a:spcPts val="1603"/>
              </a:lnSpc>
              <a:buNone/>
            </a:pPr>
            <a:r>
              <a:rPr lang="en-US" sz="1069" b="1" spc="150" kern="0" dirty="0">
                <a:solidFill>
                  <a:srgbClr val="E8DFC8"/>
                </a:solidFill>
                <a:latin typeface="Tinos" pitchFamily="34" charset="0"/>
                <a:ea typeface="Tinos" pitchFamily="34" charset="-122"/>
                <a:cs typeface="Tinos" pitchFamily="34" charset="-120"/>
              </a:rPr>
              <a:t>CAMP</a:t>
            </a:r>
            <a:endParaRPr lang="en-US" sz="1069" dirty="0"/>
          </a:p>
        </p:txBody>
      </p:sp>
      <p:sp>
        <p:nvSpPr>
          <p:cNvPr id="13" name="Text 11"/>
          <p:cNvSpPr/>
          <p:nvPr/>
        </p:nvSpPr>
        <p:spPr>
          <a:xfrm>
            <a:off x="3507581" y="2571192"/>
            <a:ext cx="257175" cy="7144"/>
          </a:xfrm>
          <a:prstGeom prst="rect">
            <a:avLst/>
          </a:prstGeom>
          <a:solidFill>
            <a:srgbClr val="C0A774">
              <a:alpha val="55000"/>
            </a:srgbClr>
          </a:solidFill>
          <a:ln/>
        </p:spPr>
        <p:txBody>
          <a:bodyPr wrap="square" rtlCol="0" anchor="ctr"/>
          <a:lstStyle/>
          <a:p>
            <a:pPr indent="0" marL="0">
              <a:buNone/>
            </a:pPr>
            <a:endParaRPr lang="en-US" dirty="0"/>
          </a:p>
        </p:txBody>
      </p:sp>
      <p:sp>
        <p:nvSpPr>
          <p:cNvPr id="14" name="Text 12"/>
          <p:cNvSpPr/>
          <p:nvPr/>
        </p:nvSpPr>
        <p:spPr>
          <a:xfrm>
            <a:off x="3507581" y="2664061"/>
            <a:ext cx="2128838" cy="717518"/>
          </a:xfrm>
          <a:prstGeom prst="rect">
            <a:avLst/>
          </a:prstGeom>
          <a:noFill/>
          <a:ln/>
        </p:spPr>
        <p:txBody>
          <a:bodyPr wrap="square" lIns="0" tIns="0" rIns="0" bIns="0" rtlCol="0" anchor="t"/>
          <a:lstStyle/>
          <a:p>
            <a:pPr algn="l" indent="0" marL="0">
              <a:lnSpc>
                <a:spcPts val="1308"/>
              </a:lnSpc>
              <a:buNone/>
            </a:pPr>
            <a:r>
              <a:rPr lang="en-US" sz="844" dirty="0">
                <a:solidFill>
                  <a:srgbClr val="E8DFC8">
                    <a:alpha val="92000"/>
                  </a:srgbClr>
                </a:solidFill>
                <a:latin typeface="Carlito" pitchFamily="34" charset="0"/>
                <a:ea typeface="Carlito" pitchFamily="34" charset="-122"/>
                <a:cs typeface="Carlito" pitchFamily="34" charset="-120"/>
              </a:rPr>
              <a:t>One conversation before nightfall: the raid party — up to three brothers; gear: oils, traps, strings. Gifts and oaths stay in the vataga’s memory.</a:t>
            </a:r>
            <a:endParaRPr lang="en-US" sz="844" dirty="0"/>
          </a:p>
        </p:txBody>
      </p:sp>
      <p:sp>
        <p:nvSpPr>
          <p:cNvPr id="15" name="Text 13"/>
          <p:cNvSpPr/>
          <p:nvPr/>
        </p:nvSpPr>
        <p:spPr>
          <a:xfrm>
            <a:off x="5900738" y="2546189"/>
            <a:ext cx="228600" cy="342900"/>
          </a:xfrm>
          <a:prstGeom prst="rect">
            <a:avLst/>
          </a:prstGeom>
          <a:noFill/>
          <a:ln/>
        </p:spPr>
        <p:txBody>
          <a:bodyPr wrap="none" lIns="0" tIns="0" rIns="0" bIns="0" rtlCol="0" anchor="ctr"/>
          <a:lstStyle/>
          <a:p>
            <a:pPr algn="ctr" indent="0" marL="0">
              <a:buNone/>
            </a:pPr>
            <a:r>
              <a:rPr lang="en-US" sz="1800" dirty="0">
                <a:solidFill>
                  <a:srgbClr val="C0A774"/>
                </a:solidFill>
                <a:latin typeface="Segoe UI Symbol" pitchFamily="34" charset="0"/>
                <a:ea typeface="Segoe UI Symbol" pitchFamily="34" charset="-122"/>
                <a:cs typeface="Segoe UI Symbol" pitchFamily="34" charset="-120"/>
              </a:rPr>
              <a:t>→</a:t>
            </a:r>
            <a:endParaRPr lang="en-US" sz="1800" dirty="0"/>
          </a:p>
        </p:txBody>
      </p:sp>
      <p:sp>
        <p:nvSpPr>
          <p:cNvPr id="16" name="Text 14"/>
          <p:cNvSpPr/>
          <p:nvPr/>
        </p:nvSpPr>
        <p:spPr>
          <a:xfrm>
            <a:off x="6232922" y="1692511"/>
            <a:ext cx="2450306" cy="2050256"/>
          </a:xfrm>
          <a:prstGeom prst="roundRect">
            <a:avLst>
              <a:gd name="adj" fmla="val 371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7" name="Text 15"/>
          <p:cNvSpPr/>
          <p:nvPr/>
        </p:nvSpPr>
        <p:spPr>
          <a:xfrm>
            <a:off x="6393656" y="1867533"/>
            <a:ext cx="2128838" cy="339471"/>
          </a:xfrm>
          <a:prstGeom prst="rect">
            <a:avLst/>
          </a:prstGeom>
          <a:noFill/>
          <a:ln/>
        </p:spPr>
        <p:txBody>
          <a:bodyPr wrap="none" lIns="0" tIns="0" rIns="0" bIns="0" rtlCol="0" anchor="t"/>
          <a:lstStyle/>
          <a:p>
            <a:pPr algn="l" indent="0" marL="0">
              <a:lnSpc>
                <a:spcPts val="2475"/>
              </a:lnSpc>
              <a:buNone/>
            </a:pPr>
            <a:r>
              <a:rPr lang="en-US" sz="2475" b="1" dirty="0">
                <a:solidFill>
                  <a:srgbClr val="C94B4B"/>
                </a:solidFill>
                <a:latin typeface="Liberation Sans Narrow" pitchFamily="34" charset="0"/>
                <a:ea typeface="Liberation Sans Narrow" pitchFamily="34" charset="-122"/>
                <a:cs typeface="Liberation Sans Narrow" pitchFamily="34" charset="-120"/>
              </a:rPr>
              <a:t>3</a:t>
            </a:r>
            <a:endParaRPr lang="en-US" sz="2475" dirty="0"/>
          </a:p>
        </p:txBody>
      </p:sp>
      <p:sp>
        <p:nvSpPr>
          <p:cNvPr id="18" name="Text 16"/>
          <p:cNvSpPr/>
          <p:nvPr/>
        </p:nvSpPr>
        <p:spPr>
          <a:xfrm>
            <a:off x="6393656" y="2281870"/>
            <a:ext cx="2128838" cy="219885"/>
          </a:xfrm>
          <a:prstGeom prst="rect">
            <a:avLst/>
          </a:prstGeom>
          <a:noFill/>
          <a:ln/>
        </p:spPr>
        <p:txBody>
          <a:bodyPr wrap="none" lIns="0" tIns="0" rIns="0" bIns="0" rtlCol="0" anchor="t"/>
          <a:lstStyle/>
          <a:p>
            <a:pPr algn="l" indent="0" marL="0">
              <a:lnSpc>
                <a:spcPts val="1603"/>
              </a:lnSpc>
              <a:buNone/>
            </a:pPr>
            <a:r>
              <a:rPr lang="en-US" sz="1069" b="1" spc="150" kern="0" dirty="0">
                <a:solidFill>
                  <a:srgbClr val="E8DFC8"/>
                </a:solidFill>
                <a:latin typeface="Tinos" pitchFamily="34" charset="0"/>
                <a:ea typeface="Tinos" pitchFamily="34" charset="-122"/>
                <a:cs typeface="Tinos" pitchFamily="34" charset="-120"/>
              </a:rPr>
              <a:t>NIGHT</a:t>
            </a:r>
            <a:endParaRPr lang="en-US" sz="1069" dirty="0"/>
          </a:p>
        </p:txBody>
      </p:sp>
      <p:sp>
        <p:nvSpPr>
          <p:cNvPr id="19" name="Text 17"/>
          <p:cNvSpPr/>
          <p:nvPr/>
        </p:nvSpPr>
        <p:spPr>
          <a:xfrm>
            <a:off x="6393656" y="2571192"/>
            <a:ext cx="257175" cy="7144"/>
          </a:xfrm>
          <a:prstGeom prst="rect">
            <a:avLst/>
          </a:prstGeom>
          <a:solidFill>
            <a:srgbClr val="C0A774">
              <a:alpha val="55000"/>
            </a:srgbClr>
          </a:solidFill>
          <a:ln/>
        </p:spPr>
        <p:txBody>
          <a:bodyPr wrap="square" rtlCol="0" anchor="ctr"/>
          <a:lstStyle/>
          <a:p>
            <a:pPr indent="0" marL="0">
              <a:buNone/>
            </a:pPr>
            <a:endParaRPr lang="en-US" dirty="0"/>
          </a:p>
        </p:txBody>
      </p:sp>
      <p:sp>
        <p:nvSpPr>
          <p:cNvPr id="20" name="Text 18"/>
          <p:cNvSpPr/>
          <p:nvPr/>
        </p:nvSpPr>
        <p:spPr>
          <a:xfrm>
            <a:off x="6393656" y="2664061"/>
            <a:ext cx="2128838" cy="896898"/>
          </a:xfrm>
          <a:prstGeom prst="rect">
            <a:avLst/>
          </a:prstGeom>
          <a:noFill/>
          <a:ln/>
        </p:spPr>
        <p:txBody>
          <a:bodyPr wrap="square" lIns="0" tIns="0" rIns="0" bIns="0" rtlCol="0" anchor="t"/>
          <a:lstStyle/>
          <a:p>
            <a:pPr algn="l" indent="0" marL="0">
              <a:lnSpc>
                <a:spcPts val="1308"/>
              </a:lnSpc>
              <a:buNone/>
            </a:pPr>
            <a:r>
              <a:rPr lang="en-US" sz="844" dirty="0">
                <a:solidFill>
                  <a:srgbClr val="E8DFC8">
                    <a:alpha val="92000"/>
                  </a:srgbClr>
                </a:solidFill>
                <a:latin typeface="Carlito" pitchFamily="34" charset="0"/>
                <a:ea typeface="Carlito" pitchFamily="34" charset="-122"/>
                <a:cs typeface="Carlito" pitchFamily="34" charset="-120"/>
              </a:rPr>
              <a:t>A real-time raid into the Mgla under the Oath Pause. After the fight — the Right of Speech: a brother may step out of the shadow with a grievance, and the ataman answers.</a:t>
            </a:r>
            <a:endParaRPr lang="en-US" sz="844" dirty="0"/>
          </a:p>
        </p:txBody>
      </p:sp>
      <p:sp>
        <p:nvSpPr>
          <p:cNvPr id="21" name="Text 19"/>
          <p:cNvSpPr/>
          <p:nvPr/>
        </p:nvSpPr>
        <p:spPr>
          <a:xfrm>
            <a:off x="460772" y="4414838"/>
            <a:ext cx="8222456" cy="396478"/>
          </a:xfrm>
          <a:prstGeom prst="roundRect">
            <a:avLst>
              <a:gd name="adj" fmla="val 19219"/>
            </a:avLst>
          </a:prstGeom>
          <a:solidFill>
            <a:srgbClr val="A82727">
              <a:alpha val="10000"/>
            </a:srgbClr>
          </a:solidFill>
          <a:ln w="7144">
            <a:solidFill>
              <a:srgbClr val="A82727"/>
            </a:solidFill>
            <a:prstDash val="solid"/>
          </a:ln>
        </p:spPr>
        <p:txBody>
          <a:bodyPr wrap="square" rtlCol="0" anchor="ctr"/>
          <a:lstStyle/>
          <a:p>
            <a:pPr indent="0" marL="0">
              <a:buNone/>
            </a:pPr>
            <a:endParaRPr lang="en-US" dirty="0"/>
          </a:p>
        </p:txBody>
      </p:sp>
      <p:sp>
        <p:nvSpPr>
          <p:cNvPr id="22" name="Text 20"/>
          <p:cNvSpPr/>
          <p:nvPr/>
        </p:nvSpPr>
        <p:spPr>
          <a:xfrm>
            <a:off x="1349722" y="4532709"/>
            <a:ext cx="6444555" cy="160734"/>
          </a:xfrm>
          <a:prstGeom prst="rect">
            <a:avLst/>
          </a:prstGeom>
          <a:noFill/>
          <a:ln/>
        </p:spPr>
        <p:txBody>
          <a:bodyPr wrap="square" lIns="0" tIns="0" rIns="0" bIns="0" rtlCol="0" anchor="t"/>
          <a:lstStyle/>
          <a:p>
            <a:pPr algn="ctr" indent="0" marL="0">
              <a:lnSpc>
                <a:spcPts val="1266"/>
              </a:lnSpc>
              <a:buNone/>
            </a:pPr>
            <a:r>
              <a:rPr lang="en-US" sz="844" dirty="0">
                <a:solidFill>
                  <a:srgbClr val="E8DFC8"/>
                </a:solidFill>
                <a:latin typeface="Carlito" pitchFamily="34" charset="0"/>
                <a:ea typeface="Carlito" pitchFamily="34" charset="-122"/>
                <a:cs typeface="Carlito" pitchFamily="34" charset="-120"/>
              </a:rPr>
              <a:t>Between nights the world lives without the player: factions make their moves, rumors spread through taverns, the Mgla gathers strength.</a:t>
            </a:r>
            <a:endParaRPr lang="en-US" sz="84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514350" y="442913"/>
            <a:ext cx="5886907" cy="164592"/>
          </a:xfrm>
          <a:prstGeom prst="rect">
            <a:avLst/>
          </a:prstGeom>
          <a:noFill/>
          <a:ln/>
        </p:spPr>
        <p:txBody>
          <a:bodyPr wrap="none" lIns="0" tIns="0" rIns="0" bIns="0" rtlCol="0" anchor="t"/>
          <a:lstStyle/>
          <a:p>
            <a:pPr algn="l" indent="0" marL="0">
              <a:lnSpc>
                <a:spcPts val="1055"/>
              </a:lnSpc>
              <a:buNone/>
            </a:pPr>
            <a:r>
              <a:rPr lang="en-US" sz="800" b="1" spc="211" kern="0" dirty="0">
                <a:solidFill>
                  <a:srgbClr val="C94B4B"/>
                </a:solidFill>
                <a:latin typeface="Carlito" pitchFamily="34" charset="0"/>
                <a:ea typeface="Carlito" pitchFamily="34" charset="-122"/>
                <a:cs typeface="Carlito" pitchFamily="34" charset="-120"/>
              </a:rPr>
              <a:t>COMBAT SYSTEM</a:t>
            </a:r>
            <a:endParaRPr lang="en-US" sz="800" dirty="0"/>
          </a:p>
        </p:txBody>
      </p:sp>
      <p:sp>
        <p:nvSpPr>
          <p:cNvPr id="3" name="Text 1"/>
          <p:cNvSpPr/>
          <p:nvPr/>
        </p:nvSpPr>
        <p:spPr>
          <a:xfrm>
            <a:off x="514350" y="705445"/>
            <a:ext cx="4000500" cy="794912"/>
          </a:xfrm>
          <a:prstGeom prst="rect">
            <a:avLst/>
          </a:prstGeom>
          <a:noFill/>
          <a:ln/>
        </p:spPr>
        <p:txBody>
          <a:bodyPr wrap="square" lIns="0" tIns="0" rIns="0" bIns="0" rtlCol="0" anchor="t"/>
          <a:lstStyle/>
          <a:p>
            <a:pPr algn="l" indent="0" marL="0">
              <a:lnSpc>
                <a:spcPts val="2898"/>
              </a:lnSpc>
              <a:buNone/>
            </a:pPr>
            <a:r>
              <a:rPr lang="en-US" sz="2588" b="1" dirty="0">
                <a:solidFill>
                  <a:srgbClr val="E8DFC8"/>
                </a:solidFill>
                <a:latin typeface="Tinos" pitchFamily="34" charset="0"/>
                <a:ea typeface="Tinos" pitchFamily="34" charset="-122"/>
                <a:cs typeface="Tinos" pitchFamily="34" charset="-120"/>
              </a:rPr>
              <a:t>Real time under the Oath Pause</a:t>
            </a:r>
            <a:endParaRPr lang="en-US" sz="2588" dirty="0"/>
          </a:p>
        </p:txBody>
      </p:sp>
      <p:sp>
        <p:nvSpPr>
          <p:cNvPr id="4" name="Text 2"/>
          <p:cNvSpPr/>
          <p:nvPr/>
        </p:nvSpPr>
        <p:spPr>
          <a:xfrm>
            <a:off x="514350" y="1570062"/>
            <a:ext cx="3971925" cy="582984"/>
          </a:xfrm>
          <a:prstGeom prst="rect">
            <a:avLst/>
          </a:prstGeom>
          <a:noFill/>
          <a:ln/>
        </p:spPr>
        <p:txBody>
          <a:bodyPr wrap="square" lIns="0" tIns="0" rIns="0" bIns="0" rtlCol="0" anchor="t"/>
          <a:lstStyle/>
          <a:p>
            <a:pPr algn="l" indent="0" marL="0">
              <a:lnSpc>
                <a:spcPts val="1418"/>
              </a:lnSpc>
              <a:buNone/>
            </a:pPr>
            <a:r>
              <a:rPr lang="en-US" sz="844" dirty="0">
                <a:solidFill>
                  <a:srgbClr val="E8DFC8">
                    <a:alpha val="92000"/>
                  </a:srgbClr>
                </a:solidFill>
                <a:latin typeface="Carlito" pitchFamily="34" charset="0"/>
                <a:ea typeface="Carlito" pitchFamily="34" charset="-122"/>
                <a:cs typeface="Carlito" pitchFamily="34" charset="-120"/>
              </a:rPr>
              <a:t>The spacebar freezes time at any moment: the ataman issues orders to the brothers, picks a Zaritsa form and resumes the fight. Reflex matters less than half an hour of preparation — “run in and swing” tactics are punished naturally.</a:t>
            </a:r>
            <a:endParaRPr lang="en-US" sz="844" dirty="0"/>
          </a:p>
        </p:txBody>
      </p:sp>
      <p:sp>
        <p:nvSpPr>
          <p:cNvPr id="5" name="Text 3"/>
          <p:cNvSpPr/>
          <p:nvPr/>
        </p:nvSpPr>
        <p:spPr>
          <a:xfrm>
            <a:off x="517922" y="2284884"/>
            <a:ext cx="1935956" cy="460772"/>
          </a:xfrm>
          <a:prstGeom prst="roundRect">
            <a:avLst>
              <a:gd name="adj" fmla="val 1653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6" name="Text 4"/>
          <p:cNvSpPr/>
          <p:nvPr/>
        </p:nvSpPr>
        <p:spPr>
          <a:xfrm>
            <a:off x="628650" y="2409899"/>
            <a:ext cx="57150" cy="57150"/>
          </a:xfrm>
          <a:prstGeom prst="ellipse">
            <a:avLst/>
          </a:prstGeom>
          <a:solidFill>
            <a:srgbClr val="E8DFC8"/>
          </a:solidFill>
          <a:ln/>
        </p:spPr>
        <p:txBody>
          <a:bodyPr wrap="square" rtlCol="0" anchor="ctr"/>
          <a:lstStyle/>
          <a:p>
            <a:pPr indent="0" marL="0">
              <a:buNone/>
            </a:pPr>
            <a:endParaRPr lang="en-US" dirty="0"/>
          </a:p>
        </p:txBody>
      </p:sp>
      <p:sp>
        <p:nvSpPr>
          <p:cNvPr id="7" name="Text 5"/>
          <p:cNvSpPr/>
          <p:nvPr/>
        </p:nvSpPr>
        <p:spPr>
          <a:xfrm>
            <a:off x="758800" y="2395612"/>
            <a:ext cx="487507" cy="12289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Liberation Sans Narrow" pitchFamily="34" charset="0"/>
                <a:ea typeface="Liberation Sans Narrow" pitchFamily="34" charset="-122"/>
                <a:cs typeface="Liberation Sans Narrow" pitchFamily="34" charset="-120"/>
              </a:rPr>
              <a:t>1 · White</a:t>
            </a:r>
            <a:endParaRPr lang="en-US" sz="703" dirty="0"/>
          </a:p>
        </p:txBody>
      </p:sp>
      <p:sp>
        <p:nvSpPr>
          <p:cNvPr id="8" name="Text 6"/>
          <p:cNvSpPr/>
          <p:nvPr/>
        </p:nvSpPr>
        <p:spPr>
          <a:xfrm>
            <a:off x="764381" y="2395612"/>
            <a:ext cx="1518717" cy="253603"/>
          </a:xfrm>
          <a:prstGeom prst="rect">
            <a:avLst/>
          </a:prstGeom>
          <a:noFill/>
          <a:ln/>
        </p:spPr>
        <p:txBody>
          <a:bodyPr wrap="square" lIns="0" tIns="0" rIns="0" bIns="0" rtlCol="0" anchor="t"/>
          <a:lstStyle/>
          <a:p>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 five empowered strikes in a row</a:t>
            </a:r>
            <a:endParaRPr lang="en-US" sz="703" dirty="0"/>
          </a:p>
        </p:txBody>
      </p:sp>
      <p:sp>
        <p:nvSpPr>
          <p:cNvPr id="9" name="Text 7"/>
          <p:cNvSpPr/>
          <p:nvPr/>
        </p:nvSpPr>
        <p:spPr>
          <a:xfrm>
            <a:off x="2546747" y="2284884"/>
            <a:ext cx="1935956" cy="460772"/>
          </a:xfrm>
          <a:prstGeom prst="roundRect">
            <a:avLst>
              <a:gd name="adj" fmla="val 1653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0" name="Text 8"/>
          <p:cNvSpPr/>
          <p:nvPr/>
        </p:nvSpPr>
        <p:spPr>
          <a:xfrm>
            <a:off x="2657475" y="2409899"/>
            <a:ext cx="57150" cy="57150"/>
          </a:xfrm>
          <a:prstGeom prst="ellipse">
            <a:avLst/>
          </a:prstGeom>
          <a:solidFill>
            <a:srgbClr val="7D94B0"/>
          </a:solidFill>
          <a:ln/>
        </p:spPr>
        <p:txBody>
          <a:bodyPr wrap="square" rtlCol="0" anchor="ctr"/>
          <a:lstStyle/>
          <a:p>
            <a:pPr indent="0" marL="0">
              <a:buNone/>
            </a:pPr>
            <a:endParaRPr lang="en-US" dirty="0"/>
          </a:p>
        </p:txBody>
      </p:sp>
      <p:sp>
        <p:nvSpPr>
          <p:cNvPr id="11" name="Text 9"/>
          <p:cNvSpPr/>
          <p:nvPr/>
        </p:nvSpPr>
        <p:spPr>
          <a:xfrm>
            <a:off x="2783303" y="2395612"/>
            <a:ext cx="432715" cy="12289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Liberation Sans Narrow" pitchFamily="34" charset="0"/>
                <a:ea typeface="Liberation Sans Narrow" pitchFamily="34" charset="-122"/>
                <a:cs typeface="Liberation Sans Narrow" pitchFamily="34" charset="-120"/>
              </a:rPr>
              <a:t>2 · Blue</a:t>
            </a:r>
            <a:endParaRPr lang="en-US" sz="703" dirty="0"/>
          </a:p>
        </p:txBody>
      </p:sp>
      <p:sp>
        <p:nvSpPr>
          <p:cNvPr id="12" name="Text 10"/>
          <p:cNvSpPr/>
          <p:nvPr/>
        </p:nvSpPr>
        <p:spPr>
          <a:xfrm>
            <a:off x="2793206" y="2395612"/>
            <a:ext cx="1562749" cy="253603"/>
          </a:xfrm>
          <a:prstGeom prst="rect">
            <a:avLst/>
          </a:prstGeom>
          <a:noFill/>
          <a:ln/>
        </p:spPr>
        <p:txBody>
          <a:bodyPr wrap="square" lIns="0" tIns="0" rIns="0" bIns="0" rtlCol="0" anchor="t"/>
          <a:lstStyle/>
          <a:p>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 a slowing field around the point of the throw</a:t>
            </a:r>
            <a:endParaRPr lang="en-US" sz="703" dirty="0"/>
          </a:p>
        </p:txBody>
      </p:sp>
      <p:sp>
        <p:nvSpPr>
          <p:cNvPr id="13" name="Text 11"/>
          <p:cNvSpPr/>
          <p:nvPr/>
        </p:nvSpPr>
        <p:spPr>
          <a:xfrm>
            <a:off x="517922" y="2838524"/>
            <a:ext cx="1935956" cy="460772"/>
          </a:xfrm>
          <a:prstGeom prst="roundRect">
            <a:avLst>
              <a:gd name="adj" fmla="val 1653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4" name="Text 12"/>
          <p:cNvSpPr/>
          <p:nvPr/>
        </p:nvSpPr>
        <p:spPr>
          <a:xfrm>
            <a:off x="628650" y="2963540"/>
            <a:ext cx="57150" cy="57150"/>
          </a:xfrm>
          <a:prstGeom prst="ellipse">
            <a:avLst/>
          </a:prstGeom>
          <a:solidFill>
            <a:srgbClr val="C0A774"/>
          </a:solidFill>
          <a:ln/>
        </p:spPr>
        <p:txBody>
          <a:bodyPr wrap="square" rtlCol="0" anchor="ctr"/>
          <a:lstStyle/>
          <a:p>
            <a:pPr indent="0" marL="0">
              <a:buNone/>
            </a:pPr>
            <a:endParaRPr lang="en-US" dirty="0"/>
          </a:p>
        </p:txBody>
      </p:sp>
      <p:sp>
        <p:nvSpPr>
          <p:cNvPr id="15" name="Text 13"/>
          <p:cNvSpPr/>
          <p:nvPr/>
        </p:nvSpPr>
        <p:spPr>
          <a:xfrm>
            <a:off x="760765" y="2949253"/>
            <a:ext cx="432715" cy="122895"/>
          </a:xfrm>
          <a:prstGeom prst="rect">
            <a:avLst/>
          </a:prstGeom>
          <a:noFill/>
          <a:ln/>
        </p:spPr>
        <p:txBody>
          <a:bodyPr wrap="none" lIns="0" tIns="0" rIns="0" bIns="0" rtlCol="0" anchor="t"/>
          <a:lstStyle/>
          <a:p>
            <a:pPr algn="l" indent="0" marL="0">
              <a:lnSpc>
                <a:spcPts val="1055"/>
              </a:lnSpc>
              <a:buNone/>
            </a:pPr>
            <a:r>
              <a:rPr lang="en-US" sz="703" dirty="0">
                <a:solidFill>
                  <a:srgbClr val="E8DFC8"/>
                </a:solidFill>
                <a:latin typeface="Liberation Sans Narrow" pitchFamily="34" charset="0"/>
                <a:ea typeface="Liberation Sans Narrow" pitchFamily="34" charset="-122"/>
                <a:cs typeface="Liberation Sans Narrow" pitchFamily="34" charset="-120"/>
              </a:rPr>
              <a:t>3 · Gold</a:t>
            </a:r>
            <a:endParaRPr lang="en-US" sz="703" dirty="0"/>
          </a:p>
        </p:txBody>
      </p:sp>
      <p:sp>
        <p:nvSpPr>
          <p:cNvPr id="16" name="Text 14"/>
          <p:cNvSpPr/>
          <p:nvPr/>
        </p:nvSpPr>
        <p:spPr>
          <a:xfrm>
            <a:off x="764381" y="2949253"/>
            <a:ext cx="1557543" cy="253603"/>
          </a:xfrm>
          <a:prstGeom prst="rect">
            <a:avLst/>
          </a:prstGeom>
          <a:noFill/>
          <a:ln/>
        </p:spPr>
        <p:txBody>
          <a:bodyPr wrap="square" lIns="0" tIns="0" rIns="0" bIns="0" rtlCol="0" anchor="t"/>
          <a:lstStyle/>
          <a:p>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 shield and healing for the whole vataga</a:t>
            </a:r>
            <a:endParaRPr lang="en-US" sz="703" dirty="0"/>
          </a:p>
        </p:txBody>
      </p:sp>
      <p:sp>
        <p:nvSpPr>
          <p:cNvPr id="17" name="Text 15"/>
          <p:cNvSpPr/>
          <p:nvPr/>
        </p:nvSpPr>
        <p:spPr>
          <a:xfrm>
            <a:off x="2546747" y="2838524"/>
            <a:ext cx="1935956" cy="460772"/>
          </a:xfrm>
          <a:prstGeom prst="roundRect">
            <a:avLst>
              <a:gd name="adj" fmla="val 16537"/>
            </a:avLst>
          </a:prstGeom>
          <a:solidFill>
            <a:srgbClr val="A82727">
              <a:alpha val="10000"/>
            </a:srgbClr>
          </a:solidFill>
          <a:ln w="7144">
            <a:solidFill>
              <a:srgbClr val="A82727"/>
            </a:solidFill>
            <a:prstDash val="solid"/>
          </a:ln>
        </p:spPr>
        <p:txBody>
          <a:bodyPr wrap="square" rtlCol="0" anchor="ctr"/>
          <a:lstStyle/>
          <a:p>
            <a:pPr indent="0" marL="0">
              <a:buNone/>
            </a:pPr>
            <a:endParaRPr lang="en-US" dirty="0"/>
          </a:p>
        </p:txBody>
      </p:sp>
      <p:sp>
        <p:nvSpPr>
          <p:cNvPr id="18" name="Text 16"/>
          <p:cNvSpPr/>
          <p:nvPr/>
        </p:nvSpPr>
        <p:spPr>
          <a:xfrm>
            <a:off x="2657475" y="2963540"/>
            <a:ext cx="57150" cy="57150"/>
          </a:xfrm>
          <a:prstGeom prst="ellipse">
            <a:avLst/>
          </a:prstGeom>
          <a:solidFill>
            <a:srgbClr val="C94B4B"/>
          </a:solidFill>
          <a:ln/>
        </p:spPr>
        <p:txBody>
          <a:bodyPr wrap="square" rtlCol="0" anchor="ctr"/>
          <a:lstStyle/>
          <a:p>
            <a:pPr indent="0" marL="0">
              <a:buNone/>
            </a:pPr>
            <a:endParaRPr lang="en-US" dirty="0"/>
          </a:p>
        </p:txBody>
      </p:sp>
      <p:sp>
        <p:nvSpPr>
          <p:cNvPr id="19" name="Text 17"/>
          <p:cNvSpPr/>
          <p:nvPr/>
        </p:nvSpPr>
        <p:spPr>
          <a:xfrm>
            <a:off x="2768806" y="2949253"/>
            <a:ext cx="429992" cy="122895"/>
          </a:xfrm>
          <a:prstGeom prst="rect">
            <a:avLst/>
          </a:prstGeom>
          <a:noFill/>
          <a:ln/>
        </p:spPr>
        <p:txBody>
          <a:bodyPr wrap="none" lIns="0" tIns="0" rIns="0" bIns="0" rtlCol="0" anchor="t"/>
          <a:lstStyle/>
          <a:p>
            <a:pPr algn="l" indent="0" marL="0">
              <a:lnSpc>
                <a:spcPts val="1055"/>
              </a:lnSpc>
              <a:buNone/>
            </a:pPr>
            <a:r>
              <a:rPr lang="en-US" sz="800" dirty="0">
                <a:solidFill>
                  <a:srgbClr val="E8DFC8"/>
                </a:solidFill>
                <a:latin typeface="Liberation Sans Narrow" pitchFamily="34" charset="0"/>
                <a:ea typeface="Liberation Sans Narrow" pitchFamily="34" charset="-122"/>
                <a:cs typeface="Liberation Sans Narrow" pitchFamily="34" charset="-120"/>
              </a:rPr>
              <a:t>4 · Red</a:t>
            </a:r>
            <a:endParaRPr lang="en-US" sz="800" dirty="0"/>
          </a:p>
        </p:txBody>
      </p:sp>
      <p:sp>
        <p:nvSpPr>
          <p:cNvPr id="20" name="Text 18"/>
          <p:cNvSpPr/>
          <p:nvPr/>
        </p:nvSpPr>
        <p:spPr>
          <a:xfrm>
            <a:off x="2793206" y="2949253"/>
            <a:ext cx="1599664" cy="253603"/>
          </a:xfrm>
          <a:prstGeom prst="rect">
            <a:avLst/>
          </a:prstGeom>
          <a:noFill/>
          <a:ln/>
        </p:spPr>
        <p:txBody>
          <a:bodyPr wrap="square" lIns="0" tIns="0" rIns="0" bIns="0" rtlCol="0" anchor="t"/>
          <a:lstStyle/>
          <a:p>
            <a:pPr algn="l" indent="0" marL="0">
              <a:lnSpc>
                <a:spcPts val="1055"/>
              </a:lnSpc>
              <a:buNone/>
            </a:pPr>
            <a:r>
              <a:rPr lang="en-US" sz="703" dirty="0">
                <a:solidFill>
                  <a:srgbClr val="A89E88"/>
                </a:solidFill>
                <a:latin typeface="Carlito" pitchFamily="34" charset="0"/>
                <a:ea typeface="Carlito" pitchFamily="34" charset="-122"/>
                <a:cs typeface="Carlito" pitchFamily="34" charset="-120"/>
              </a:rPr>
              <a:t>— detonates the accumulated Mgla across the causeway</a:t>
            </a:r>
            <a:endParaRPr lang="en-US" sz="703" dirty="0"/>
          </a:p>
        </p:txBody>
      </p:sp>
      <p:sp>
        <p:nvSpPr>
          <p:cNvPr id="21" name="Shape 19"/>
          <p:cNvSpPr/>
          <p:nvPr/>
        </p:nvSpPr>
        <p:spPr>
          <a:xfrm>
            <a:off x="514350" y="4354116"/>
            <a:ext cx="3971925" cy="0"/>
          </a:xfrm>
          <a:prstGeom prst="line">
            <a:avLst/>
          </a:prstGeom>
          <a:noFill/>
          <a:ln w="7144">
            <a:solidFill>
              <a:srgbClr val="E8DFC8"/>
            </a:solidFill>
            <a:prstDash val="solid"/>
          </a:ln>
        </p:spPr>
      </p:sp>
      <p:sp>
        <p:nvSpPr>
          <p:cNvPr id="22" name="Text 20"/>
          <p:cNvSpPr/>
          <p:nvPr/>
        </p:nvSpPr>
        <p:spPr>
          <a:xfrm>
            <a:off x="514350" y="4350544"/>
            <a:ext cx="3971925" cy="500360"/>
          </a:xfrm>
          <a:prstGeom prst="rect">
            <a:avLst/>
          </a:prstGeom>
          <a:noFill/>
          <a:ln/>
        </p:spPr>
        <p:txBody>
          <a:bodyPr wrap="square" lIns="0" tIns="114300" rIns="0" bIns="0" rtlCol="0" anchor="t"/>
          <a:lstStyle/>
          <a:p>
            <a:pPr algn="l" indent="0" marL="0">
              <a:lnSpc>
                <a:spcPts val="1125"/>
              </a:lnSpc>
              <a:buNone/>
            </a:pPr>
            <a:r>
              <a:rPr lang="en-US" sz="800" dirty="0">
                <a:solidFill>
                  <a:srgbClr val="C0A774"/>
                </a:solidFill>
                <a:latin typeface="Carlito" pitchFamily="34" charset="0"/>
                <a:ea typeface="Carlito" pitchFamily="34" charset="-122"/>
                <a:cs typeface="Carlito" pitchFamily="34" charset="-120"/>
              </a:rPr>
              <a:t>Heat and overload:</a:t>
            </a:r>
            <a:pPr algn="l" indent="0" marL="0">
              <a:lnSpc>
                <a:spcPts val="1125"/>
              </a:lnSpc>
              <a:buNone/>
            </a:pPr>
            <a:r>
              <a:rPr lang="en-US" sz="800" dirty="0">
                <a:solidFill>
                  <a:srgbClr val="A89E88"/>
                </a:solidFill>
                <a:latin typeface="Carlito" pitchFamily="34" charset="0"/>
                <a:ea typeface="Carlito" pitchFamily="34" charset="-122"/>
                <a:cs typeface="Carlito" pitchFamily="34" charset="-120"/>
              </a:rPr>
              <a:t> every form heats the power — in overload, strikes burn your own. Oathfire holds the line: the nav skirt the flame in a wide arc.</a:t>
            </a:r>
            <a:endParaRPr lang="en-US" sz="800" dirty="0"/>
          </a:p>
        </p:txBody>
      </p:sp>
      <p:sp>
        <p:nvSpPr>
          <p:cNvPr id="23" name="Text 21"/>
          <p:cNvSpPr/>
          <p:nvPr/>
        </p:nvSpPr>
        <p:spPr>
          <a:xfrm>
            <a:off x="5075634" y="483096"/>
            <a:ext cx="3607594" cy="3993356"/>
          </a:xfrm>
          <a:prstGeom prst="roundRect">
            <a:avLst>
              <a:gd name="adj" fmla="val 2112"/>
            </a:avLst>
          </a:prstGeom>
          <a:solidFill>
            <a:srgbClr val="1B1817"/>
          </a:solidFill>
          <a:ln w="7144">
            <a:solidFill>
              <a:srgbClr val="E8DFC8"/>
            </a:solidFill>
            <a:prstDash val="solid"/>
          </a:ln>
          <a:effectLst>
            <a:outerShdw sx="100000" sy="100000" kx="0" ky="0" algn="bl" rotWithShape="0" blurRad="476250" dist="190500" dir="5400000">
              <a:srgbClr val="000000">
                <a:alpha val="45000"/>
              </a:srgbClr>
            </a:outerShdw>
          </a:effectLst>
        </p:spPr>
        <p:txBody>
          <a:bodyPr wrap="square" rtlCol="0" anchor="ctr"/>
          <a:lstStyle/>
          <a:p>
            <a:pPr indent="0" marL="0">
              <a:buNone/>
            </a:pPr>
            <a:endParaRPr lang="en-US" dirty="0"/>
          </a:p>
        </p:txBody>
      </p:sp>
      <p:pic>
        <p:nvPicPr>
          <p:cNvPr id="24" name="Image 0" descr="/tmp/h2p-fit-1792619789937-q2her8.png">    </p:cNvPr>
          <p:cNvPicPr>
            <a:picLocks noChangeAspect="1"/>
          </p:cNvPicPr>
          <p:nvPr/>
        </p:nvPicPr>
        <p:blipFill>
          <a:blip r:embed="rId1"/>
          <a:stretch>
            <a:fillRect/>
          </a:stretch>
        </p:blipFill>
        <p:spPr>
          <a:xfrm>
            <a:off x="5079206" y="486668"/>
            <a:ext cx="3600450" cy="3986213"/>
          </a:xfrm>
          <a:prstGeom prst="rect">
            <a:avLst/>
          </a:prstGeom>
        </p:spPr>
      </p:pic>
      <p:sp>
        <p:nvSpPr>
          <p:cNvPr id="25" name="Text 22"/>
          <p:cNvSpPr/>
          <p:nvPr/>
        </p:nvSpPr>
        <p:spPr>
          <a:xfrm>
            <a:off x="5072063" y="4551462"/>
            <a:ext cx="3614738" cy="164592"/>
          </a:xfrm>
          <a:prstGeom prst="rect">
            <a:avLst/>
          </a:prstGeom>
          <a:noFill/>
          <a:ln/>
        </p:spPr>
        <p:txBody>
          <a:bodyPr wrap="square" lIns="0" tIns="0" rIns="0" bIns="0" rtlCol="0" anchor="t"/>
          <a:lstStyle/>
          <a:p>
            <a:pPr algn="l" indent="0" marL="0">
              <a:lnSpc>
                <a:spcPts val="886"/>
              </a:lnSpc>
              <a:buNone/>
            </a:pPr>
            <a:r>
              <a:rPr lang="en-US" sz="600" spc="30" kern="0" dirty="0">
                <a:solidFill>
                  <a:srgbClr val="A89E88"/>
                </a:solidFill>
                <a:latin typeface="Carlito" pitchFamily="34" charset="0"/>
                <a:ea typeface="Carlito" pitchFamily="34" charset="-122"/>
                <a:cs typeface="Carlito" pitchFamily="34" charset="-120"/>
              </a:rPr>
              <a:t>Prototype: the Oath Pause, orders to the brothers and four Zaritsa forms</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514350" y="400050"/>
            <a:ext cx="8629650" cy="164592"/>
          </a:xfrm>
          <a:prstGeom prst="rect">
            <a:avLst/>
          </a:prstGeom>
          <a:noFill/>
          <a:ln/>
        </p:spPr>
        <p:txBody>
          <a:bodyPr wrap="none" lIns="0" tIns="0" rIns="0" bIns="0" rtlCol="0" anchor="t"/>
          <a:lstStyle/>
          <a:p>
            <a:pPr algn="l" indent="0" marL="0">
              <a:lnSpc>
                <a:spcPts val="1055"/>
              </a:lnSpc>
              <a:buNone/>
            </a:pPr>
            <a:r>
              <a:rPr lang="en-US" sz="800" b="1" spc="211" kern="0" dirty="0">
                <a:solidFill>
                  <a:srgbClr val="C94B4B"/>
                </a:solidFill>
                <a:latin typeface="Carlito" pitchFamily="34" charset="0"/>
                <a:ea typeface="Carlito" pitchFamily="34" charset="-122"/>
                <a:cs typeface="Carlito" pitchFamily="34" charset="-120"/>
              </a:rPr>
              <a:t>THE VATAGA</a:t>
            </a:r>
            <a:endParaRPr lang="en-US" sz="800" dirty="0"/>
          </a:p>
        </p:txBody>
      </p:sp>
      <p:sp>
        <p:nvSpPr>
          <p:cNvPr id="3" name="Text 1"/>
          <p:cNvSpPr/>
          <p:nvPr/>
        </p:nvSpPr>
        <p:spPr>
          <a:xfrm>
            <a:off x="514350" y="648295"/>
            <a:ext cx="8581073" cy="397456"/>
          </a:xfrm>
          <a:prstGeom prst="rect">
            <a:avLst/>
          </a:prstGeom>
          <a:noFill/>
          <a:ln/>
        </p:spPr>
        <p:txBody>
          <a:bodyPr wrap="none" lIns="0" tIns="0" rIns="0" bIns="0" rtlCol="0" anchor="t"/>
          <a:lstStyle/>
          <a:p>
            <a:pPr algn="l" indent="0" marL="0">
              <a:lnSpc>
                <a:spcPts val="2898"/>
              </a:lnSpc>
              <a:buNone/>
            </a:pPr>
            <a:r>
              <a:rPr lang="en-US" sz="2588" b="1" dirty="0">
                <a:solidFill>
                  <a:srgbClr val="E8DFC8"/>
                </a:solidFill>
                <a:latin typeface="Tinos" pitchFamily="34" charset="0"/>
                <a:ea typeface="Tinos" pitchFamily="34" charset="-122"/>
                <a:cs typeface="Tinos" pitchFamily="34" charset="-120"/>
              </a:rPr>
              <a:t>The six who can betray</a:t>
            </a:r>
            <a:endParaRPr lang="en-US" sz="2588" dirty="0"/>
          </a:p>
        </p:txBody>
      </p:sp>
      <p:sp>
        <p:nvSpPr>
          <p:cNvPr id="4" name="Text 2"/>
          <p:cNvSpPr/>
          <p:nvPr/>
        </p:nvSpPr>
        <p:spPr>
          <a:xfrm>
            <a:off x="517922" y="1543943"/>
            <a:ext cx="2640732" cy="1193006"/>
          </a:xfrm>
          <a:prstGeom prst="roundRect">
            <a:avLst>
              <a:gd name="adj" fmla="val 638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5" name="Text 3"/>
          <p:cNvSpPr/>
          <p:nvPr/>
        </p:nvSpPr>
        <p:spPr>
          <a:xfrm>
            <a:off x="610791" y="1829693"/>
            <a:ext cx="621506" cy="621506"/>
          </a:xfrm>
          <a:prstGeom prst="roundRect">
            <a:avLst>
              <a:gd name="adj" fmla="val 9195"/>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6" name="Image 0" descr="/tmp/h2p-fit-1792619790131-sg2941.png">    </p:cNvPr>
          <p:cNvPicPr>
            <a:picLocks noChangeAspect="1"/>
          </p:cNvPicPr>
          <p:nvPr/>
        </p:nvPicPr>
        <p:blipFill>
          <a:blip r:embed="rId1"/>
          <a:stretch>
            <a:fillRect/>
          </a:stretch>
        </p:blipFill>
        <p:spPr>
          <a:xfrm>
            <a:off x="614363" y="1833265"/>
            <a:ext cx="614363" cy="614363"/>
          </a:xfrm>
          <a:prstGeom prst="rect">
            <a:avLst/>
          </a:prstGeom>
        </p:spPr>
      </p:pic>
      <p:sp>
        <p:nvSpPr>
          <p:cNvPr id="7" name="Text 4"/>
          <p:cNvSpPr/>
          <p:nvPr/>
        </p:nvSpPr>
        <p:spPr>
          <a:xfrm>
            <a:off x="1335881" y="1826791"/>
            <a:ext cx="1733476" cy="163998"/>
          </a:xfrm>
          <a:prstGeom prst="rect">
            <a:avLst/>
          </a:prstGeom>
          <a:noFill/>
          <a:ln/>
        </p:spPr>
        <p:txBody>
          <a:bodyPr wrap="none" lIns="0" tIns="0" rIns="0" bIns="0" rtlCol="0" anchor="t">
            <a:normAutofit/>
          </a:bodyPr>
          <a:lstStyle/>
          <a:p>
            <a:pPr algn="l" indent="0" marL="0">
              <a:lnSpc>
                <a:spcPts val="1283"/>
              </a:lnSpc>
              <a:buNone/>
            </a:pPr>
            <a:r>
              <a:rPr lang="en-US" sz="1069" b="1" dirty="0">
                <a:solidFill>
                  <a:srgbClr val="E8DFC8"/>
                </a:solidFill>
                <a:latin typeface="Tinos" pitchFamily="34" charset="0"/>
                <a:ea typeface="Tinos" pitchFamily="34" charset="-122"/>
                <a:cs typeface="Tinos" pitchFamily="34" charset="-120"/>
              </a:rPr>
              <a:t>Ratmir</a:t>
            </a:r>
            <a:endParaRPr lang="en-US" sz="1069" dirty="0"/>
          </a:p>
        </p:txBody>
      </p:sp>
      <p:sp>
        <p:nvSpPr>
          <p:cNvPr id="8" name="Text 5"/>
          <p:cNvSpPr/>
          <p:nvPr/>
        </p:nvSpPr>
        <p:spPr>
          <a:xfrm>
            <a:off x="1335881" y="2018221"/>
            <a:ext cx="1837484" cy="149376"/>
          </a:xfrm>
          <a:prstGeom prst="rect">
            <a:avLst/>
          </a:prstGeom>
          <a:noFill/>
          <a:ln/>
        </p:spPr>
        <p:txBody>
          <a:bodyPr wrap="square" lIns="0" tIns="0" rIns="0" bIns="0" rtlCol="0" anchor="t">
            <a:normAutofit/>
          </a:bodyPr>
          <a:lstStyle/>
          <a:p>
            <a:pPr algn="l" indent="0" marL="0">
              <a:lnSpc>
                <a:spcPts val="886"/>
              </a:lnSpc>
              <a:buNone/>
            </a:pPr>
            <a:r>
              <a:rPr lang="en-US" sz="800" spc="77" kern="0" dirty="0">
                <a:solidFill>
                  <a:srgbClr val="A89E88"/>
                </a:solidFill>
                <a:latin typeface="Carlito" pitchFamily="34" charset="0"/>
                <a:ea typeface="Carlito" pitchFamily="34" charset="-122"/>
                <a:cs typeface="Carlito" pitchFamily="34" charset="-120"/>
              </a:rPr>
              <a:t>WARDEN · FRONTLINE DEFENSE</a:t>
            </a:r>
            <a:endParaRPr lang="en-US" sz="800" dirty="0"/>
          </a:p>
        </p:txBody>
      </p:sp>
      <p:sp>
        <p:nvSpPr>
          <p:cNvPr id="9" name="Text 6"/>
          <p:cNvSpPr/>
          <p:nvPr/>
        </p:nvSpPr>
        <p:spPr>
          <a:xfrm>
            <a:off x="1335881" y="2195029"/>
            <a:ext cx="1733476" cy="318211"/>
          </a:xfrm>
          <a:prstGeom prst="rect">
            <a:avLst/>
          </a:prstGeom>
          <a:noFill/>
          <a:ln/>
        </p:spPr>
        <p:txBody>
          <a:bodyPr wrap="square" lIns="0" tIns="0" rIns="0" bIns="0" rtlCol="0" anchor="t"/>
          <a:lstStyle/>
          <a:p>
            <a:pPr algn="l" indent="0" marL="0">
              <a:lnSpc>
                <a:spcPts val="1020"/>
              </a:lnSpc>
              <a:buNone/>
            </a:pPr>
            <a:r>
              <a:rPr lang="en-US" sz="800" i="1" dirty="0">
                <a:solidFill>
                  <a:srgbClr val="C94B4B"/>
                </a:solidFill>
                <a:latin typeface="Carlito" pitchFamily="34" charset="0"/>
                <a:ea typeface="Carlito" pitchFamily="34" charset="-122"/>
                <a:cs typeface="Carlito" pitchFamily="34" charset="-120"/>
              </a:rPr>
              <a:t>“Leads the brothers away if the vataga is sacrificed for profit”</a:t>
            </a:r>
            <a:endParaRPr lang="en-US" sz="800" dirty="0"/>
          </a:p>
        </p:txBody>
      </p:sp>
      <p:sp>
        <p:nvSpPr>
          <p:cNvPr id="10" name="Text 7"/>
          <p:cNvSpPr/>
          <p:nvPr/>
        </p:nvSpPr>
        <p:spPr>
          <a:xfrm>
            <a:off x="3280097" y="1543943"/>
            <a:ext cx="2640843" cy="1193006"/>
          </a:xfrm>
          <a:prstGeom prst="roundRect">
            <a:avLst>
              <a:gd name="adj" fmla="val 638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1" name="Text 8"/>
          <p:cNvSpPr/>
          <p:nvPr/>
        </p:nvSpPr>
        <p:spPr>
          <a:xfrm>
            <a:off x="3372966" y="1829693"/>
            <a:ext cx="621506" cy="621506"/>
          </a:xfrm>
          <a:prstGeom prst="roundRect">
            <a:avLst>
              <a:gd name="adj" fmla="val 9195"/>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12" name="Image 1" descr="/tmp/h2p-fit-1792619790131-nwmzzm.png">    </p:cNvPr>
          <p:cNvPicPr>
            <a:picLocks noChangeAspect="1"/>
          </p:cNvPicPr>
          <p:nvPr/>
        </p:nvPicPr>
        <p:blipFill>
          <a:blip r:embed="rId2"/>
          <a:stretch>
            <a:fillRect/>
          </a:stretch>
        </p:blipFill>
        <p:spPr>
          <a:xfrm>
            <a:off x="3376538" y="1833265"/>
            <a:ext cx="614363" cy="614363"/>
          </a:xfrm>
          <a:prstGeom prst="rect">
            <a:avLst/>
          </a:prstGeom>
        </p:spPr>
      </p:pic>
      <p:sp>
        <p:nvSpPr>
          <p:cNvPr id="13" name="Text 9"/>
          <p:cNvSpPr/>
          <p:nvPr/>
        </p:nvSpPr>
        <p:spPr>
          <a:xfrm>
            <a:off x="4098057" y="1826791"/>
            <a:ext cx="1733587" cy="163998"/>
          </a:xfrm>
          <a:prstGeom prst="rect">
            <a:avLst/>
          </a:prstGeom>
          <a:noFill/>
          <a:ln/>
        </p:spPr>
        <p:txBody>
          <a:bodyPr wrap="none" lIns="0" tIns="0" rIns="0" bIns="0" rtlCol="0" anchor="t">
            <a:normAutofit/>
          </a:bodyPr>
          <a:lstStyle/>
          <a:p>
            <a:pPr algn="l" indent="0" marL="0">
              <a:lnSpc>
                <a:spcPts val="1283"/>
              </a:lnSpc>
              <a:buNone/>
            </a:pPr>
            <a:r>
              <a:rPr lang="en-US" sz="1069" b="1" dirty="0">
                <a:solidFill>
                  <a:srgbClr val="E8DFC8"/>
                </a:solidFill>
                <a:latin typeface="Tinos" pitchFamily="34" charset="0"/>
                <a:ea typeface="Tinos" pitchFamily="34" charset="-122"/>
                <a:cs typeface="Tinos" pitchFamily="34" charset="-120"/>
              </a:rPr>
              <a:t>Vasilisa</a:t>
            </a:r>
            <a:endParaRPr lang="en-US" sz="1069" dirty="0"/>
          </a:p>
        </p:txBody>
      </p:sp>
      <p:sp>
        <p:nvSpPr>
          <p:cNvPr id="14" name="Text 10"/>
          <p:cNvSpPr/>
          <p:nvPr/>
        </p:nvSpPr>
        <p:spPr>
          <a:xfrm>
            <a:off x="4098057" y="2018221"/>
            <a:ext cx="1733587" cy="149376"/>
          </a:xfrm>
          <a:prstGeom prst="rect">
            <a:avLst/>
          </a:prstGeom>
          <a:noFill/>
          <a:ln/>
        </p:spPr>
        <p:txBody>
          <a:bodyPr wrap="none" lIns="0" tIns="0" rIns="0" bIns="0" rtlCol="0" anchor="t">
            <a:normAutofit/>
          </a:bodyPr>
          <a:lstStyle/>
          <a:p>
            <a:pPr algn="l" indent="0" marL="0">
              <a:lnSpc>
                <a:spcPts val="886"/>
              </a:lnSpc>
              <a:buNone/>
            </a:pPr>
            <a:r>
              <a:rPr lang="en-US" sz="800" spc="77" kern="0" dirty="0">
                <a:solidFill>
                  <a:srgbClr val="A89E88"/>
                </a:solidFill>
                <a:latin typeface="Carlito" pitchFamily="34" charset="0"/>
                <a:ea typeface="Carlito" pitchFamily="34" charset="-122"/>
                <a:cs typeface="Carlito" pitchFamily="34" charset="-120"/>
              </a:rPr>
              <a:t>SEERESS · HEAT SUPPORT</a:t>
            </a:r>
            <a:endParaRPr lang="en-US" sz="800" dirty="0"/>
          </a:p>
        </p:txBody>
      </p:sp>
      <p:sp>
        <p:nvSpPr>
          <p:cNvPr id="15" name="Text 11"/>
          <p:cNvSpPr/>
          <p:nvPr/>
        </p:nvSpPr>
        <p:spPr>
          <a:xfrm>
            <a:off x="4098057" y="2195029"/>
            <a:ext cx="1733587" cy="318211"/>
          </a:xfrm>
          <a:prstGeom prst="rect">
            <a:avLst/>
          </a:prstGeom>
          <a:noFill/>
          <a:ln/>
        </p:spPr>
        <p:txBody>
          <a:bodyPr wrap="square" lIns="0" tIns="0" rIns="0" bIns="0" rtlCol="0" anchor="t"/>
          <a:lstStyle/>
          <a:p>
            <a:pPr algn="l" indent="0" marL="0">
              <a:lnSpc>
                <a:spcPts val="1020"/>
              </a:lnSpc>
              <a:buNone/>
            </a:pPr>
            <a:r>
              <a:rPr lang="en-US" sz="800" i="1" dirty="0">
                <a:solidFill>
                  <a:srgbClr val="C94B4B"/>
                </a:solidFill>
                <a:latin typeface="Carlito" pitchFamily="34" charset="0"/>
                <a:ea typeface="Carlito" pitchFamily="34" charset="-122"/>
                <a:cs typeface="Carlito" pitchFamily="34" charset="-120"/>
              </a:rPr>
              <a:t>“Defects to the Seer Circles if the vault is razed”</a:t>
            </a:r>
            <a:endParaRPr lang="en-US" sz="800" dirty="0"/>
          </a:p>
        </p:txBody>
      </p:sp>
      <p:sp>
        <p:nvSpPr>
          <p:cNvPr id="16" name="Text 12"/>
          <p:cNvSpPr/>
          <p:nvPr/>
        </p:nvSpPr>
        <p:spPr>
          <a:xfrm>
            <a:off x="6042385" y="1543943"/>
            <a:ext cx="2640732" cy="1193006"/>
          </a:xfrm>
          <a:prstGeom prst="roundRect">
            <a:avLst>
              <a:gd name="adj" fmla="val 638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7" name="Text 13"/>
          <p:cNvSpPr/>
          <p:nvPr/>
        </p:nvSpPr>
        <p:spPr>
          <a:xfrm>
            <a:off x="6135253" y="1829693"/>
            <a:ext cx="621506" cy="621506"/>
          </a:xfrm>
          <a:prstGeom prst="roundRect">
            <a:avLst>
              <a:gd name="adj" fmla="val 9195"/>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18" name="Image 2" descr="/tmp/h2p-fit-1792619790131-1e7kh5.png">    </p:cNvPr>
          <p:cNvPicPr>
            <a:picLocks noChangeAspect="1"/>
          </p:cNvPicPr>
          <p:nvPr/>
        </p:nvPicPr>
        <p:blipFill>
          <a:blip r:embed="rId3"/>
          <a:stretch>
            <a:fillRect/>
          </a:stretch>
        </p:blipFill>
        <p:spPr>
          <a:xfrm>
            <a:off x="6138825" y="1833265"/>
            <a:ext cx="614363" cy="614363"/>
          </a:xfrm>
          <a:prstGeom prst="rect">
            <a:avLst/>
          </a:prstGeom>
        </p:spPr>
      </p:pic>
      <p:sp>
        <p:nvSpPr>
          <p:cNvPr id="19" name="Text 14"/>
          <p:cNvSpPr/>
          <p:nvPr/>
        </p:nvSpPr>
        <p:spPr>
          <a:xfrm>
            <a:off x="6860344" y="1891531"/>
            <a:ext cx="1733476" cy="163998"/>
          </a:xfrm>
          <a:prstGeom prst="rect">
            <a:avLst/>
          </a:prstGeom>
          <a:noFill/>
          <a:ln/>
        </p:spPr>
        <p:txBody>
          <a:bodyPr wrap="none" lIns="0" tIns="0" rIns="0" bIns="0" rtlCol="0" anchor="t">
            <a:normAutofit/>
          </a:bodyPr>
          <a:lstStyle/>
          <a:p>
            <a:pPr algn="l" indent="0" marL="0">
              <a:lnSpc>
                <a:spcPts val="1283"/>
              </a:lnSpc>
              <a:buNone/>
            </a:pPr>
            <a:r>
              <a:rPr lang="en-US" sz="1069" b="1" dirty="0">
                <a:solidFill>
                  <a:srgbClr val="E8DFC8"/>
                </a:solidFill>
                <a:latin typeface="Tinos" pitchFamily="34" charset="0"/>
                <a:ea typeface="Tinos" pitchFamily="34" charset="-122"/>
                <a:cs typeface="Tinos" pitchFamily="34" charset="-120"/>
              </a:rPr>
              <a:t>Gavrila</a:t>
            </a:r>
            <a:endParaRPr lang="en-US" sz="1069" dirty="0"/>
          </a:p>
        </p:txBody>
      </p:sp>
      <p:sp>
        <p:nvSpPr>
          <p:cNvPr id="20" name="Text 15"/>
          <p:cNvSpPr/>
          <p:nvPr/>
        </p:nvSpPr>
        <p:spPr>
          <a:xfrm>
            <a:off x="6860344" y="2082961"/>
            <a:ext cx="1733476" cy="149376"/>
          </a:xfrm>
          <a:prstGeom prst="rect">
            <a:avLst/>
          </a:prstGeom>
          <a:noFill/>
          <a:ln/>
        </p:spPr>
        <p:txBody>
          <a:bodyPr wrap="none" lIns="0" tIns="0" rIns="0" bIns="0" rtlCol="0" anchor="t">
            <a:normAutofit/>
          </a:bodyPr>
          <a:lstStyle/>
          <a:p>
            <a:pPr algn="l" indent="0" marL="0">
              <a:lnSpc>
                <a:spcPts val="886"/>
              </a:lnSpc>
              <a:buNone/>
            </a:pPr>
            <a:r>
              <a:rPr lang="en-US" sz="800" spc="77" kern="0" dirty="0">
                <a:solidFill>
                  <a:srgbClr val="A89E88"/>
                </a:solidFill>
                <a:latin typeface="Carlito" pitchFamily="34" charset="0"/>
                <a:ea typeface="Carlito" pitchFamily="34" charset="-122"/>
                <a:cs typeface="Carlito" pitchFamily="34" charset="-120"/>
              </a:rPr>
              <a:t>MARKSMAN · LOGISTICS</a:t>
            </a:r>
            <a:endParaRPr lang="en-US" sz="800" dirty="0"/>
          </a:p>
        </p:txBody>
      </p:sp>
      <p:sp>
        <p:nvSpPr>
          <p:cNvPr id="21" name="Text 16"/>
          <p:cNvSpPr/>
          <p:nvPr/>
        </p:nvSpPr>
        <p:spPr>
          <a:xfrm>
            <a:off x="6860344" y="2259769"/>
            <a:ext cx="1837484" cy="159106"/>
          </a:xfrm>
          <a:prstGeom prst="rect">
            <a:avLst/>
          </a:prstGeom>
          <a:noFill/>
          <a:ln/>
        </p:spPr>
        <p:txBody>
          <a:bodyPr wrap="square" lIns="0" tIns="0" rIns="0" bIns="0" rtlCol="0" anchor="t"/>
          <a:lstStyle/>
          <a:p>
            <a:pPr algn="l" indent="0" marL="0">
              <a:lnSpc>
                <a:spcPts val="1020"/>
              </a:lnSpc>
              <a:buNone/>
            </a:pPr>
            <a:r>
              <a:rPr lang="en-US" sz="703" i="1" dirty="0">
                <a:solidFill>
                  <a:srgbClr val="C94B4B"/>
                </a:solidFill>
                <a:latin typeface="Carlito" pitchFamily="34" charset="0"/>
                <a:ea typeface="Carlito" pitchFamily="34" charset="-122"/>
                <a:cs typeface="Carlito" pitchFamily="34" charset="-120"/>
              </a:rPr>
              <a:t>“Sells the ataman’s plans for gold”</a:t>
            </a:r>
            <a:endParaRPr lang="en-US" sz="703" dirty="0"/>
          </a:p>
        </p:txBody>
      </p:sp>
      <p:sp>
        <p:nvSpPr>
          <p:cNvPr id="22" name="Text 17"/>
          <p:cNvSpPr/>
          <p:nvPr/>
        </p:nvSpPr>
        <p:spPr>
          <a:xfrm>
            <a:off x="517922" y="2858393"/>
            <a:ext cx="2640732" cy="1193006"/>
          </a:xfrm>
          <a:prstGeom prst="roundRect">
            <a:avLst>
              <a:gd name="adj" fmla="val 638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23" name="Text 18"/>
          <p:cNvSpPr/>
          <p:nvPr/>
        </p:nvSpPr>
        <p:spPr>
          <a:xfrm>
            <a:off x="610791" y="3144143"/>
            <a:ext cx="621506" cy="621506"/>
          </a:xfrm>
          <a:prstGeom prst="roundRect">
            <a:avLst>
              <a:gd name="adj" fmla="val 9195"/>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24" name="Image 3" descr="/tmp/h2p-fit-1792619790132-c1nlh8.png">    </p:cNvPr>
          <p:cNvPicPr>
            <a:picLocks noChangeAspect="1"/>
          </p:cNvPicPr>
          <p:nvPr/>
        </p:nvPicPr>
        <p:blipFill>
          <a:blip r:embed="rId4"/>
          <a:stretch>
            <a:fillRect/>
          </a:stretch>
        </p:blipFill>
        <p:spPr>
          <a:xfrm>
            <a:off x="614363" y="3147715"/>
            <a:ext cx="614363" cy="614363"/>
          </a:xfrm>
          <a:prstGeom prst="rect">
            <a:avLst/>
          </a:prstGeom>
        </p:spPr>
      </p:pic>
      <p:sp>
        <p:nvSpPr>
          <p:cNvPr id="25" name="Text 19"/>
          <p:cNvSpPr/>
          <p:nvPr/>
        </p:nvSpPr>
        <p:spPr>
          <a:xfrm>
            <a:off x="1335881" y="3141241"/>
            <a:ext cx="1733476" cy="163998"/>
          </a:xfrm>
          <a:prstGeom prst="rect">
            <a:avLst/>
          </a:prstGeom>
          <a:noFill/>
          <a:ln/>
        </p:spPr>
        <p:txBody>
          <a:bodyPr wrap="none" lIns="0" tIns="0" rIns="0" bIns="0" rtlCol="0" anchor="t">
            <a:normAutofit/>
          </a:bodyPr>
          <a:lstStyle/>
          <a:p>
            <a:pPr algn="l" indent="0" marL="0">
              <a:lnSpc>
                <a:spcPts val="1283"/>
              </a:lnSpc>
              <a:buNone/>
            </a:pPr>
            <a:r>
              <a:rPr lang="en-US" sz="1069" b="1" dirty="0">
                <a:solidFill>
                  <a:srgbClr val="E8DFC8"/>
                </a:solidFill>
                <a:latin typeface="Tinos" pitchFamily="34" charset="0"/>
                <a:ea typeface="Tinos" pitchFamily="34" charset="-122"/>
                <a:cs typeface="Tinos" pitchFamily="34" charset="-120"/>
              </a:rPr>
              <a:t>Khodata</a:t>
            </a:r>
            <a:endParaRPr lang="en-US" sz="1069" dirty="0"/>
          </a:p>
        </p:txBody>
      </p:sp>
      <p:sp>
        <p:nvSpPr>
          <p:cNvPr id="26" name="Text 20"/>
          <p:cNvSpPr/>
          <p:nvPr/>
        </p:nvSpPr>
        <p:spPr>
          <a:xfrm>
            <a:off x="1335881" y="3332671"/>
            <a:ext cx="1733476" cy="149376"/>
          </a:xfrm>
          <a:prstGeom prst="rect">
            <a:avLst/>
          </a:prstGeom>
          <a:noFill/>
          <a:ln/>
        </p:spPr>
        <p:txBody>
          <a:bodyPr wrap="none" lIns="0" tIns="0" rIns="0" bIns="0" rtlCol="0" anchor="t">
            <a:normAutofit/>
          </a:bodyPr>
          <a:lstStyle/>
          <a:p>
            <a:pPr algn="l" indent="0" marL="0">
              <a:lnSpc>
                <a:spcPts val="886"/>
              </a:lnSpc>
              <a:buNone/>
            </a:pPr>
            <a:r>
              <a:rPr lang="en-US" sz="800" spc="77" kern="0" dirty="0">
                <a:solidFill>
                  <a:srgbClr val="A89E88"/>
                </a:solidFill>
                <a:latin typeface="Carlito" pitchFamily="34" charset="0"/>
                <a:ea typeface="Carlito" pitchFamily="34" charset="-122"/>
                <a:cs typeface="Carlito" pitchFamily="34" charset="-120"/>
              </a:rPr>
              <a:t>PACTMAKER · CONTROL</a:t>
            </a:r>
            <a:endParaRPr lang="en-US" sz="800" dirty="0"/>
          </a:p>
        </p:txBody>
      </p:sp>
      <p:sp>
        <p:nvSpPr>
          <p:cNvPr id="27" name="Text 21"/>
          <p:cNvSpPr/>
          <p:nvPr/>
        </p:nvSpPr>
        <p:spPr>
          <a:xfrm>
            <a:off x="1335881" y="3509479"/>
            <a:ext cx="1733476" cy="318211"/>
          </a:xfrm>
          <a:prstGeom prst="rect">
            <a:avLst/>
          </a:prstGeom>
          <a:noFill/>
          <a:ln/>
        </p:spPr>
        <p:txBody>
          <a:bodyPr wrap="square" lIns="0" tIns="0" rIns="0" bIns="0" rtlCol="0" anchor="t"/>
          <a:lstStyle/>
          <a:p>
            <a:pPr algn="l" indent="0" marL="0">
              <a:lnSpc>
                <a:spcPts val="1020"/>
              </a:lnSpc>
              <a:buNone/>
            </a:pPr>
            <a:r>
              <a:rPr lang="en-US" sz="800" i="1" dirty="0">
                <a:solidFill>
                  <a:srgbClr val="C94B4B"/>
                </a:solidFill>
                <a:latin typeface="Carlito" pitchFamily="34" charset="0"/>
                <a:ea typeface="Carlito" pitchFamily="34" charset="-122"/>
                <a:cs typeface="Carlito" pitchFamily="34" charset="-120"/>
              </a:rPr>
              <a:t>“Joins the Courts of Nav after a massacre of the nav”</a:t>
            </a:r>
            <a:endParaRPr lang="en-US" sz="800" dirty="0"/>
          </a:p>
        </p:txBody>
      </p:sp>
      <p:sp>
        <p:nvSpPr>
          <p:cNvPr id="28" name="Text 22"/>
          <p:cNvSpPr/>
          <p:nvPr/>
        </p:nvSpPr>
        <p:spPr>
          <a:xfrm>
            <a:off x="3280097" y="2858393"/>
            <a:ext cx="2640843" cy="1193006"/>
          </a:xfrm>
          <a:prstGeom prst="roundRect">
            <a:avLst>
              <a:gd name="adj" fmla="val 638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29" name="Text 23"/>
          <p:cNvSpPr/>
          <p:nvPr/>
        </p:nvSpPr>
        <p:spPr>
          <a:xfrm>
            <a:off x="3372966" y="3144143"/>
            <a:ext cx="621506" cy="621506"/>
          </a:xfrm>
          <a:prstGeom prst="roundRect">
            <a:avLst>
              <a:gd name="adj" fmla="val 9195"/>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30" name="Image 4" descr="/tmp/h2p-fit-1792619790132-3ah58l.png">    </p:cNvPr>
          <p:cNvPicPr>
            <a:picLocks noChangeAspect="1"/>
          </p:cNvPicPr>
          <p:nvPr/>
        </p:nvPicPr>
        <p:blipFill>
          <a:blip r:embed="rId5"/>
          <a:stretch>
            <a:fillRect/>
          </a:stretch>
        </p:blipFill>
        <p:spPr>
          <a:xfrm>
            <a:off x="3376538" y="3147715"/>
            <a:ext cx="614363" cy="614363"/>
          </a:xfrm>
          <a:prstGeom prst="rect">
            <a:avLst/>
          </a:prstGeom>
        </p:spPr>
      </p:pic>
      <p:sp>
        <p:nvSpPr>
          <p:cNvPr id="31" name="Text 24"/>
          <p:cNvSpPr/>
          <p:nvPr/>
        </p:nvSpPr>
        <p:spPr>
          <a:xfrm>
            <a:off x="4098057" y="3141241"/>
            <a:ext cx="1733587" cy="163998"/>
          </a:xfrm>
          <a:prstGeom prst="rect">
            <a:avLst/>
          </a:prstGeom>
          <a:noFill/>
          <a:ln/>
        </p:spPr>
        <p:txBody>
          <a:bodyPr wrap="none" lIns="0" tIns="0" rIns="0" bIns="0" rtlCol="0" anchor="t">
            <a:normAutofit/>
          </a:bodyPr>
          <a:lstStyle/>
          <a:p>
            <a:pPr algn="l" indent="0" marL="0">
              <a:lnSpc>
                <a:spcPts val="1283"/>
              </a:lnSpc>
              <a:buNone/>
            </a:pPr>
            <a:r>
              <a:rPr lang="en-US" sz="1069" b="1" dirty="0">
                <a:solidFill>
                  <a:srgbClr val="E8DFC8"/>
                </a:solidFill>
                <a:latin typeface="Tinos" pitchFamily="34" charset="0"/>
                <a:ea typeface="Tinos" pitchFamily="34" charset="-122"/>
                <a:cs typeface="Tinos" pitchFamily="34" charset="-120"/>
              </a:rPr>
              <a:t>Odinets</a:t>
            </a:r>
            <a:endParaRPr lang="en-US" sz="1069" dirty="0"/>
          </a:p>
        </p:txBody>
      </p:sp>
      <p:sp>
        <p:nvSpPr>
          <p:cNvPr id="32" name="Text 25"/>
          <p:cNvSpPr/>
          <p:nvPr/>
        </p:nvSpPr>
        <p:spPr>
          <a:xfrm>
            <a:off x="4098057" y="3332671"/>
            <a:ext cx="1733587" cy="149376"/>
          </a:xfrm>
          <a:prstGeom prst="rect">
            <a:avLst/>
          </a:prstGeom>
          <a:noFill/>
          <a:ln/>
        </p:spPr>
        <p:txBody>
          <a:bodyPr wrap="none" lIns="0" tIns="0" rIns="0" bIns="0" rtlCol="0" anchor="t">
            <a:normAutofit/>
          </a:bodyPr>
          <a:lstStyle/>
          <a:p>
            <a:pPr algn="l" indent="0" marL="0">
              <a:lnSpc>
                <a:spcPts val="886"/>
              </a:lnSpc>
              <a:buNone/>
            </a:pPr>
            <a:r>
              <a:rPr lang="en-US" sz="800" spc="77" kern="0" dirty="0">
                <a:solidFill>
                  <a:srgbClr val="A89E88"/>
                </a:solidFill>
                <a:latin typeface="Carlito" pitchFamily="34" charset="0"/>
                <a:ea typeface="Carlito" pitchFamily="34" charset="-122"/>
                <a:cs typeface="Carlito" pitchFamily="34" charset="-120"/>
              </a:rPr>
              <a:t>ARCHER · SCOUTING</a:t>
            </a:r>
            <a:endParaRPr lang="en-US" sz="800" dirty="0"/>
          </a:p>
        </p:txBody>
      </p:sp>
      <p:sp>
        <p:nvSpPr>
          <p:cNvPr id="33" name="Text 26"/>
          <p:cNvSpPr/>
          <p:nvPr/>
        </p:nvSpPr>
        <p:spPr>
          <a:xfrm>
            <a:off x="4098057" y="3509479"/>
            <a:ext cx="1733587" cy="318211"/>
          </a:xfrm>
          <a:prstGeom prst="rect">
            <a:avLst/>
          </a:prstGeom>
          <a:noFill/>
          <a:ln/>
        </p:spPr>
        <p:txBody>
          <a:bodyPr wrap="square" lIns="0" tIns="0" rIns="0" bIns="0" rtlCol="0" anchor="t"/>
          <a:lstStyle/>
          <a:p>
            <a:pPr algn="l" indent="0" marL="0">
              <a:lnSpc>
                <a:spcPts val="1020"/>
              </a:lnSpc>
              <a:buNone/>
            </a:pPr>
            <a:r>
              <a:rPr lang="en-US" sz="800" i="1" dirty="0">
                <a:solidFill>
                  <a:srgbClr val="C94B4B"/>
                </a:solidFill>
                <a:latin typeface="Carlito" pitchFamily="34" charset="0"/>
                <a:ea typeface="Carlito" pitchFamily="34" charset="-122"/>
                <a:cs typeface="Carlito" pitchFamily="34" charset="-120"/>
              </a:rPr>
              <a:t>“An engineered heresy: a separate story branch”</a:t>
            </a:r>
            <a:endParaRPr lang="en-US" sz="800" dirty="0"/>
          </a:p>
        </p:txBody>
      </p:sp>
      <p:sp>
        <p:nvSpPr>
          <p:cNvPr id="34" name="Text 27"/>
          <p:cNvSpPr/>
          <p:nvPr/>
        </p:nvSpPr>
        <p:spPr>
          <a:xfrm>
            <a:off x="6042385" y="2858393"/>
            <a:ext cx="2640732" cy="1193006"/>
          </a:xfrm>
          <a:prstGeom prst="roundRect">
            <a:avLst>
              <a:gd name="adj" fmla="val 638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35" name="Text 28"/>
          <p:cNvSpPr/>
          <p:nvPr/>
        </p:nvSpPr>
        <p:spPr>
          <a:xfrm>
            <a:off x="6135253" y="3144143"/>
            <a:ext cx="621506" cy="621506"/>
          </a:xfrm>
          <a:prstGeom prst="roundRect">
            <a:avLst>
              <a:gd name="adj" fmla="val 9195"/>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36" name="Image 5" descr="/tmp/h2p-fit-1792619790132-pjvxtg.png">    </p:cNvPr>
          <p:cNvPicPr>
            <a:picLocks noChangeAspect="1"/>
          </p:cNvPicPr>
          <p:nvPr/>
        </p:nvPicPr>
        <p:blipFill>
          <a:blip r:embed="rId6"/>
          <a:stretch>
            <a:fillRect/>
          </a:stretch>
        </p:blipFill>
        <p:spPr>
          <a:xfrm>
            <a:off x="6138825" y="3147715"/>
            <a:ext cx="614363" cy="614363"/>
          </a:xfrm>
          <a:prstGeom prst="rect">
            <a:avLst/>
          </a:prstGeom>
        </p:spPr>
      </p:pic>
      <p:sp>
        <p:nvSpPr>
          <p:cNvPr id="37" name="Text 29"/>
          <p:cNvSpPr/>
          <p:nvPr/>
        </p:nvSpPr>
        <p:spPr>
          <a:xfrm>
            <a:off x="6860344" y="3141241"/>
            <a:ext cx="1733476" cy="163998"/>
          </a:xfrm>
          <a:prstGeom prst="rect">
            <a:avLst/>
          </a:prstGeom>
          <a:noFill/>
          <a:ln/>
        </p:spPr>
        <p:txBody>
          <a:bodyPr wrap="none" lIns="0" tIns="0" rIns="0" bIns="0" rtlCol="0" anchor="t">
            <a:normAutofit/>
          </a:bodyPr>
          <a:lstStyle/>
          <a:p>
            <a:pPr algn="l" indent="0" marL="0">
              <a:lnSpc>
                <a:spcPts val="1283"/>
              </a:lnSpc>
              <a:buNone/>
            </a:pPr>
            <a:r>
              <a:rPr lang="en-US" sz="1069" b="1" dirty="0">
                <a:solidFill>
                  <a:srgbClr val="E8DFC8"/>
                </a:solidFill>
                <a:latin typeface="Tinos" pitchFamily="34" charset="0"/>
                <a:ea typeface="Tinos" pitchFamily="34" charset="-122"/>
                <a:cs typeface="Tinos" pitchFamily="34" charset="-120"/>
              </a:rPr>
              <a:t>Miluta</a:t>
            </a:r>
            <a:endParaRPr lang="en-US" sz="1069" dirty="0"/>
          </a:p>
        </p:txBody>
      </p:sp>
      <p:sp>
        <p:nvSpPr>
          <p:cNvPr id="38" name="Text 30"/>
          <p:cNvSpPr/>
          <p:nvPr/>
        </p:nvSpPr>
        <p:spPr>
          <a:xfrm>
            <a:off x="6860344" y="3332671"/>
            <a:ext cx="1733476" cy="149376"/>
          </a:xfrm>
          <a:prstGeom prst="rect">
            <a:avLst/>
          </a:prstGeom>
          <a:noFill/>
          <a:ln/>
        </p:spPr>
        <p:txBody>
          <a:bodyPr wrap="none" lIns="0" tIns="0" rIns="0" bIns="0" rtlCol="0" anchor="t">
            <a:normAutofit/>
          </a:bodyPr>
          <a:lstStyle/>
          <a:p>
            <a:pPr algn="l" indent="0" marL="0">
              <a:lnSpc>
                <a:spcPts val="886"/>
              </a:lnSpc>
              <a:buNone/>
            </a:pPr>
            <a:r>
              <a:rPr lang="en-US" sz="800" spc="77" kern="0" dirty="0">
                <a:solidFill>
                  <a:srgbClr val="A89E88"/>
                </a:solidFill>
                <a:latin typeface="Carlito" pitchFamily="34" charset="0"/>
                <a:ea typeface="Carlito" pitchFamily="34" charset="-122"/>
                <a:cs typeface="Carlito" pitchFamily="34" charset="-120"/>
              </a:rPr>
              <a:t>CHANTER · CHRONICLER</a:t>
            </a:r>
            <a:endParaRPr lang="en-US" sz="800" dirty="0"/>
          </a:p>
        </p:txBody>
      </p:sp>
      <p:sp>
        <p:nvSpPr>
          <p:cNvPr id="39" name="Text 31"/>
          <p:cNvSpPr/>
          <p:nvPr/>
        </p:nvSpPr>
        <p:spPr>
          <a:xfrm>
            <a:off x="6860344" y="3509479"/>
            <a:ext cx="1733476" cy="318211"/>
          </a:xfrm>
          <a:prstGeom prst="rect">
            <a:avLst/>
          </a:prstGeom>
          <a:noFill/>
          <a:ln/>
        </p:spPr>
        <p:txBody>
          <a:bodyPr wrap="square" lIns="0" tIns="0" rIns="0" bIns="0" rtlCol="0" anchor="t"/>
          <a:lstStyle/>
          <a:p>
            <a:pPr algn="l" indent="0" marL="0">
              <a:lnSpc>
                <a:spcPts val="1020"/>
              </a:lnSpc>
              <a:buNone/>
            </a:pPr>
            <a:r>
              <a:rPr lang="en-US" sz="800" i="1" dirty="0">
                <a:solidFill>
                  <a:srgbClr val="C94B4B"/>
                </a:solidFill>
                <a:latin typeface="Carlito" pitchFamily="34" charset="0"/>
                <a:ea typeface="Carlito" pitchFamily="34" charset="-122"/>
                <a:cs typeface="Carlito" pitchFamily="34" charset="-120"/>
              </a:rPr>
              <a:t>“A slanderous chronicle against the ataman”</a:t>
            </a:r>
            <a:endParaRPr lang="en-US" sz="800" dirty="0"/>
          </a:p>
        </p:txBody>
      </p:sp>
      <p:sp>
        <p:nvSpPr>
          <p:cNvPr id="40" name="Shape 32"/>
          <p:cNvSpPr/>
          <p:nvPr/>
        </p:nvSpPr>
        <p:spPr>
          <a:xfrm>
            <a:off x="514350" y="4582716"/>
            <a:ext cx="8172450" cy="0"/>
          </a:xfrm>
          <a:prstGeom prst="line">
            <a:avLst/>
          </a:prstGeom>
          <a:noFill/>
          <a:ln w="7144">
            <a:solidFill>
              <a:srgbClr val="E8DFC8"/>
            </a:solidFill>
            <a:prstDash val="solid"/>
          </a:ln>
        </p:spPr>
      </p:sp>
      <p:sp>
        <p:nvSpPr>
          <p:cNvPr id="41" name="Text 33"/>
          <p:cNvSpPr/>
          <p:nvPr/>
        </p:nvSpPr>
        <p:spPr>
          <a:xfrm>
            <a:off x="514350" y="4579144"/>
            <a:ext cx="8172450" cy="307238"/>
          </a:xfrm>
          <a:prstGeom prst="rect">
            <a:avLst/>
          </a:prstGeom>
          <a:noFill/>
          <a:ln/>
        </p:spPr>
        <p:txBody>
          <a:bodyPr wrap="square" lIns="0" tIns="100013" rIns="0" bIns="0" rtlCol="0" anchor="t"/>
          <a:lstStyle/>
          <a:p>
            <a:pPr algn="l" indent="0" marL="0">
              <a:lnSpc>
                <a:spcPts val="1125"/>
              </a:lnSpc>
              <a:buNone/>
            </a:pPr>
            <a:r>
              <a:rPr lang="en-US" sz="800" dirty="0">
                <a:solidFill>
                  <a:srgbClr val="A89E88"/>
                </a:solidFill>
                <a:latin typeface="Carlito" pitchFamily="34" charset="0"/>
                <a:ea typeface="Carlito" pitchFamily="34" charset="-122"/>
                <a:cs typeface="Carlito" pitchFamily="34" charset="-120"/>
              </a:rPr>
              <a:t>Each memory holds four kinds of tags: </a:t>
            </a:r>
            <a:pPr algn="l" indent="0" marL="0">
              <a:lnSpc>
                <a:spcPts val="1125"/>
              </a:lnSpc>
              <a:buNone/>
            </a:pPr>
            <a:r>
              <a:rPr lang="en-US" sz="800" dirty="0">
                <a:solidFill>
                  <a:srgbClr val="C0A774"/>
                </a:solidFill>
                <a:latin typeface="Carlito" pitchFamily="34" charset="0"/>
                <a:ea typeface="Carlito" pitchFamily="34" charset="-122"/>
                <a:cs typeface="Carlito" pitchFamily="34" charset="-120"/>
              </a:rPr>
              <a:t>honor · blood · gold · faith</a:t>
            </a:r>
            <a:pPr algn="l" indent="0" marL="0">
              <a:lnSpc>
                <a:spcPts val="1125"/>
              </a:lnSpc>
              <a:buNone/>
            </a:pPr>
            <a:r>
              <a:rPr lang="en-US" sz="800" dirty="0">
                <a:solidFill>
                  <a:srgbClr val="A89E88"/>
                </a:solidFill>
                <a:latin typeface="Carlito" pitchFamily="34" charset="0"/>
                <a:ea typeface="Carlito" pitchFamily="34" charset="-122"/>
                <a:cs typeface="Carlito" pitchFamily="34" charset="-120"/>
              </a:rPr>
              <a:t>. Tags move a companion up the rupture ladder — from doubt to the Night of Knives.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31111"/>
        </a:solidFill>
      </p:bgPr>
    </p:bg>
    <p:spTree>
      <p:nvGrpSpPr>
        <p:cNvPr id="1" name=""/>
        <p:cNvGrpSpPr/>
        <p:nvPr/>
      </p:nvGrpSpPr>
      <p:grpSpPr>
        <a:xfrm>
          <a:off x="0" y="0"/>
          <a:ext cx="0" cy="0"/>
          <a:chOff x="0" y="0"/>
          <a:chExt cx="0" cy="0"/>
        </a:xfrm>
      </p:grpSpPr>
      <p:pic>
        <p:nvPicPr>
          <p:cNvPr id="2" name="Image 0" descr="/tmp/h2p-fit-1792619791831-7hnq34.png">    </p:cNvPr>
          <p:cNvPicPr>
            <a:picLocks noChangeAspect="1"/>
          </p:cNvPicPr>
          <p:nvPr/>
        </p:nvPicPr>
        <p:blipFill>
          <a:blip r:embed="rId1"/>
          <a:stretch>
            <a:fillRect/>
          </a:stretch>
        </p:blipFill>
        <p:spPr>
          <a:xfrm>
            <a:off x="5669347" y="0"/>
            <a:ext cx="3474653" cy="5143500"/>
          </a:xfrm>
          <a:prstGeom prst="rect">
            <a:avLst/>
          </a:prstGeom>
        </p:spPr>
      </p:pic>
      <p:pic>
        <p:nvPicPr>
          <p:cNvPr id="3" name="Image 1" descr="preencoded.png">    </p:cNvPr>
          <p:cNvPicPr>
            <a:picLocks noChangeAspect="1"/>
          </p:cNvPicPr>
          <p:nvPr/>
        </p:nvPicPr>
        <p:blipFill>
          <a:blip r:embed="rId2"/>
          <a:stretch>
            <a:fillRect/>
          </a:stretch>
        </p:blipFill>
        <p:spPr>
          <a:xfrm>
            <a:off x="5669347" y="0"/>
            <a:ext cx="3474653" cy="5143500"/>
          </a:xfrm>
          <a:prstGeom prst="rect">
            <a:avLst/>
          </a:prstGeom>
        </p:spPr>
      </p:pic>
      <p:sp>
        <p:nvSpPr>
          <p:cNvPr id="4" name="Text 0"/>
          <p:cNvSpPr/>
          <p:nvPr/>
        </p:nvSpPr>
        <p:spPr>
          <a:xfrm>
            <a:off x="514350" y="457200"/>
            <a:ext cx="7790617" cy="164592"/>
          </a:xfrm>
          <a:prstGeom prst="rect">
            <a:avLst/>
          </a:prstGeom>
          <a:noFill/>
          <a:ln/>
        </p:spPr>
        <p:txBody>
          <a:bodyPr wrap="none" lIns="0" tIns="0" rIns="0" bIns="0" rtlCol="0" anchor="t"/>
          <a:lstStyle/>
          <a:p>
            <a:pPr algn="l" indent="0" marL="0">
              <a:lnSpc>
                <a:spcPts val="1055"/>
              </a:lnSpc>
              <a:buNone/>
            </a:pPr>
            <a:r>
              <a:rPr lang="en-US" sz="800" b="1" spc="211" kern="0" dirty="0">
                <a:solidFill>
                  <a:srgbClr val="C94B4B"/>
                </a:solidFill>
                <a:latin typeface="Carlito" pitchFamily="34" charset="0"/>
                <a:ea typeface="Carlito" pitchFamily="34" charset="-122"/>
                <a:cs typeface="Carlito" pitchFamily="34" charset="-120"/>
              </a:rPr>
              <a:t>CO-OP</a:t>
            </a:r>
            <a:endParaRPr lang="en-US" sz="800" dirty="0"/>
          </a:p>
        </p:txBody>
      </p:sp>
      <p:sp>
        <p:nvSpPr>
          <p:cNvPr id="5" name="Text 1"/>
          <p:cNvSpPr/>
          <p:nvPr/>
        </p:nvSpPr>
        <p:spPr>
          <a:xfrm>
            <a:off x="514350" y="719733"/>
            <a:ext cx="4429125" cy="794912"/>
          </a:xfrm>
          <a:prstGeom prst="rect">
            <a:avLst/>
          </a:prstGeom>
          <a:noFill/>
          <a:ln/>
        </p:spPr>
        <p:txBody>
          <a:bodyPr wrap="square" lIns="0" tIns="0" rIns="0" bIns="0" rtlCol="0" anchor="t"/>
          <a:lstStyle/>
          <a:p>
            <a:pPr algn="l" indent="0" marL="0">
              <a:lnSpc>
                <a:spcPts val="2898"/>
              </a:lnSpc>
              <a:buNone/>
            </a:pPr>
            <a:r>
              <a:rPr lang="en-US" sz="2588" b="1" dirty="0">
                <a:solidFill>
                  <a:srgbClr val="E8DFC8"/>
                </a:solidFill>
                <a:latin typeface="Tinos" pitchFamily="34" charset="0"/>
                <a:ea typeface="Tinos" pitchFamily="34" charset="-122"/>
                <a:cs typeface="Tinos" pitchFamily="34" charset="-120"/>
              </a:rPr>
              <a:t>Raids for 2–4 that stay in the chronicle</a:t>
            </a:r>
            <a:endParaRPr lang="en-US" sz="2588" dirty="0"/>
          </a:p>
        </p:txBody>
      </p:sp>
      <p:sp>
        <p:nvSpPr>
          <p:cNvPr id="6" name="Text 2"/>
          <p:cNvSpPr/>
          <p:nvPr/>
        </p:nvSpPr>
        <p:spPr>
          <a:xfrm>
            <a:off x="514350" y="1598637"/>
            <a:ext cx="4286250" cy="777311"/>
          </a:xfrm>
          <a:prstGeom prst="rect">
            <a:avLst/>
          </a:prstGeom>
          <a:noFill/>
          <a:ln/>
        </p:spPr>
        <p:txBody>
          <a:bodyPr wrap="square" lIns="0" tIns="0" rIns="0" bIns="0" rtlCol="0" anchor="t"/>
          <a:lstStyle/>
          <a:p>
            <a:pPr algn="l" indent="0" marL="0">
              <a:lnSpc>
                <a:spcPts val="1418"/>
              </a:lnSpc>
              <a:buNone/>
            </a:pPr>
            <a:r>
              <a:rPr lang="en-US" sz="844" dirty="0">
                <a:solidFill>
                  <a:srgbClr val="E8DFC8">
                    <a:alpha val="92000"/>
                  </a:srgbClr>
                </a:solidFill>
                <a:latin typeface="Carlito" pitchFamily="34" charset="0"/>
                <a:ea typeface="Carlito" pitchFamily="34" charset="-122"/>
                <a:cs typeface="Carlito" pitchFamily="34" charset="-120"/>
              </a:rPr>
              <a:t>A hybrid without compromise: the single-player campaign carries the narrative, while co-op raids are assembled from day contracts and play out in the night layer. Cross-play across all platforms from day one. A raid is preserved as a “line” in both players’ chronicles — co-op doesn’t discard the story, it writes into it.</a:t>
            </a:r>
            <a:endParaRPr lang="en-US" sz="844" dirty="0"/>
          </a:p>
        </p:txBody>
      </p:sp>
      <p:sp>
        <p:nvSpPr>
          <p:cNvPr id="7" name="Text 3"/>
          <p:cNvSpPr/>
          <p:nvPr/>
        </p:nvSpPr>
        <p:spPr>
          <a:xfrm>
            <a:off x="517922" y="2521967"/>
            <a:ext cx="4279106" cy="732904"/>
          </a:xfrm>
          <a:prstGeom prst="roundRect">
            <a:avLst>
              <a:gd name="adj" fmla="val 10397"/>
            </a:avLst>
          </a:prstGeom>
          <a:solidFill>
            <a:srgbClr val="241F1B"/>
          </a:solidFill>
          <a:ln w="7144">
            <a:solidFill>
              <a:srgbClr val="E8DFC8"/>
            </a:solidFill>
            <a:prstDash val="solid"/>
          </a:ln>
        </p:spPr>
        <p:txBody>
          <a:bodyPr wrap="square" rtlCol="0" anchor="ctr"/>
          <a:lstStyle/>
          <a:p>
            <a:pPr indent="0" marL="0">
              <a:buNone/>
            </a:pPr>
            <a:endParaRPr lang="en-US" dirty="0"/>
          </a:p>
        </p:txBody>
      </p:sp>
      <p:sp>
        <p:nvSpPr>
          <p:cNvPr id="8" name="Text 4"/>
          <p:cNvSpPr/>
          <p:nvPr/>
        </p:nvSpPr>
        <p:spPr>
          <a:xfrm>
            <a:off x="707231" y="2682701"/>
            <a:ext cx="782598" cy="411435"/>
          </a:xfrm>
          <a:prstGeom prst="rect">
            <a:avLst/>
          </a:prstGeom>
          <a:noFill/>
          <a:ln/>
        </p:spPr>
        <p:txBody>
          <a:bodyPr wrap="none" lIns="0" tIns="0" rIns="0" bIns="0" rtlCol="0" anchor="t"/>
          <a:lstStyle/>
          <a:p>
            <a:pPr algn="l" indent="0" marL="0">
              <a:lnSpc>
                <a:spcPts val="3240"/>
              </a:lnSpc>
              <a:buNone/>
            </a:pPr>
            <a:r>
              <a:rPr lang="en-US" sz="3600" b="1" dirty="0">
                <a:solidFill>
                  <a:srgbClr val="C0A774"/>
                </a:solidFill>
                <a:latin typeface="Tinos" pitchFamily="34" charset="0"/>
                <a:ea typeface="Tinos" pitchFamily="34" charset="-122"/>
                <a:cs typeface="Tinos" pitchFamily="34" charset="-120"/>
              </a:rPr>
              <a:t>×8</a:t>
            </a:r>
            <a:endParaRPr lang="en-US" sz="3600" dirty="0"/>
          </a:p>
        </p:txBody>
      </p:sp>
      <p:sp>
        <p:nvSpPr>
          <p:cNvPr id="9" name="Text 5"/>
          <p:cNvSpPr/>
          <p:nvPr/>
        </p:nvSpPr>
        <p:spPr>
          <a:xfrm>
            <a:off x="1382092" y="2682701"/>
            <a:ext cx="7144" cy="411435"/>
          </a:xfrm>
          <a:prstGeom prst="rect">
            <a:avLst/>
          </a:prstGeom>
          <a:solidFill>
            <a:srgbClr val="E8DFC8">
              <a:alpha val="28000"/>
            </a:srgbClr>
          </a:solidFill>
          <a:ln/>
        </p:spPr>
        <p:txBody>
          <a:bodyPr wrap="square" rtlCol="0" anchor="ctr"/>
          <a:lstStyle/>
          <a:p>
            <a:pPr indent="0" marL="0">
              <a:buNone/>
            </a:pPr>
            <a:endParaRPr lang="en-US" dirty="0"/>
          </a:p>
        </p:txBody>
      </p:sp>
      <p:sp>
        <p:nvSpPr>
          <p:cNvPr id="10" name="Text 6"/>
          <p:cNvSpPr/>
          <p:nvPr/>
        </p:nvSpPr>
        <p:spPr>
          <a:xfrm>
            <a:off x="1574974" y="2745544"/>
            <a:ext cx="3032745" cy="348593"/>
          </a:xfrm>
          <a:prstGeom prst="rect">
            <a:avLst/>
          </a:prstGeom>
          <a:noFill/>
          <a:ln/>
        </p:spPr>
        <p:txBody>
          <a:bodyPr wrap="square" lIns="0" tIns="0" rIns="0" bIns="0" rtlCol="0" anchor="t"/>
          <a:lstStyle/>
          <a:p>
            <a:pPr algn="l" indent="0" marL="0">
              <a:lnSpc>
                <a:spcPts val="1125"/>
              </a:lnSpc>
              <a:buNone/>
            </a:pPr>
            <a:r>
              <a:rPr lang="en-US" sz="800" dirty="0">
                <a:solidFill>
                  <a:srgbClr val="E8DFC8"/>
                </a:solidFill>
                <a:latin typeface="Carlito" pitchFamily="34" charset="0"/>
                <a:ea typeface="Carlito" pitchFamily="34" charset="-122"/>
                <a:cs typeface="Carlito" pitchFamily="34" charset="-120"/>
              </a:rPr>
              <a:t>how many times better a typical co-op game sells than a non-co-op on Steam: about </a:t>
            </a:r>
            <a:pPr algn="l" indent="0" marL="0">
              <a:lnSpc>
                <a:spcPts val="1125"/>
              </a:lnSpc>
              <a:buNone/>
            </a:pPr>
            <a:r>
              <a:rPr lang="en-US" sz="800" b="1" dirty="0">
                <a:solidFill>
                  <a:srgbClr val="E8DFC8"/>
                </a:solidFill>
                <a:latin typeface="Liberation Sans Narrow" pitchFamily="34" charset="0"/>
                <a:ea typeface="Liberation Sans Narrow" pitchFamily="34" charset="-122"/>
                <a:cs typeface="Liberation Sans Narrow" pitchFamily="34" charset="-120"/>
              </a:rPr>
              <a:t>40,000 copies</a:t>
            </a:r>
            <a:pPr algn="l" indent="0" marL="0">
              <a:lnSpc>
                <a:spcPts val="1125"/>
              </a:lnSpc>
              <a:buNone/>
            </a:pPr>
            <a:r>
              <a:rPr lang="en-US" sz="800" dirty="0">
                <a:solidFill>
                  <a:srgbClr val="E8DFC8"/>
                </a:solidFill>
                <a:latin typeface="Carlito" pitchFamily="34" charset="0"/>
                <a:ea typeface="Carlito" pitchFamily="34" charset="-122"/>
                <a:cs typeface="Carlito" pitchFamily="34" charset="-120"/>
              </a:rPr>
              <a:t> versus </a:t>
            </a:r>
            <a:pPr algn="l" indent="0" marL="0">
              <a:lnSpc>
                <a:spcPts val="1125"/>
              </a:lnSpc>
              <a:buNone/>
            </a:pPr>
            <a:r>
              <a:rPr lang="en-US" sz="800" b="1" dirty="0">
                <a:solidFill>
                  <a:srgbClr val="E8DFC8"/>
                </a:solidFill>
                <a:latin typeface="Liberation Sans Narrow" pitchFamily="34" charset="0"/>
                <a:ea typeface="Liberation Sans Narrow" pitchFamily="34" charset="-122"/>
                <a:cs typeface="Liberation Sans Narrow" pitchFamily="34" charset="-120"/>
              </a:rPr>
              <a:t>5,000</a:t>
            </a:r>
            <a:pPr algn="l" indent="0" marL="0">
              <a:lnSpc>
                <a:spcPts val="1125"/>
              </a:lnSpc>
              <a:buNone/>
            </a:pPr>
            <a:r>
              <a:rPr lang="en-US" sz="800" dirty="0">
                <a:solidFill>
                  <a:srgbClr val="E8DFC8"/>
                </a:solidFill>
                <a:latin typeface="Carlito" pitchFamily="34" charset="0"/>
                <a:ea typeface="Carlito" pitchFamily="34" charset="-122"/>
                <a:cs typeface="Carlito" pitchFamily="34" charset="-120"/>
              </a:rPr>
              <a:t> </a:t>
            </a:r>
            <a:pPr algn="l" indent="0" marL="0">
              <a:lnSpc>
                <a:spcPts val="1125"/>
              </a:lnSpc>
              <a:buNone/>
            </a:pPr>
            <a:r>
              <a:rPr lang="en-US" sz="800" dirty="0">
                <a:solidFill>
                  <a:srgbClr val="A89E88"/>
                </a:solidFill>
                <a:latin typeface="Carlito" pitchFamily="34" charset="0"/>
                <a:ea typeface="Carlito" pitchFamily="34" charset="-122"/>
                <a:cs typeface="Carlito" pitchFamily="34" charset="-120"/>
              </a:rPr>
              <a:t>(VGI · Sensor Tower)</a:t>
            </a:r>
            <a:endParaRPr lang="en-US" sz="800" dirty="0"/>
          </a:p>
        </p:txBody>
      </p:sp>
      <p:sp>
        <p:nvSpPr>
          <p:cNvPr id="11" name="Shape 7"/>
          <p:cNvSpPr/>
          <p:nvPr/>
        </p:nvSpPr>
        <p:spPr>
          <a:xfrm>
            <a:off x="514350" y="4539853"/>
            <a:ext cx="1571625" cy="0"/>
          </a:xfrm>
          <a:prstGeom prst="line">
            <a:avLst/>
          </a:prstGeom>
          <a:noFill/>
          <a:ln w="7144">
            <a:solidFill>
              <a:srgbClr val="E8DFC8"/>
            </a:solidFill>
            <a:prstDash val="solid"/>
          </a:ln>
        </p:spPr>
      </p:sp>
      <p:sp>
        <p:nvSpPr>
          <p:cNvPr id="12" name="Text 8"/>
          <p:cNvSpPr/>
          <p:nvPr/>
        </p:nvSpPr>
        <p:spPr>
          <a:xfrm>
            <a:off x="514350" y="4629150"/>
            <a:ext cx="4286250" cy="175565"/>
          </a:xfrm>
          <a:prstGeom prst="rect">
            <a:avLst/>
          </a:prstGeom>
          <a:noFill/>
          <a:ln/>
        </p:spPr>
        <p:txBody>
          <a:bodyPr wrap="square" lIns="0" tIns="0" rIns="0" bIns="0" rtlCol="0" anchor="t"/>
          <a:lstStyle/>
          <a:p>
            <a:pPr algn="l" indent="0" marL="0">
              <a:lnSpc>
                <a:spcPts val="1125"/>
              </a:lnSpc>
              <a:buNone/>
            </a:pPr>
            <a:r>
              <a:rPr lang="en-US" sz="800" dirty="0">
                <a:solidFill>
                  <a:srgbClr val="E8DFC8"/>
                </a:solidFill>
                <a:latin typeface="Carlito" pitchFamily="34" charset="0"/>
                <a:ea typeface="Carlito" pitchFamily="34" charset="-122"/>
                <a:cs typeface="Carlito" pitchFamily="34" charset="-120"/>
              </a:rPr>
              <a:t>Launch goal:</a:t>
            </a:r>
            <a:pPr algn="l" indent="0" marL="0">
              <a:lnSpc>
                <a:spcPts val="1125"/>
              </a:lnSpc>
              <a:buNone/>
            </a:pPr>
            <a:r>
              <a:rPr lang="en-US" sz="800" dirty="0">
                <a:solidFill>
                  <a:srgbClr val="A89E88"/>
                </a:solidFill>
                <a:latin typeface="Carlito" pitchFamily="34" charset="0"/>
                <a:ea typeface="Carlito" pitchFamily="34" charset="-122"/>
                <a:cs typeface="Carlito" pitchFamily="34" charset="-120"/>
              </a:rPr>
              <a:t> at least 18% of players complete at least one raid.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346047" y="2073808"/>
            <a:ext cx="2202018" cy="1075434"/>
          </a:xfrm>
          <a:prstGeom prst="rect">
            <a:avLst/>
          </a:prstGeom>
          <a:noFill/>
          <a:ln/>
        </p:spPr>
        <p:txBody>
          <a:bodyPr wrap="none" lIns="0" tIns="0" rIns="0" bIns="0" rtlCol="0" anchor="t"/>
          <a:lstStyle/>
          <a:p>
            <a:pPr algn="l" indent="0" marL="0">
              <a:lnSpc>
                <a:spcPts val="7841"/>
              </a:lnSpc>
              <a:buNone/>
            </a:pPr>
            <a:r>
              <a:rPr lang="en-US" sz="9563" b="1" spc="-191" kern="0" dirty="0">
                <a:solidFill>
                  <a:srgbClr val="A82727">
                    <a:alpha val="85000"/>
                  </a:srgbClr>
                </a:solidFill>
                <a:latin typeface="Liberation Sans Narrow" pitchFamily="34" charset="0"/>
                <a:ea typeface="Liberation Sans Narrow" pitchFamily="34" charset="-122"/>
                <a:cs typeface="Liberation Sans Narrow" pitchFamily="34" charset="-120"/>
              </a:rPr>
              <a:t>02</a:t>
            </a:r>
            <a:endParaRPr lang="en-US" sz="9563" dirty="0"/>
          </a:p>
        </p:txBody>
      </p:sp>
      <p:sp>
        <p:nvSpPr>
          <p:cNvPr id="3" name="Text 1"/>
          <p:cNvSpPr/>
          <p:nvPr/>
        </p:nvSpPr>
        <p:spPr>
          <a:xfrm>
            <a:off x="2080282" y="1906935"/>
            <a:ext cx="3612971" cy="164592"/>
          </a:xfrm>
          <a:prstGeom prst="rect">
            <a:avLst/>
          </a:prstGeom>
          <a:noFill/>
          <a:ln/>
        </p:spPr>
        <p:txBody>
          <a:bodyPr wrap="none" lIns="0" tIns="0" rIns="0" bIns="0" rtlCol="0" anchor="t"/>
          <a:lstStyle/>
          <a:p>
            <a:pPr algn="l" indent="0" marL="0">
              <a:lnSpc>
                <a:spcPts val="1055"/>
              </a:lnSpc>
              <a:buNone/>
            </a:pPr>
            <a:r>
              <a:rPr lang="en-US" sz="800" spc="246" kern="0" dirty="0">
                <a:solidFill>
                  <a:srgbClr val="A89E88"/>
                </a:solidFill>
                <a:latin typeface="Liberation Sans Narrow" pitchFamily="34" charset="0"/>
                <a:ea typeface="Liberation Sans Narrow" pitchFamily="34" charset="-122"/>
                <a:cs typeface="Liberation Sans Narrow" pitchFamily="34" charset="-120"/>
              </a:rPr>
              <a:t>SECTION 02 / 03</a:t>
            </a:r>
            <a:endParaRPr lang="en-US" sz="800" dirty="0"/>
          </a:p>
        </p:txBody>
      </p:sp>
      <p:sp>
        <p:nvSpPr>
          <p:cNvPr id="4" name="Text 2"/>
          <p:cNvSpPr/>
          <p:nvPr/>
        </p:nvSpPr>
        <p:spPr>
          <a:xfrm>
            <a:off x="2080282" y="2169468"/>
            <a:ext cx="3478004" cy="577679"/>
          </a:xfrm>
          <a:prstGeom prst="rect">
            <a:avLst/>
          </a:prstGeom>
          <a:noFill/>
          <a:ln/>
        </p:spPr>
        <p:txBody>
          <a:bodyPr wrap="none" lIns="0" tIns="0" rIns="0" bIns="0" rtlCol="0" anchor="t"/>
          <a:lstStyle/>
          <a:p>
            <a:pPr algn="l" indent="0" marL="0">
              <a:lnSpc>
                <a:spcPts val="4212"/>
              </a:lnSpc>
              <a:buNone/>
            </a:pPr>
            <a:r>
              <a:rPr lang="en-US" sz="4050" b="1" spc="243" kern="0" dirty="0">
                <a:solidFill>
                  <a:srgbClr val="E8DFC8"/>
                </a:solidFill>
                <a:latin typeface="Tinos" pitchFamily="34" charset="0"/>
                <a:ea typeface="Tinos" pitchFamily="34" charset="-122"/>
                <a:cs typeface="Tinos" pitchFamily="34" charset="-120"/>
              </a:rPr>
              <a:t>MARKET</a:t>
            </a:r>
            <a:endParaRPr lang="en-US" sz="4050" dirty="0"/>
          </a:p>
        </p:txBody>
      </p:sp>
      <p:sp>
        <p:nvSpPr>
          <p:cNvPr id="5" name="Shape 3"/>
          <p:cNvSpPr/>
          <p:nvPr/>
        </p:nvSpPr>
        <p:spPr>
          <a:xfrm>
            <a:off x="2080282" y="2882950"/>
            <a:ext cx="857250" cy="0"/>
          </a:xfrm>
          <a:prstGeom prst="line">
            <a:avLst/>
          </a:prstGeom>
          <a:noFill/>
          <a:ln w="7144">
            <a:solidFill>
              <a:srgbClr val="E8DFC8"/>
            </a:solidFill>
            <a:prstDash val="solid"/>
          </a:ln>
        </p:spPr>
      </p:sp>
      <p:sp>
        <p:nvSpPr>
          <p:cNvPr id="6" name="Text 4"/>
          <p:cNvSpPr/>
          <p:nvPr/>
        </p:nvSpPr>
        <p:spPr>
          <a:xfrm>
            <a:off x="2080282" y="3032968"/>
            <a:ext cx="2803167" cy="219885"/>
          </a:xfrm>
          <a:prstGeom prst="rect">
            <a:avLst/>
          </a:prstGeom>
          <a:noFill/>
          <a:ln/>
        </p:spPr>
        <p:txBody>
          <a:bodyPr wrap="square" lIns="0" tIns="0" rIns="0" bIns="0" rtlCol="0" anchor="t"/>
          <a:lstStyle/>
          <a:p>
            <a:pPr algn="l" indent="0" marL="0">
              <a:lnSpc>
                <a:spcPts val="1603"/>
              </a:lnSpc>
              <a:buNone/>
            </a:pPr>
            <a:r>
              <a:rPr lang="en-US" sz="1069" i="1" dirty="0">
                <a:solidFill>
                  <a:srgbClr val="A89E88"/>
                </a:solidFill>
                <a:latin typeface="Carlito" pitchFamily="34" charset="0"/>
                <a:ea typeface="Carlito" pitchFamily="34" charset="-122"/>
                <a:cs typeface="Carlito" pitchFamily="34" charset="-120"/>
              </a:rPr>
              <a:t>Audience, competitors and the sales model</a:t>
            </a:r>
            <a:endParaRPr lang="en-US" sz="1069" dirty="0"/>
          </a:p>
        </p:txBody>
      </p:sp>
      <p:sp>
        <p:nvSpPr>
          <p:cNvPr id="7" name="Text 5"/>
          <p:cNvSpPr/>
          <p:nvPr/>
        </p:nvSpPr>
        <p:spPr>
          <a:xfrm>
            <a:off x="7535652" y="4745236"/>
            <a:ext cx="1258997" cy="164592"/>
          </a:xfrm>
          <a:prstGeom prst="rect">
            <a:avLst/>
          </a:prstGeom>
          <a:noFill/>
          <a:ln/>
        </p:spPr>
        <p:txBody>
          <a:bodyPr wrap="square" lIns="0" tIns="0" rIns="0" bIns="0" rtlCol="0" anchor="t"/>
          <a:lstStyle/>
          <a:p>
            <a:pPr algn="l" indent="0" marL="0">
              <a:lnSpc>
                <a:spcPts val="886"/>
              </a:lnSpc>
              <a:buNone/>
            </a:pPr>
            <a:r>
              <a:rPr lang="en-US" sz="600" spc="71" kern="0" dirty="0">
                <a:solidFill>
                  <a:srgbClr val="A89E88"/>
                </a:solidFill>
                <a:latin typeface="Carlito" pitchFamily="34" charset="0"/>
                <a:ea typeface="Carlito" pitchFamily="34" charset="-122"/>
                <a:cs typeface="Carlito" pitchFamily="34" charset="-120"/>
              </a:rPr>
              <a:t>ZARNITSA · publisher pitch</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514350" y="428625"/>
            <a:ext cx="8629650" cy="164592"/>
          </a:xfrm>
          <a:prstGeom prst="rect">
            <a:avLst/>
          </a:prstGeom>
          <a:noFill/>
          <a:ln/>
        </p:spPr>
        <p:txBody>
          <a:bodyPr wrap="none" lIns="0" tIns="0" rIns="0" bIns="0" rtlCol="0" anchor="t"/>
          <a:lstStyle/>
          <a:p>
            <a:pPr algn="l" indent="0" marL="0">
              <a:lnSpc>
                <a:spcPts val="1055"/>
              </a:lnSpc>
              <a:buNone/>
            </a:pPr>
            <a:r>
              <a:rPr lang="en-US" sz="800" b="1" spc="211" kern="0" dirty="0">
                <a:solidFill>
                  <a:srgbClr val="C94B4B"/>
                </a:solidFill>
                <a:latin typeface="Carlito" pitchFamily="34" charset="0"/>
                <a:ea typeface="Carlito" pitchFamily="34" charset="-122"/>
                <a:cs typeface="Carlito" pitchFamily="34" charset="-120"/>
              </a:rPr>
              <a:t>AUDIENCE &amp; DEMAND</a:t>
            </a:r>
            <a:endParaRPr lang="en-US" sz="800" dirty="0"/>
          </a:p>
        </p:txBody>
      </p:sp>
      <p:sp>
        <p:nvSpPr>
          <p:cNvPr id="3" name="Text 1"/>
          <p:cNvSpPr/>
          <p:nvPr/>
        </p:nvSpPr>
        <p:spPr>
          <a:xfrm>
            <a:off x="514350" y="676870"/>
            <a:ext cx="8629650" cy="397456"/>
          </a:xfrm>
          <a:prstGeom prst="rect">
            <a:avLst/>
          </a:prstGeom>
          <a:noFill/>
          <a:ln/>
        </p:spPr>
        <p:txBody>
          <a:bodyPr wrap="square" lIns="0" tIns="0" rIns="0" bIns="0" rtlCol="0" anchor="t"/>
          <a:lstStyle/>
          <a:p>
            <a:pPr algn="l" indent="0" marL="0">
              <a:lnSpc>
                <a:spcPts val="2898"/>
              </a:lnSpc>
              <a:buNone/>
            </a:pPr>
            <a:r>
              <a:rPr lang="en-US" sz="2588" b="1" dirty="0">
                <a:solidFill>
                  <a:srgbClr val="E8DFC8"/>
                </a:solidFill>
                <a:latin typeface="Tinos" pitchFamily="34" charset="0"/>
                <a:ea typeface="Tinos" pitchFamily="34" charset="-122"/>
                <a:cs typeface="Tinos" pitchFamily="34" charset="-120"/>
              </a:rPr>
              <a:t>A proven market, an open niche</a:t>
            </a:r>
            <a:endParaRPr lang="en-US" sz="2588" dirty="0"/>
          </a:p>
        </p:txBody>
      </p:sp>
      <p:sp>
        <p:nvSpPr>
          <p:cNvPr id="4" name="Text 2"/>
          <p:cNvSpPr/>
          <p:nvPr/>
        </p:nvSpPr>
        <p:spPr>
          <a:xfrm>
            <a:off x="514350" y="1173473"/>
            <a:ext cx="6429375" cy="388656"/>
          </a:xfrm>
          <a:prstGeom prst="rect">
            <a:avLst/>
          </a:prstGeom>
          <a:noFill/>
          <a:ln/>
        </p:spPr>
        <p:txBody>
          <a:bodyPr wrap="square" lIns="0" tIns="0" rIns="0" bIns="0" rtlCol="0" anchor="t"/>
          <a:lstStyle/>
          <a:p>
            <a:pPr algn="l" indent="0" marL="0">
              <a:lnSpc>
                <a:spcPts val="1418"/>
              </a:lnSpc>
              <a:buNone/>
            </a:pPr>
            <a:r>
              <a:rPr lang="en-US" sz="844" dirty="0">
                <a:solidFill>
                  <a:srgbClr val="E8DFC8">
                    <a:alpha val="92000"/>
                  </a:srgbClr>
                </a:solidFill>
                <a:latin typeface="Carlito" pitchFamily="34" charset="0"/>
                <a:ea typeface="Carlito" pitchFamily="34" charset="-122"/>
                <a:cs typeface="Carlito" pitchFamily="34" charset="-120"/>
              </a:rPr>
              <a:t>The core is players aged 20–40 who grew up on The Witcher 3 and Baldur’s Gate 3: story, choices, long campaigns. The secondary segment is streamers: every vataga has its own betrayal, and every Night of Knives is a ready-made broadcast.</a:t>
            </a:r>
            <a:endParaRPr lang="en-US" sz="844" dirty="0"/>
          </a:p>
        </p:txBody>
      </p:sp>
      <p:sp>
        <p:nvSpPr>
          <p:cNvPr id="5" name="Text 3"/>
          <p:cNvSpPr/>
          <p:nvPr/>
        </p:nvSpPr>
        <p:spPr>
          <a:xfrm>
            <a:off x="517922" y="1751223"/>
            <a:ext cx="1935956" cy="2402867"/>
          </a:xfrm>
          <a:prstGeom prst="roundRect">
            <a:avLst>
              <a:gd name="adj" fmla="val 3936"/>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6" name="Text 4"/>
          <p:cNvSpPr/>
          <p:nvPr/>
        </p:nvSpPr>
        <p:spPr>
          <a:xfrm>
            <a:off x="340718" y="1911958"/>
            <a:ext cx="2290363" cy="354902"/>
          </a:xfrm>
          <a:prstGeom prst="rect">
            <a:avLst/>
          </a:prstGeom>
          <a:noFill/>
          <a:ln/>
        </p:spPr>
        <p:txBody>
          <a:bodyPr wrap="none" lIns="0" tIns="0" rIns="0" bIns="0" rtlCol="0" anchor="t"/>
          <a:lstStyle/>
          <a:p>
            <a:pPr algn="l" indent="0" marL="0">
              <a:lnSpc>
                <a:spcPts val="2588"/>
              </a:lnSpc>
              <a:buNone/>
            </a:pPr>
            <a:r>
              <a:rPr lang="en-US" sz="2588" b="1" dirty="0">
                <a:solidFill>
                  <a:srgbClr val="C0A774"/>
                </a:solidFill>
                <a:latin typeface="Liberation Sans Narrow" pitchFamily="34" charset="0"/>
                <a:ea typeface="Liberation Sans Narrow" pitchFamily="34" charset="-122"/>
                <a:cs typeface="Liberation Sans Narrow" pitchFamily="34" charset="-120"/>
              </a:rPr>
              <a:t>50+ million</a:t>
            </a:r>
            <a:endParaRPr lang="en-US" sz="2588" dirty="0"/>
          </a:p>
        </p:txBody>
      </p:sp>
      <p:sp>
        <p:nvSpPr>
          <p:cNvPr id="7" name="Text 5"/>
          <p:cNvSpPr/>
          <p:nvPr/>
        </p:nvSpPr>
        <p:spPr>
          <a:xfrm>
            <a:off x="664369" y="2354870"/>
            <a:ext cx="314325" cy="7144"/>
          </a:xfrm>
          <a:prstGeom prst="rect">
            <a:avLst/>
          </a:prstGeom>
          <a:solidFill>
            <a:srgbClr val="E8DFC8">
              <a:alpha val="28000"/>
            </a:srgbClr>
          </a:solidFill>
          <a:ln/>
        </p:spPr>
        <p:txBody>
          <a:bodyPr wrap="square" rtlCol="0" anchor="ctr"/>
          <a:lstStyle/>
          <a:p>
            <a:pPr indent="0" marL="0">
              <a:buNone/>
            </a:pPr>
            <a:endParaRPr lang="en-US" dirty="0"/>
          </a:p>
        </p:txBody>
      </p:sp>
      <p:sp>
        <p:nvSpPr>
          <p:cNvPr id="8" name="Text 6"/>
          <p:cNvSpPr/>
          <p:nvPr/>
        </p:nvSpPr>
        <p:spPr>
          <a:xfrm>
            <a:off x="664369" y="2447739"/>
            <a:ext cx="1643063" cy="340157"/>
          </a:xfrm>
          <a:prstGeom prst="rect">
            <a:avLst/>
          </a:prstGeom>
          <a:noFill/>
          <a:ln/>
        </p:spPr>
        <p:txBody>
          <a:bodyPr wrap="square" lIns="0" tIns="0" rIns="0" bIns="0" rtlCol="0" anchor="t"/>
          <a:lstStyle/>
          <a:p>
            <a:pPr algn="l" indent="0" marL="0">
              <a:lnSpc>
                <a:spcPts val="1090"/>
              </a:lnSpc>
              <a:buNone/>
            </a:pPr>
            <a:r>
              <a:rPr lang="en-US" sz="800" dirty="0">
                <a:solidFill>
                  <a:srgbClr val="A89E88"/>
                </a:solidFill>
                <a:latin typeface="Carlito" pitchFamily="34" charset="0"/>
                <a:ea typeface="Carlito" pitchFamily="34" charset="-122"/>
                <a:cs typeface="Carlito" pitchFamily="34" charset="-120"/>
              </a:rPr>
              <a:t>The Witcher 3: the benchmark of story-driven RPGs</a:t>
            </a:r>
            <a:endParaRPr lang="en-US" sz="800" dirty="0"/>
          </a:p>
        </p:txBody>
      </p:sp>
      <p:sp>
        <p:nvSpPr>
          <p:cNvPr id="9" name="Text 7"/>
          <p:cNvSpPr/>
          <p:nvPr/>
        </p:nvSpPr>
        <p:spPr>
          <a:xfrm>
            <a:off x="2575322" y="1751223"/>
            <a:ext cx="1935956" cy="2402867"/>
          </a:xfrm>
          <a:prstGeom prst="roundRect">
            <a:avLst>
              <a:gd name="adj" fmla="val 3936"/>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0" name="Text 8"/>
          <p:cNvSpPr/>
          <p:nvPr/>
        </p:nvSpPr>
        <p:spPr>
          <a:xfrm>
            <a:off x="2398118" y="1911958"/>
            <a:ext cx="2290363" cy="354902"/>
          </a:xfrm>
          <a:prstGeom prst="rect">
            <a:avLst/>
          </a:prstGeom>
          <a:noFill/>
          <a:ln/>
        </p:spPr>
        <p:txBody>
          <a:bodyPr wrap="none" lIns="0" tIns="0" rIns="0" bIns="0" rtlCol="0" anchor="t"/>
          <a:lstStyle/>
          <a:p>
            <a:pPr algn="l" indent="0" marL="0">
              <a:lnSpc>
                <a:spcPts val="2588"/>
              </a:lnSpc>
              <a:buNone/>
            </a:pPr>
            <a:r>
              <a:rPr lang="en-US" sz="2588" b="1" dirty="0">
                <a:solidFill>
                  <a:srgbClr val="C0A774"/>
                </a:solidFill>
                <a:latin typeface="Liberation Sans Narrow" pitchFamily="34" charset="0"/>
                <a:ea typeface="Liberation Sans Narrow" pitchFamily="34" charset="-122"/>
                <a:cs typeface="Liberation Sans Narrow" pitchFamily="34" charset="-120"/>
              </a:rPr>
              <a:t>20+ million</a:t>
            </a:r>
            <a:endParaRPr lang="en-US" sz="2588" dirty="0"/>
          </a:p>
        </p:txBody>
      </p:sp>
      <p:sp>
        <p:nvSpPr>
          <p:cNvPr id="11" name="Text 9"/>
          <p:cNvSpPr/>
          <p:nvPr/>
        </p:nvSpPr>
        <p:spPr>
          <a:xfrm>
            <a:off x="2721769" y="2354870"/>
            <a:ext cx="314325" cy="7144"/>
          </a:xfrm>
          <a:prstGeom prst="rect">
            <a:avLst/>
          </a:prstGeom>
          <a:solidFill>
            <a:srgbClr val="E8DFC8">
              <a:alpha val="28000"/>
            </a:srgbClr>
          </a:solidFill>
          <a:ln/>
        </p:spPr>
        <p:txBody>
          <a:bodyPr wrap="square" rtlCol="0" anchor="ctr"/>
          <a:lstStyle/>
          <a:p>
            <a:pPr indent="0" marL="0">
              <a:buNone/>
            </a:pPr>
            <a:endParaRPr lang="en-US" dirty="0"/>
          </a:p>
        </p:txBody>
      </p:sp>
      <p:sp>
        <p:nvSpPr>
          <p:cNvPr id="12" name="Text 10"/>
          <p:cNvSpPr/>
          <p:nvPr/>
        </p:nvSpPr>
        <p:spPr>
          <a:xfrm>
            <a:off x="2721769" y="2447739"/>
            <a:ext cx="1643063" cy="340157"/>
          </a:xfrm>
          <a:prstGeom prst="rect">
            <a:avLst/>
          </a:prstGeom>
          <a:noFill/>
          <a:ln/>
        </p:spPr>
        <p:txBody>
          <a:bodyPr wrap="square" lIns="0" tIns="0" rIns="0" bIns="0" rtlCol="0" anchor="t"/>
          <a:lstStyle/>
          <a:p>
            <a:pPr algn="l" indent="0" marL="0">
              <a:lnSpc>
                <a:spcPts val="1090"/>
              </a:lnSpc>
              <a:buNone/>
            </a:pPr>
            <a:r>
              <a:rPr lang="en-US" sz="800" dirty="0">
                <a:solidFill>
                  <a:srgbClr val="A89E88"/>
                </a:solidFill>
                <a:latin typeface="Carlito" pitchFamily="34" charset="0"/>
                <a:ea typeface="Carlito" pitchFamily="34" charset="-122"/>
                <a:cs typeface="Carlito" pitchFamily="34" charset="-120"/>
              </a:rPr>
              <a:t>Baldur’s Gate 3 as of December 2025 (Bloomberg)</a:t>
            </a:r>
            <a:endParaRPr lang="en-US" sz="800" dirty="0"/>
          </a:p>
        </p:txBody>
      </p:sp>
      <p:sp>
        <p:nvSpPr>
          <p:cNvPr id="13" name="Text 11"/>
          <p:cNvSpPr/>
          <p:nvPr/>
        </p:nvSpPr>
        <p:spPr>
          <a:xfrm>
            <a:off x="4632722" y="1751223"/>
            <a:ext cx="1935956" cy="2402867"/>
          </a:xfrm>
          <a:prstGeom prst="roundRect">
            <a:avLst>
              <a:gd name="adj" fmla="val 3936"/>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4" name="Text 12"/>
          <p:cNvSpPr/>
          <p:nvPr/>
        </p:nvSpPr>
        <p:spPr>
          <a:xfrm>
            <a:off x="4542765" y="1911958"/>
            <a:ext cx="2115870" cy="354902"/>
          </a:xfrm>
          <a:prstGeom prst="rect">
            <a:avLst/>
          </a:prstGeom>
          <a:noFill/>
          <a:ln/>
        </p:spPr>
        <p:txBody>
          <a:bodyPr wrap="none" lIns="0" tIns="0" rIns="0" bIns="0" rtlCol="0" anchor="t"/>
          <a:lstStyle/>
          <a:p>
            <a:pPr algn="l" indent="0" marL="0">
              <a:lnSpc>
                <a:spcPts val="2588"/>
              </a:lnSpc>
              <a:buNone/>
            </a:pPr>
            <a:r>
              <a:rPr lang="en-US" sz="2588" b="1" dirty="0">
                <a:solidFill>
                  <a:srgbClr val="C0A774"/>
                </a:solidFill>
                <a:latin typeface="Liberation Sans Narrow" pitchFamily="34" charset="0"/>
                <a:ea typeface="Liberation Sans Narrow" pitchFamily="34" charset="-122"/>
                <a:cs typeface="Liberation Sans Narrow" pitchFamily="34" charset="-120"/>
              </a:rPr>
              <a:t>30 million</a:t>
            </a:r>
            <a:endParaRPr lang="en-US" sz="2588" dirty="0"/>
          </a:p>
        </p:txBody>
      </p:sp>
      <p:sp>
        <p:nvSpPr>
          <p:cNvPr id="15" name="Text 13"/>
          <p:cNvSpPr/>
          <p:nvPr/>
        </p:nvSpPr>
        <p:spPr>
          <a:xfrm>
            <a:off x="4779169" y="2354870"/>
            <a:ext cx="314325" cy="7144"/>
          </a:xfrm>
          <a:prstGeom prst="rect">
            <a:avLst/>
          </a:prstGeom>
          <a:solidFill>
            <a:srgbClr val="E8DFC8">
              <a:alpha val="28000"/>
            </a:srgbClr>
          </a:solidFill>
          <a:ln/>
        </p:spPr>
        <p:txBody>
          <a:bodyPr wrap="square" rtlCol="0" anchor="ctr"/>
          <a:lstStyle/>
          <a:p>
            <a:pPr indent="0" marL="0">
              <a:buNone/>
            </a:pPr>
            <a:endParaRPr lang="en-US" dirty="0"/>
          </a:p>
        </p:txBody>
      </p:sp>
      <p:sp>
        <p:nvSpPr>
          <p:cNvPr id="16" name="Text 14"/>
          <p:cNvSpPr/>
          <p:nvPr/>
        </p:nvSpPr>
        <p:spPr>
          <a:xfrm>
            <a:off x="4779169" y="2447739"/>
            <a:ext cx="1643063" cy="510235"/>
          </a:xfrm>
          <a:prstGeom prst="rect">
            <a:avLst/>
          </a:prstGeom>
          <a:noFill/>
          <a:ln/>
        </p:spPr>
        <p:txBody>
          <a:bodyPr wrap="square" lIns="0" tIns="0" rIns="0" bIns="0" rtlCol="0" anchor="t"/>
          <a:lstStyle/>
          <a:p>
            <a:pPr algn="l" indent="0" marL="0">
              <a:lnSpc>
                <a:spcPts val="1090"/>
              </a:lnSpc>
              <a:buNone/>
            </a:pPr>
            <a:r>
              <a:rPr lang="en-US" sz="800" dirty="0">
                <a:solidFill>
                  <a:srgbClr val="A89E88"/>
                </a:solidFill>
                <a:latin typeface="Carlito" pitchFamily="34" charset="0"/>
                <a:ea typeface="Carlito" pitchFamily="34" charset="-122"/>
                <a:cs typeface="Carlito" pitchFamily="34" charset="-120"/>
              </a:rPr>
              <a:t>It Takes Two: the co-op phenomenon; Hazelight’s catalog tops 50 million (A Way Out 13M, Split Fiction 7M)</a:t>
            </a:r>
            <a:endParaRPr lang="en-US" sz="800" dirty="0"/>
          </a:p>
        </p:txBody>
      </p:sp>
      <p:sp>
        <p:nvSpPr>
          <p:cNvPr id="17" name="Text 15"/>
          <p:cNvSpPr/>
          <p:nvPr/>
        </p:nvSpPr>
        <p:spPr>
          <a:xfrm>
            <a:off x="6690122" y="1751223"/>
            <a:ext cx="1935956" cy="2402867"/>
          </a:xfrm>
          <a:prstGeom prst="roundRect">
            <a:avLst>
              <a:gd name="adj" fmla="val 3936"/>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8" name="Text 16"/>
          <p:cNvSpPr/>
          <p:nvPr/>
        </p:nvSpPr>
        <p:spPr>
          <a:xfrm>
            <a:off x="6836569" y="1911958"/>
            <a:ext cx="1643062" cy="354902"/>
          </a:xfrm>
          <a:prstGeom prst="rect">
            <a:avLst/>
          </a:prstGeom>
          <a:noFill/>
          <a:ln/>
        </p:spPr>
        <p:txBody>
          <a:bodyPr wrap="none" lIns="0" tIns="0" rIns="0" bIns="0" rtlCol="0" anchor="t"/>
          <a:lstStyle/>
          <a:p>
            <a:pPr algn="l" indent="0" marL="0">
              <a:lnSpc>
                <a:spcPts val="2588"/>
              </a:lnSpc>
              <a:buNone/>
            </a:pPr>
            <a:r>
              <a:rPr lang="en-US" sz="2588" b="1" dirty="0">
                <a:solidFill>
                  <a:srgbClr val="C0A774"/>
                </a:solidFill>
                <a:latin typeface="Liberation Sans Narrow" pitchFamily="34" charset="0"/>
                <a:ea typeface="Liberation Sans Narrow" pitchFamily="34" charset="-122"/>
                <a:cs typeface="Liberation Sans Narrow" pitchFamily="34" charset="-120"/>
              </a:rPr>
              <a:t>100K</a:t>
            </a:r>
            <a:endParaRPr lang="en-US" sz="2588" dirty="0"/>
          </a:p>
        </p:txBody>
      </p:sp>
      <p:sp>
        <p:nvSpPr>
          <p:cNvPr id="19" name="Text 17"/>
          <p:cNvSpPr/>
          <p:nvPr/>
        </p:nvSpPr>
        <p:spPr>
          <a:xfrm>
            <a:off x="6836569" y="2354870"/>
            <a:ext cx="314325" cy="7144"/>
          </a:xfrm>
          <a:prstGeom prst="rect">
            <a:avLst/>
          </a:prstGeom>
          <a:solidFill>
            <a:srgbClr val="E8DFC8">
              <a:alpha val="28000"/>
            </a:srgbClr>
          </a:solidFill>
          <a:ln/>
        </p:spPr>
        <p:txBody>
          <a:bodyPr wrap="square" rtlCol="0" anchor="ctr"/>
          <a:lstStyle/>
          <a:p>
            <a:pPr indent="0" marL="0">
              <a:buNone/>
            </a:pPr>
            <a:endParaRPr lang="en-US" dirty="0"/>
          </a:p>
        </p:txBody>
      </p:sp>
      <p:sp>
        <p:nvSpPr>
          <p:cNvPr id="20" name="Text 18"/>
          <p:cNvSpPr/>
          <p:nvPr/>
        </p:nvSpPr>
        <p:spPr>
          <a:xfrm>
            <a:off x="6836569" y="2447739"/>
            <a:ext cx="1643063" cy="340157"/>
          </a:xfrm>
          <a:prstGeom prst="rect">
            <a:avLst/>
          </a:prstGeom>
          <a:noFill/>
          <a:ln/>
        </p:spPr>
        <p:txBody>
          <a:bodyPr wrap="square" lIns="0" tIns="0" rIns="0" bIns="0" rtlCol="0" anchor="t"/>
          <a:lstStyle/>
          <a:p>
            <a:pPr algn="l" indent="0" marL="0">
              <a:lnSpc>
                <a:spcPts val="1090"/>
              </a:lnSpc>
              <a:buNone/>
            </a:pPr>
            <a:r>
              <a:rPr lang="en-US" sz="800" dirty="0">
                <a:solidFill>
                  <a:srgbClr val="A89E88"/>
                </a:solidFill>
                <a:latin typeface="Carlito" pitchFamily="34" charset="0"/>
                <a:ea typeface="Carlito" pitchFamily="34" charset="-122"/>
                <a:cs typeface="Carlito" pitchFamily="34" charset="-120"/>
              </a:rPr>
              <a:t>in 3 weeks — Black Book: demand for a Slavic setting (Morteshka, 2021)</a:t>
            </a:r>
            <a:endParaRPr lang="en-US" sz="800" dirty="0"/>
          </a:p>
        </p:txBody>
      </p:sp>
      <p:sp>
        <p:nvSpPr>
          <p:cNvPr id="21" name="Text 19"/>
          <p:cNvSpPr/>
          <p:nvPr/>
        </p:nvSpPr>
        <p:spPr>
          <a:xfrm>
            <a:off x="514350" y="4357688"/>
            <a:ext cx="8115300" cy="414338"/>
          </a:xfrm>
          <a:prstGeom prst="rect">
            <a:avLst/>
          </a:prstGeom>
          <a:solidFill>
            <a:srgbClr val="1B1817"/>
          </a:solidFill>
          <a:ln/>
        </p:spPr>
        <p:txBody>
          <a:bodyPr wrap="square" rtlCol="0" anchor="ctr"/>
          <a:lstStyle/>
          <a:p>
            <a:pPr indent="0" marL="0">
              <a:buNone/>
            </a:pPr>
            <a:endParaRPr lang="en-US" dirty="0"/>
          </a:p>
        </p:txBody>
      </p:sp>
      <p:sp>
        <p:nvSpPr>
          <p:cNvPr id="22" name="Shape 20"/>
          <p:cNvSpPr/>
          <p:nvPr/>
        </p:nvSpPr>
        <p:spPr>
          <a:xfrm>
            <a:off x="525066" y="4357688"/>
            <a:ext cx="0" cy="414338"/>
          </a:xfrm>
          <a:prstGeom prst="line">
            <a:avLst/>
          </a:prstGeom>
          <a:noFill/>
          <a:ln w="21431">
            <a:solidFill>
              <a:srgbClr val="A82727"/>
            </a:solidFill>
            <a:prstDash val="solid"/>
          </a:ln>
        </p:spPr>
      </p:sp>
      <p:sp>
        <p:nvSpPr>
          <p:cNvPr id="23" name="Text 21"/>
          <p:cNvSpPr/>
          <p:nvPr/>
        </p:nvSpPr>
        <p:spPr>
          <a:xfrm>
            <a:off x="514350" y="4357688"/>
            <a:ext cx="8115300" cy="447485"/>
          </a:xfrm>
          <a:prstGeom prst="rect">
            <a:avLst/>
          </a:prstGeom>
          <a:noFill/>
          <a:ln/>
        </p:spPr>
        <p:txBody>
          <a:bodyPr wrap="square" lIns="171450" tIns="121444" rIns="171450" bIns="121444" rtlCol="0" anchor="t"/>
          <a:lstStyle/>
          <a:p>
            <a:pPr algn="l" indent="0" marL="0">
              <a:lnSpc>
                <a:spcPts val="1350"/>
              </a:lnSpc>
              <a:buNone/>
            </a:pPr>
            <a:r>
              <a:rPr lang="en-US" sz="844" i="1" dirty="0">
                <a:solidFill>
                  <a:srgbClr val="E8DFC8"/>
                </a:solidFill>
                <a:latin typeface="Carlito" pitchFamily="34" charset="0"/>
                <a:ea typeface="Carlito" pitchFamily="34" charset="-122"/>
                <a:cs typeface="Carlito" pitchFamily="34" charset="-120"/>
              </a:rPr>
              <a:t>The “adult dark fantasy with companions” niche is open now that Dragon Age has moved on to multiplayer experiments.</a:t>
            </a:r>
            <a:endParaRPr lang="en-US" sz="84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514350" y="400050"/>
            <a:ext cx="8629650" cy="164592"/>
          </a:xfrm>
          <a:prstGeom prst="rect">
            <a:avLst/>
          </a:prstGeom>
          <a:noFill/>
          <a:ln/>
        </p:spPr>
        <p:txBody>
          <a:bodyPr wrap="none" lIns="0" tIns="0" rIns="0" bIns="0" rtlCol="0" anchor="t"/>
          <a:lstStyle/>
          <a:p>
            <a:pPr algn="l" indent="0" marL="0">
              <a:lnSpc>
                <a:spcPts val="1055"/>
              </a:lnSpc>
              <a:buNone/>
            </a:pPr>
            <a:r>
              <a:rPr lang="en-US" sz="800" b="1" spc="211" kern="0" dirty="0">
                <a:solidFill>
                  <a:srgbClr val="C94B4B"/>
                </a:solidFill>
                <a:latin typeface="Carlito" pitchFamily="34" charset="0"/>
                <a:ea typeface="Carlito" pitchFamily="34" charset="-122"/>
                <a:cs typeface="Carlito" pitchFamily="34" charset="-120"/>
              </a:rPr>
              <a:t>COMPETITIVE POSITIONING</a:t>
            </a:r>
            <a:endParaRPr lang="en-US" sz="800" dirty="0"/>
          </a:p>
        </p:txBody>
      </p:sp>
      <p:sp>
        <p:nvSpPr>
          <p:cNvPr id="3" name="Text 1"/>
          <p:cNvSpPr/>
          <p:nvPr/>
        </p:nvSpPr>
        <p:spPr>
          <a:xfrm>
            <a:off x="514350" y="648295"/>
            <a:ext cx="8629650" cy="397456"/>
          </a:xfrm>
          <a:prstGeom prst="rect">
            <a:avLst/>
          </a:prstGeom>
          <a:noFill/>
          <a:ln/>
        </p:spPr>
        <p:txBody>
          <a:bodyPr wrap="square" lIns="0" tIns="0" rIns="0" bIns="0" rtlCol="0" anchor="t"/>
          <a:lstStyle/>
          <a:p>
            <a:pPr algn="l" indent="0" marL="0">
              <a:lnSpc>
                <a:spcPts val="2898"/>
              </a:lnSpc>
              <a:buNone/>
            </a:pPr>
            <a:r>
              <a:rPr lang="en-US" sz="2588" b="1" dirty="0">
                <a:solidFill>
                  <a:srgbClr val="E8DFC8"/>
                </a:solidFill>
                <a:latin typeface="Tinos" pitchFamily="34" charset="0"/>
                <a:ea typeface="Tinos" pitchFamily="34" charset="-122"/>
                <a:cs typeface="Tinos" pitchFamily="34" charset="-120"/>
              </a:rPr>
              <a:t>We take the combination, and keep the niche</a:t>
            </a:r>
            <a:endParaRPr lang="en-US" sz="2588"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14350" y="1798439"/>
          <a:ext cx="8115300" cy="914400"/>
        </p:xfrm>
        <a:graphic>
          <a:graphicData uri="http://schemas.openxmlformats.org/drawingml/2006/table">
            <a:tbl>
              <a:tblPr/>
              <a:tblGrid>
                <a:gridCol w="1379525"/>
                <a:gridCol w="2353419"/>
                <a:gridCol w="2515716"/>
                <a:gridCol w="1866640"/>
              </a:tblGrid>
              <a:tr h="0">
                <a:tc>
                  <a:txBody>
                    <a:bodyPr/>
                    <a:lstStyle/>
                    <a:p>
                      <a:pPr algn="l" indent="0" marL="0">
                        <a:buNone/>
                      </a:pPr>
                      <a:r>
                        <a:rPr lang="en-US" sz="800" b="1" dirty="0">
                          <a:solidFill>
                            <a:srgbClr val="A89E88"/>
                          </a:solidFill>
                          <a:latin typeface="Carlito" pitchFamily="34" charset="0"/>
                          <a:ea typeface="Carlito" pitchFamily="34" charset="-122"/>
                          <a:cs typeface="Carlito" pitchFamily="34" charset="-120"/>
                        </a:rPr>
                        <a:t>Game</a:t>
                      </a:r>
                      <a:endParaRPr lang="en-US" sz="800" dirty="0">
                        <a:latin typeface="Carlito" charset="0"/>
                        <a:ea typeface="Carlito" charset="0"/>
                        <a:cs typeface="Carlito" charset="0"/>
                      </a:endParaRPr>
                    </a:p>
                  </a:txBody>
                  <a:tcPr marL="0" marR="8229600" marT="0" marB="56578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A89E88"/>
                          </a:solidFill>
                          <a:latin typeface="Carlito" pitchFamily="34" charset="0"/>
                          <a:ea typeface="Carlito" pitchFamily="34" charset="-122"/>
                          <a:cs typeface="Carlito" pitchFamily="34" charset="-120"/>
                        </a:rPr>
                        <a:t>Strength</a:t>
                      </a:r>
                      <a:endParaRPr lang="en-US" sz="800" dirty="0">
                        <a:latin typeface="Carlito" charset="0"/>
                        <a:ea typeface="Carlito" charset="0"/>
                        <a:cs typeface="Carlito" charset="0"/>
                      </a:endParaRPr>
                    </a:p>
                  </a:txBody>
                  <a:tcPr marL="0" marR="8229600" marT="0" marB="56578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A89E88"/>
                          </a:solidFill>
                          <a:latin typeface="Carlito" pitchFamily="34" charset="0"/>
                          <a:ea typeface="Carlito" pitchFamily="34" charset="-122"/>
                          <a:cs typeface="Carlito" pitchFamily="34" charset="-120"/>
                        </a:rPr>
                        <a:t>What’s missing</a:t>
                      </a:r>
                      <a:endParaRPr lang="en-US" sz="800" dirty="0">
                        <a:latin typeface="Carlito" charset="0"/>
                        <a:ea typeface="Carlito" charset="0"/>
                        <a:cs typeface="Carlito" charset="0"/>
                      </a:endParaRPr>
                    </a:p>
                  </a:txBody>
                  <a:tcPr marL="0" marR="8229600" marT="0" marB="565785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b="1" dirty="0">
                          <a:solidFill>
                            <a:srgbClr val="A89E88"/>
                          </a:solidFill>
                          <a:latin typeface="Carlito" pitchFamily="34" charset="0"/>
                          <a:ea typeface="Carlito" pitchFamily="34" charset="-122"/>
                          <a:cs typeface="Carlito" pitchFamily="34" charset="-120"/>
                        </a:rPr>
                        <a:t>Our answer</a:t>
                      </a:r>
                      <a:endParaRPr lang="en-US" sz="800" dirty="0">
                        <a:latin typeface="Carlito" charset="0"/>
                        <a:ea typeface="Carlito" charset="0"/>
                        <a:cs typeface="Carlito" charset="0"/>
                      </a:endParaRPr>
                    </a:p>
                  </a:txBody>
                  <a:tcPr marL="0" marR="114300" marT="114300" marB="78581"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1069" b="1" dirty="0">
                          <a:solidFill>
                            <a:srgbClr val="E8DFC8"/>
                          </a:solidFill>
                          <a:latin typeface="Tinos" pitchFamily="34" charset="0"/>
                          <a:ea typeface="Tinos" pitchFamily="34" charset="-122"/>
                          <a:cs typeface="Tinos" pitchFamily="34" charset="-120"/>
                        </a:rPr>
                        <a:t>The Witcher 3</a:t>
                      </a:r>
                      <a:endParaRPr lang="en-US" sz="1069" dirty="0">
                        <a:latin typeface="Tinos" charset="0"/>
                        <a:ea typeface="Tinos" charset="0"/>
                        <a:cs typeface="Tinos"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E8DFC8"/>
                          </a:solidFill>
                          <a:latin typeface="Carlito" pitchFamily="34" charset="0"/>
                          <a:ea typeface="Carlito" pitchFamily="34" charset="-122"/>
                          <a:cs typeface="Carlito" pitchFamily="34" charset="-120"/>
                        </a:rPr>
                        <a:t>Dense quests, adult moral dilemmas</a:t>
                      </a:r>
                      <a:endParaRPr lang="en-US" sz="800" dirty="0">
                        <a:latin typeface="Carlito" charset="0"/>
                        <a:ea typeface="Carlito" charset="0"/>
                        <a:cs typeface="Carlito"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A89E88"/>
                          </a:solidFill>
                          <a:latin typeface="Carlito" pitchFamily="34" charset="0"/>
                          <a:ea typeface="Carlito" pitchFamily="34" charset="-122"/>
                          <a:cs typeface="Carlito" pitchFamily="34" charset="-120"/>
                        </a:rPr>
                        <a:t>Companions are set dressing, betrayal is scripted</a:t>
                      </a:r>
                      <a:endParaRPr lang="en-US" sz="800" dirty="0">
                        <a:latin typeface="Carlito" charset="0"/>
                        <a:ea typeface="Carlito" charset="0"/>
                        <a:cs typeface="Carlito"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E8DFC8"/>
                          </a:solidFill>
                          <a:latin typeface="Carlito" pitchFamily="34" charset="0"/>
                          <a:ea typeface="Carlito" pitchFamily="34" charset="-122"/>
                          <a:cs typeface="Carlito" pitchFamily="34" charset="-120"/>
                        </a:rPr>
                        <a:t>Companions are the core of the simulation</a:t>
                      </a:r>
                      <a:endParaRPr lang="en-US" sz="800" dirty="0">
                        <a:latin typeface="Carlito" charset="0"/>
                        <a:ea typeface="Carlito" charset="0"/>
                        <a:cs typeface="Carlito" charset="0"/>
                      </a:endParaRPr>
                    </a:p>
                  </a:txBody>
                  <a:tcPr marL="114300" marR="114300" marT="114300" marB="1143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1069" b="1" dirty="0">
                          <a:solidFill>
                            <a:srgbClr val="E8DFC8"/>
                          </a:solidFill>
                          <a:latin typeface="Tinos" pitchFamily="34" charset="0"/>
                          <a:ea typeface="Tinos" pitchFamily="34" charset="-122"/>
                          <a:cs typeface="Tinos" pitchFamily="34" charset="-120"/>
                        </a:rPr>
                        <a:t>Baldur’s Gate 3</a:t>
                      </a:r>
                      <a:endParaRPr lang="en-US" sz="1069" dirty="0">
                        <a:latin typeface="Tinos" charset="0"/>
                        <a:ea typeface="Tinos" charset="0"/>
                        <a:cs typeface="Tinos"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E8DFC8"/>
                          </a:solidFill>
                          <a:latin typeface="Carlito" pitchFamily="34" charset="0"/>
                          <a:ea typeface="Carlito" pitchFamily="34" charset="-122"/>
                          <a:cs typeface="Carlito" pitchFamily="34" charset="-120"/>
                        </a:rPr>
                        <a:t>Freedom of choice, reputation</a:t>
                      </a:r>
                      <a:endParaRPr lang="en-US" sz="800" dirty="0">
                        <a:latin typeface="Carlito" charset="0"/>
                        <a:ea typeface="Carlito" charset="0"/>
                        <a:cs typeface="Carlito"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A89E88"/>
                          </a:solidFill>
                          <a:latin typeface="Carlito" pitchFamily="34" charset="0"/>
                          <a:ea typeface="Carlito" pitchFamily="34" charset="-122"/>
                          <a:cs typeface="Carlito" pitchFamily="34" charset="-120"/>
                        </a:rPr>
                        <a:t>The world doesn’t live outside the party; no autonomous goals</a:t>
                      </a:r>
                      <a:endParaRPr lang="en-US" sz="800" dirty="0">
                        <a:latin typeface="Carlito" charset="0"/>
                        <a:ea typeface="Carlito" charset="0"/>
                        <a:cs typeface="Carlito"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E8DFC8"/>
                          </a:solidFill>
                          <a:latin typeface="Carlito" pitchFamily="34" charset="0"/>
                          <a:ea typeface="Carlito" pitchFamily="34" charset="-122"/>
                          <a:cs typeface="Carlito" pitchFamily="34" charset="-120"/>
                        </a:rPr>
                        <a:t>Companion goals execute off-screen</a:t>
                      </a:r>
                      <a:endParaRPr lang="en-US" sz="800" dirty="0">
                        <a:latin typeface="Carlito" charset="0"/>
                        <a:ea typeface="Carlito" charset="0"/>
                        <a:cs typeface="Carlito" charset="0"/>
                      </a:endParaRPr>
                    </a:p>
                  </a:txBody>
                  <a:tcPr marL="114300" marR="114300" marT="114300" marB="1143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1069" b="1" dirty="0">
                          <a:solidFill>
                            <a:srgbClr val="E8DFC8"/>
                          </a:solidFill>
                          <a:latin typeface="Tinos" pitchFamily="34" charset="0"/>
                          <a:ea typeface="Tinos" pitchFamily="34" charset="-122"/>
                          <a:cs typeface="Tinos" pitchFamily="34" charset="-120"/>
                        </a:rPr>
                        <a:t>Dragon Age</a:t>
                      </a:r>
                      <a:endParaRPr lang="en-US" sz="1069" dirty="0">
                        <a:latin typeface="Tinos" charset="0"/>
                        <a:ea typeface="Tinos" charset="0"/>
                        <a:cs typeface="Tinos"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E8DFC8"/>
                          </a:solidFill>
                          <a:latin typeface="Carlito" pitchFamily="34" charset="0"/>
                          <a:ea typeface="Carlito" pitchFamily="34" charset="-122"/>
                          <a:cs typeface="Carlito" pitchFamily="34" charset="-120"/>
                        </a:rPr>
                        <a:t>Character ensemble, banter</a:t>
                      </a:r>
                      <a:endParaRPr lang="en-US" sz="800" dirty="0">
                        <a:latin typeface="Carlito" charset="0"/>
                        <a:ea typeface="Carlito" charset="0"/>
                        <a:cs typeface="Carlito"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A89E88"/>
                          </a:solidFill>
                          <a:latin typeface="Carlito" pitchFamily="34" charset="0"/>
                          <a:ea typeface="Carlito" pitchFamily="34" charset="-122"/>
                          <a:cs typeface="Carlito" pitchFamily="34" charset="-120"/>
                        </a:rPr>
                        <a:t>A single approval number; ruptures are cosmetic</a:t>
                      </a:r>
                      <a:endParaRPr lang="en-US" sz="800" dirty="0">
                        <a:latin typeface="Carlito" charset="0"/>
                        <a:ea typeface="Carlito" charset="0"/>
                        <a:cs typeface="Carlito"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E8DFC8"/>
                          </a:solidFill>
                          <a:latin typeface="Carlito" pitchFamily="34" charset="0"/>
                          <a:ea typeface="Carlito" pitchFamily="34" charset="-122"/>
                          <a:cs typeface="Carlito" pitchFamily="34" charset="-120"/>
                        </a:rPr>
                        <a:t>Five irreversible stages of rupture</a:t>
                      </a:r>
                      <a:endParaRPr lang="en-US" sz="800" dirty="0">
                        <a:latin typeface="Carlito" charset="0"/>
                        <a:ea typeface="Carlito" charset="0"/>
                        <a:cs typeface="Carlito" charset="0"/>
                      </a:endParaRPr>
                    </a:p>
                  </a:txBody>
                  <a:tcPr marL="114300" marR="114300" marT="114300" marB="1143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0">
                <a:tc>
                  <a:txBody>
                    <a:bodyPr/>
                    <a:lstStyle/>
                    <a:p>
                      <a:pPr algn="l" indent="0" marL="0">
                        <a:buNone/>
                      </a:pPr>
                      <a:r>
                        <a:rPr lang="en-US" sz="1069" b="1" dirty="0">
                          <a:solidFill>
                            <a:srgbClr val="E8DFC8"/>
                          </a:solidFill>
                          <a:latin typeface="Tinos" pitchFamily="34" charset="0"/>
                          <a:ea typeface="Tinos" pitchFamily="34" charset="-122"/>
                          <a:cs typeface="Tinos" pitchFamily="34" charset="-120"/>
                        </a:rPr>
                        <a:t>Kingdom Come 2</a:t>
                      </a:r>
                      <a:endParaRPr lang="en-US" sz="1069" dirty="0">
                        <a:latin typeface="Tinos" charset="0"/>
                        <a:ea typeface="Tinos" charset="0"/>
                        <a:cs typeface="Tinos"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E8DFC8"/>
                          </a:solidFill>
                          <a:latin typeface="Carlito" pitchFamily="34" charset="0"/>
                          <a:ea typeface="Carlito" pitchFamily="34" charset="-122"/>
                          <a:cs typeface="Carlito" pitchFamily="34" charset="-120"/>
                        </a:rPr>
                        <a:t>Simulation of preparation and daily life</a:t>
                      </a:r>
                      <a:endParaRPr lang="en-US" sz="800" dirty="0">
                        <a:latin typeface="Carlito" charset="0"/>
                        <a:ea typeface="Carlito" charset="0"/>
                        <a:cs typeface="Carlito"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A89E88"/>
                          </a:solidFill>
                          <a:latin typeface="Carlito" pitchFamily="34" charset="0"/>
                          <a:ea typeface="Carlito" pitchFamily="34" charset="-122"/>
                          <a:cs typeface="Carlito" pitchFamily="34" charset="-120"/>
                        </a:rPr>
                        <a:t>No party mechanics, no story-driven vataga</a:t>
                      </a:r>
                      <a:endParaRPr lang="en-US" sz="800" dirty="0">
                        <a:latin typeface="Carlito" charset="0"/>
                        <a:ea typeface="Carlito" charset="0"/>
                        <a:cs typeface="Carlito" charset="0"/>
                      </a:endParaRPr>
                    </a:p>
                  </a:txBody>
                  <a:tcPr marL="8229600" marR="8229600" marT="0" marB="82296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800" dirty="0">
                          <a:solidFill>
                            <a:srgbClr val="E8DFC8"/>
                          </a:solidFill>
                          <a:latin typeface="Carlito" pitchFamily="34" charset="0"/>
                          <a:ea typeface="Carlito" pitchFamily="34" charset="-122"/>
                          <a:cs typeface="Carlito" pitchFamily="34" charset="-120"/>
                        </a:rPr>
                        <a:t>Preparation + ensemble in one loop</a:t>
                      </a:r>
                      <a:endParaRPr lang="en-US" sz="800" dirty="0">
                        <a:latin typeface="Carlito" charset="0"/>
                        <a:ea typeface="Carlito" charset="0"/>
                        <a:cs typeface="Carlito" charset="0"/>
                      </a:endParaRPr>
                    </a:p>
                  </a:txBody>
                  <a:tcPr marL="114300" marR="114300" marT="114300" marB="11430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5" name="Shape 2"/>
          <p:cNvSpPr/>
          <p:nvPr/>
        </p:nvSpPr>
        <p:spPr>
          <a:xfrm>
            <a:off x="514350" y="4539853"/>
            <a:ext cx="8115300" cy="0"/>
          </a:xfrm>
          <a:prstGeom prst="line">
            <a:avLst/>
          </a:prstGeom>
          <a:noFill/>
          <a:ln w="7144">
            <a:solidFill>
              <a:srgbClr val="E8DFC8"/>
            </a:solidFill>
            <a:prstDash val="solid"/>
          </a:ln>
        </p:spPr>
      </p:sp>
      <p:sp>
        <p:nvSpPr>
          <p:cNvPr id="6" name="Text 3"/>
          <p:cNvSpPr/>
          <p:nvPr/>
        </p:nvSpPr>
        <p:spPr>
          <a:xfrm>
            <a:off x="514350" y="4643438"/>
            <a:ext cx="8115300" cy="185166"/>
          </a:xfrm>
          <a:prstGeom prst="rect">
            <a:avLst/>
          </a:prstGeom>
          <a:noFill/>
          <a:ln/>
        </p:spPr>
        <p:txBody>
          <a:bodyPr wrap="square" lIns="0" tIns="0" rIns="0" bIns="0" rtlCol="0" anchor="t"/>
          <a:lstStyle/>
          <a:p>
            <a:pPr algn="l" indent="0" marL="0">
              <a:lnSpc>
                <a:spcPts val="1350"/>
              </a:lnSpc>
              <a:buNone/>
            </a:pPr>
            <a:r>
              <a:rPr lang="en-US" sz="844" i="1" dirty="0">
                <a:solidFill>
                  <a:srgbClr val="C0A774"/>
                </a:solidFill>
                <a:latin typeface="Carlito" pitchFamily="34" charset="0"/>
                <a:ea typeface="Carlito" pitchFamily="34" charset="-122"/>
                <a:cs typeface="Carlito" pitchFamily="34" charset="-120"/>
              </a:rPr>
              <a:t>World scale — CD Projekt RED. Simulation density — Larian. Ensemble drama — BioWare. The memory and betrayal of comrades — ours alone.</a:t>
            </a:r>
            <a:endParaRPr lang="en-US" sz="84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457200" y="371475"/>
            <a:ext cx="6350085" cy="164592"/>
          </a:xfrm>
          <a:prstGeom prst="rect">
            <a:avLst/>
          </a:prstGeom>
          <a:noFill/>
          <a:ln/>
        </p:spPr>
        <p:txBody>
          <a:bodyPr wrap="none" lIns="0" tIns="0" rIns="0" bIns="0" rtlCol="0" anchor="t"/>
          <a:lstStyle/>
          <a:p>
            <a:pPr algn="l" indent="0" marL="0">
              <a:lnSpc>
                <a:spcPts val="1055"/>
              </a:lnSpc>
              <a:buNone/>
            </a:pPr>
            <a:r>
              <a:rPr lang="en-US" sz="800" spc="246" kern="0" dirty="0">
                <a:solidFill>
                  <a:srgbClr val="C94B4B"/>
                </a:solidFill>
                <a:latin typeface="Carlito" pitchFamily="34" charset="0"/>
                <a:ea typeface="Carlito" pitchFamily="34" charset="-122"/>
                <a:cs typeface="Carlito" pitchFamily="34" charset="-120"/>
              </a:rPr>
              <a:t>SALES MODEL</a:t>
            </a:r>
            <a:endParaRPr lang="en-US" sz="800" dirty="0"/>
          </a:p>
        </p:txBody>
      </p:sp>
      <p:sp>
        <p:nvSpPr>
          <p:cNvPr id="3" name="Text 1"/>
          <p:cNvSpPr/>
          <p:nvPr/>
        </p:nvSpPr>
        <p:spPr>
          <a:xfrm>
            <a:off x="457200" y="605433"/>
            <a:ext cx="5018027" cy="383231"/>
          </a:xfrm>
          <a:prstGeom prst="rect">
            <a:avLst/>
          </a:prstGeom>
          <a:noFill/>
          <a:ln/>
        </p:spPr>
        <p:txBody>
          <a:bodyPr wrap="square" lIns="0" tIns="0" rIns="0" bIns="0" rtlCol="0" anchor="t"/>
          <a:lstStyle/>
          <a:p>
            <a:pPr algn="l" indent="0" marL="0">
              <a:lnSpc>
                <a:spcPts val="2795"/>
              </a:lnSpc>
              <a:buNone/>
            </a:pPr>
            <a:r>
              <a:rPr lang="en-US" sz="2588" b="1" spc="26" kern="0" dirty="0">
                <a:solidFill>
                  <a:srgbClr val="E8DFC8"/>
                </a:solidFill>
                <a:latin typeface="Tinos" pitchFamily="34" charset="0"/>
                <a:ea typeface="Tinos" pitchFamily="34" charset="-122"/>
                <a:cs typeface="Tinos" pitchFamily="34" charset="-120"/>
              </a:rPr>
              <a:t>Premium pricing, long life cycle</a:t>
            </a:r>
            <a:endParaRPr lang="en-US" sz="2588" dirty="0"/>
          </a:p>
        </p:txBody>
      </p:sp>
      <p:sp>
        <p:nvSpPr>
          <p:cNvPr id="4" name="Shape 2"/>
          <p:cNvSpPr/>
          <p:nvPr/>
        </p:nvSpPr>
        <p:spPr>
          <a:xfrm>
            <a:off x="7115175" y="870979"/>
            <a:ext cx="1571625" cy="0"/>
          </a:xfrm>
          <a:prstGeom prst="line">
            <a:avLst/>
          </a:prstGeom>
          <a:noFill/>
          <a:ln w="7144">
            <a:solidFill>
              <a:srgbClr val="E8DFC8"/>
            </a:solidFill>
            <a:prstDash val="solid"/>
          </a:ln>
        </p:spPr>
      </p:sp>
      <p:sp>
        <p:nvSpPr>
          <p:cNvPr id="5" name="Text 3"/>
          <p:cNvSpPr/>
          <p:nvPr/>
        </p:nvSpPr>
        <p:spPr>
          <a:xfrm>
            <a:off x="460772" y="1302395"/>
            <a:ext cx="2659819" cy="732569"/>
          </a:xfrm>
          <a:prstGeom prst="roundRect">
            <a:avLst>
              <a:gd name="adj" fmla="val 10402"/>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6" name="Text 4"/>
          <p:cNvSpPr/>
          <p:nvPr/>
        </p:nvSpPr>
        <p:spPr>
          <a:xfrm>
            <a:off x="635794" y="1463129"/>
            <a:ext cx="2309775" cy="237606"/>
          </a:xfrm>
          <a:prstGeom prst="rect">
            <a:avLst/>
          </a:prstGeom>
          <a:noFill/>
          <a:ln/>
        </p:spPr>
        <p:txBody>
          <a:bodyPr wrap="none" lIns="0" tIns="0" rIns="0" bIns="0" rtlCol="0" anchor="t"/>
          <a:lstStyle/>
          <a:p>
            <a:pPr algn="l" indent="0" marL="0">
              <a:lnSpc>
                <a:spcPts val="1733"/>
              </a:lnSpc>
              <a:buNone/>
            </a:pPr>
            <a:r>
              <a:rPr lang="en-US" sz="1575" dirty="0">
                <a:solidFill>
                  <a:srgbClr val="C0A774"/>
                </a:solidFill>
                <a:latin typeface="Liberation Sans Narrow" pitchFamily="34" charset="0"/>
                <a:ea typeface="Liberation Sans Narrow" pitchFamily="34" charset="-122"/>
                <a:cs typeface="Liberation Sans Narrow" pitchFamily="34" charset="-120"/>
              </a:rPr>
              <a:t>$69.99</a:t>
            </a:r>
            <a:endParaRPr lang="en-US" sz="1575" dirty="0"/>
          </a:p>
        </p:txBody>
      </p:sp>
      <p:sp>
        <p:nvSpPr>
          <p:cNvPr id="7" name="Text 5"/>
          <p:cNvSpPr/>
          <p:nvPr/>
        </p:nvSpPr>
        <p:spPr>
          <a:xfrm>
            <a:off x="635794" y="1740284"/>
            <a:ext cx="2309775" cy="133945"/>
          </a:xfrm>
          <a:prstGeom prst="rect">
            <a:avLst/>
          </a:prstGeom>
          <a:noFill/>
          <a:ln/>
        </p:spPr>
        <p:txBody>
          <a:bodyPr wrap="none" lIns="0" tIns="0" rIns="0" bIns="0" rtlCol="0" anchor="t"/>
          <a:lstStyle/>
          <a:p>
            <a:pPr algn="l" indent="0" marL="0">
              <a:lnSpc>
                <a:spcPts val="1055"/>
              </a:lnSpc>
              <a:buNone/>
            </a:pPr>
            <a:r>
              <a:rPr lang="en-US" sz="800" dirty="0">
                <a:solidFill>
                  <a:srgbClr val="A89E88"/>
                </a:solidFill>
                <a:latin typeface="Carlito" pitchFamily="34" charset="0"/>
                <a:ea typeface="Carlito" pitchFamily="34" charset="-122"/>
                <a:cs typeface="Carlito" pitchFamily="34" charset="-120"/>
              </a:rPr>
              <a:t>base game price</a:t>
            </a:r>
            <a:endParaRPr lang="en-US" sz="800" dirty="0"/>
          </a:p>
        </p:txBody>
      </p:sp>
      <p:sp>
        <p:nvSpPr>
          <p:cNvPr id="8" name="Text 6"/>
          <p:cNvSpPr/>
          <p:nvPr/>
        </p:nvSpPr>
        <p:spPr>
          <a:xfrm>
            <a:off x="3242035" y="1302395"/>
            <a:ext cx="2659819" cy="732569"/>
          </a:xfrm>
          <a:prstGeom prst="roundRect">
            <a:avLst>
              <a:gd name="adj" fmla="val 10402"/>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9" name="Text 7"/>
          <p:cNvSpPr/>
          <p:nvPr/>
        </p:nvSpPr>
        <p:spPr>
          <a:xfrm>
            <a:off x="3417057" y="1463129"/>
            <a:ext cx="2309775" cy="237606"/>
          </a:xfrm>
          <a:prstGeom prst="rect">
            <a:avLst/>
          </a:prstGeom>
          <a:noFill/>
          <a:ln/>
        </p:spPr>
        <p:txBody>
          <a:bodyPr wrap="none" lIns="0" tIns="0" rIns="0" bIns="0" rtlCol="0" anchor="t"/>
          <a:lstStyle/>
          <a:p>
            <a:pPr algn="l" indent="0" marL="0">
              <a:lnSpc>
                <a:spcPts val="1733"/>
              </a:lnSpc>
              <a:buNone/>
            </a:pPr>
            <a:r>
              <a:rPr lang="en-US" sz="1575" dirty="0">
                <a:solidFill>
                  <a:srgbClr val="C0A774"/>
                </a:solidFill>
                <a:latin typeface="Tinos" pitchFamily="34" charset="0"/>
                <a:ea typeface="Tinos" pitchFamily="34" charset="-122"/>
                <a:cs typeface="Tinos" pitchFamily="34" charset="-120"/>
              </a:rPr>
              <a:t>PC · consoles · cloud</a:t>
            </a:r>
            <a:endParaRPr lang="en-US" sz="1575" dirty="0"/>
          </a:p>
        </p:txBody>
      </p:sp>
      <p:sp>
        <p:nvSpPr>
          <p:cNvPr id="10" name="Text 8"/>
          <p:cNvSpPr/>
          <p:nvPr/>
        </p:nvSpPr>
        <p:spPr>
          <a:xfrm>
            <a:off x="3417057" y="1740284"/>
            <a:ext cx="2309775" cy="133945"/>
          </a:xfrm>
          <a:prstGeom prst="rect">
            <a:avLst/>
          </a:prstGeom>
          <a:noFill/>
          <a:ln/>
        </p:spPr>
        <p:txBody>
          <a:bodyPr wrap="none" lIns="0" tIns="0" rIns="0" bIns="0" rtlCol="0" anchor="t"/>
          <a:lstStyle/>
          <a:p>
            <a:pPr algn="l" indent="0" marL="0">
              <a:lnSpc>
                <a:spcPts val="1055"/>
              </a:lnSpc>
              <a:buNone/>
            </a:pPr>
            <a:r>
              <a:rPr lang="en-US" sz="800" dirty="0">
                <a:solidFill>
                  <a:srgbClr val="A89E88"/>
                </a:solidFill>
                <a:latin typeface="Carlito" pitchFamily="34" charset="0"/>
                <a:ea typeface="Carlito" pitchFamily="34" charset="-122"/>
                <a:cs typeface="Carlito" pitchFamily="34" charset="-120"/>
              </a:rPr>
              <a:t>release platforms</a:t>
            </a:r>
            <a:endParaRPr lang="en-US" sz="800" dirty="0"/>
          </a:p>
        </p:txBody>
      </p:sp>
      <p:sp>
        <p:nvSpPr>
          <p:cNvPr id="11" name="Text 9"/>
          <p:cNvSpPr/>
          <p:nvPr/>
        </p:nvSpPr>
        <p:spPr>
          <a:xfrm>
            <a:off x="6023297" y="1302395"/>
            <a:ext cx="2659931" cy="732569"/>
          </a:xfrm>
          <a:prstGeom prst="roundRect">
            <a:avLst>
              <a:gd name="adj" fmla="val 10402"/>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2" name="Text 10"/>
          <p:cNvSpPr/>
          <p:nvPr/>
        </p:nvSpPr>
        <p:spPr>
          <a:xfrm>
            <a:off x="6198319" y="1463129"/>
            <a:ext cx="2309887" cy="237606"/>
          </a:xfrm>
          <a:prstGeom prst="rect">
            <a:avLst/>
          </a:prstGeom>
          <a:noFill/>
          <a:ln/>
        </p:spPr>
        <p:txBody>
          <a:bodyPr wrap="none" lIns="0" tIns="0" rIns="0" bIns="0" rtlCol="0" anchor="t"/>
          <a:lstStyle/>
          <a:p>
            <a:pPr algn="l" indent="0" marL="0">
              <a:lnSpc>
                <a:spcPts val="1733"/>
              </a:lnSpc>
              <a:buNone/>
            </a:pPr>
            <a:r>
              <a:rPr lang="en-US" sz="1575" dirty="0">
                <a:solidFill>
                  <a:srgbClr val="C0A774"/>
                </a:solidFill>
                <a:latin typeface="Tinos" pitchFamily="34" charset="0"/>
                <a:ea typeface="Tinos" pitchFamily="34" charset="-122"/>
                <a:cs typeface="Tinos" pitchFamily="34" charset="-120"/>
              </a:rPr>
              <a:t>Cross-play</a:t>
            </a:r>
            <a:endParaRPr lang="en-US" sz="1575" dirty="0"/>
          </a:p>
        </p:txBody>
      </p:sp>
      <p:sp>
        <p:nvSpPr>
          <p:cNvPr id="13" name="Text 11"/>
          <p:cNvSpPr/>
          <p:nvPr/>
        </p:nvSpPr>
        <p:spPr>
          <a:xfrm>
            <a:off x="6198319" y="1740284"/>
            <a:ext cx="2309887" cy="133945"/>
          </a:xfrm>
          <a:prstGeom prst="rect">
            <a:avLst/>
          </a:prstGeom>
          <a:noFill/>
          <a:ln/>
        </p:spPr>
        <p:txBody>
          <a:bodyPr wrap="none" lIns="0" tIns="0" rIns="0" bIns="0" rtlCol="0" anchor="t"/>
          <a:lstStyle/>
          <a:p>
            <a:pPr algn="l" indent="0" marL="0">
              <a:lnSpc>
                <a:spcPts val="1055"/>
              </a:lnSpc>
              <a:buNone/>
            </a:pPr>
            <a:r>
              <a:rPr lang="en-US" sz="800" dirty="0">
                <a:solidFill>
                  <a:srgbClr val="A89E88"/>
                </a:solidFill>
                <a:latin typeface="Carlito" pitchFamily="34" charset="0"/>
                <a:ea typeface="Carlito" pitchFamily="34" charset="-122"/>
                <a:cs typeface="Carlito" pitchFamily="34" charset="-120"/>
              </a:rPr>
              <a:t>one pool from day one</a:t>
            </a:r>
            <a:endParaRPr lang="en-US" sz="800" dirty="0"/>
          </a:p>
        </p:txBody>
      </p:sp>
      <p:sp>
        <p:nvSpPr>
          <p:cNvPr id="14" name="Text 12"/>
          <p:cNvSpPr/>
          <p:nvPr/>
        </p:nvSpPr>
        <p:spPr>
          <a:xfrm>
            <a:off x="457200" y="2377083"/>
            <a:ext cx="974161" cy="164592"/>
          </a:xfrm>
          <a:prstGeom prst="rect">
            <a:avLst/>
          </a:prstGeom>
          <a:noFill/>
          <a:ln/>
        </p:spPr>
        <p:txBody>
          <a:bodyPr wrap="none" lIns="0" tIns="0" rIns="0" bIns="0" rtlCol="0" anchor="t"/>
          <a:lstStyle/>
          <a:p>
            <a:pPr algn="l" indent="0" marL="0">
              <a:lnSpc>
                <a:spcPts val="886"/>
              </a:lnSpc>
              <a:buNone/>
            </a:pPr>
            <a:r>
              <a:rPr lang="en-US" sz="800" spc="177" kern="0" dirty="0">
                <a:solidFill>
                  <a:srgbClr val="C0A774"/>
                </a:solidFill>
                <a:latin typeface="Carlito" pitchFamily="34" charset="0"/>
                <a:ea typeface="Carlito" pitchFamily="34" charset="-122"/>
                <a:cs typeface="Carlito" pitchFamily="34" charset="-120"/>
              </a:rPr>
              <a:t>LIFE CYCLE</a:t>
            </a:r>
            <a:endParaRPr lang="en-US" sz="800" dirty="0"/>
          </a:p>
        </p:txBody>
      </p:sp>
      <p:sp>
        <p:nvSpPr>
          <p:cNvPr id="15" name="Shape 13"/>
          <p:cNvSpPr/>
          <p:nvPr/>
        </p:nvSpPr>
        <p:spPr>
          <a:xfrm>
            <a:off x="1248482" y="2433340"/>
            <a:ext cx="7438318" cy="0"/>
          </a:xfrm>
          <a:prstGeom prst="line">
            <a:avLst/>
          </a:prstGeom>
          <a:noFill/>
          <a:ln w="7144">
            <a:solidFill>
              <a:srgbClr val="E8DFC8"/>
            </a:solidFill>
            <a:prstDash val="solid"/>
          </a:ln>
        </p:spPr>
      </p:sp>
      <p:sp>
        <p:nvSpPr>
          <p:cNvPr id="16" name="Text 14"/>
          <p:cNvSpPr/>
          <p:nvPr/>
        </p:nvSpPr>
        <p:spPr>
          <a:xfrm>
            <a:off x="460772" y="2607469"/>
            <a:ext cx="2659819" cy="850106"/>
          </a:xfrm>
          <a:prstGeom prst="roundRect">
            <a:avLst>
              <a:gd name="adj" fmla="val 8964"/>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7" name="Text 15"/>
          <p:cNvSpPr/>
          <p:nvPr/>
        </p:nvSpPr>
        <p:spPr>
          <a:xfrm>
            <a:off x="621506" y="2753916"/>
            <a:ext cx="2338350" cy="149376"/>
          </a:xfrm>
          <a:prstGeom prst="rect">
            <a:avLst/>
          </a:prstGeom>
          <a:noFill/>
          <a:ln/>
        </p:spPr>
        <p:txBody>
          <a:bodyPr wrap="none" lIns="0" tIns="0" rIns="0" bIns="0" rtlCol="0" anchor="t">
            <a:normAutofit/>
          </a:bodyPr>
          <a:lstStyle/>
          <a:p>
            <a:pPr algn="l" indent="0" marL="0">
              <a:lnSpc>
                <a:spcPts val="886"/>
              </a:lnSpc>
              <a:buNone/>
            </a:pPr>
            <a:r>
              <a:rPr lang="en-US" sz="800" spc="154" kern="0" dirty="0">
                <a:solidFill>
                  <a:srgbClr val="C94B4B"/>
                </a:solidFill>
                <a:latin typeface="Liberation Sans Narrow" pitchFamily="34" charset="0"/>
                <a:ea typeface="Liberation Sans Narrow" pitchFamily="34" charset="-122"/>
                <a:cs typeface="Liberation Sans Narrow" pitchFamily="34" charset="-120"/>
              </a:rPr>
              <a:t>MONTH 4</a:t>
            </a:r>
            <a:endParaRPr lang="en-US" sz="800" dirty="0"/>
          </a:p>
        </p:txBody>
      </p:sp>
      <p:sp>
        <p:nvSpPr>
          <p:cNvPr id="18" name="Text 16"/>
          <p:cNvSpPr/>
          <p:nvPr/>
        </p:nvSpPr>
        <p:spPr>
          <a:xfrm>
            <a:off x="621506" y="2930723"/>
            <a:ext cx="2338350" cy="219027"/>
          </a:xfrm>
          <a:prstGeom prst="rect">
            <a:avLst/>
          </a:prstGeom>
          <a:noFill/>
          <a:ln/>
        </p:spPr>
        <p:txBody>
          <a:bodyPr wrap="none" lIns="0" tIns="0" rIns="0" bIns="0" rtlCol="0" anchor="t"/>
          <a:lstStyle/>
          <a:p>
            <a:pPr algn="l" indent="0" marL="0">
              <a:lnSpc>
                <a:spcPts val="1603"/>
              </a:lnSpc>
              <a:buNone/>
            </a:pPr>
            <a:r>
              <a:rPr lang="en-US" sz="1069" dirty="0">
                <a:solidFill>
                  <a:srgbClr val="E8DFC8"/>
                </a:solidFill>
                <a:latin typeface="Tinos" pitchFamily="34" charset="0"/>
                <a:ea typeface="Tinos" pitchFamily="34" charset="-122"/>
                <a:cs typeface="Tinos" pitchFamily="34" charset="-120"/>
              </a:rPr>
              <a:t>“Winter Oaths”</a:t>
            </a:r>
            <a:endParaRPr lang="en-US" sz="1069" dirty="0"/>
          </a:p>
        </p:txBody>
      </p:sp>
      <p:sp>
        <p:nvSpPr>
          <p:cNvPr id="19" name="Text 17"/>
          <p:cNvSpPr/>
          <p:nvPr/>
        </p:nvSpPr>
        <p:spPr>
          <a:xfrm>
            <a:off x="621506" y="3177183"/>
            <a:ext cx="2338350" cy="133945"/>
          </a:xfrm>
          <a:prstGeom prst="rect">
            <a:avLst/>
          </a:prstGeom>
          <a:noFill/>
          <a:ln/>
        </p:spPr>
        <p:txBody>
          <a:bodyPr wrap="none" lIns="0" tIns="0" rIns="0" bIns="0" rtlCol="0" anchor="t"/>
          <a:lstStyle/>
          <a:p>
            <a:pPr algn="l" indent="0" marL="0">
              <a:lnSpc>
                <a:spcPts val="1055"/>
              </a:lnSpc>
              <a:buNone/>
            </a:pPr>
            <a:r>
              <a:rPr lang="en-US" sz="800" dirty="0">
                <a:solidFill>
                  <a:srgbClr val="A89E88"/>
                </a:solidFill>
                <a:latin typeface="Carlito" pitchFamily="34" charset="0"/>
                <a:ea typeface="Carlito" pitchFamily="34" charset="-122"/>
                <a:cs typeface="Carlito" pitchFamily="34" charset="-120"/>
              </a:rPr>
              <a:t>free patch campaign</a:t>
            </a:r>
            <a:endParaRPr lang="en-US" sz="800" dirty="0"/>
          </a:p>
        </p:txBody>
      </p:sp>
      <p:sp>
        <p:nvSpPr>
          <p:cNvPr id="20" name="Text 18"/>
          <p:cNvSpPr/>
          <p:nvPr/>
        </p:nvSpPr>
        <p:spPr>
          <a:xfrm>
            <a:off x="3242035" y="2607469"/>
            <a:ext cx="2659819" cy="850106"/>
          </a:xfrm>
          <a:prstGeom prst="roundRect">
            <a:avLst>
              <a:gd name="adj" fmla="val 8964"/>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21" name="Text 19"/>
          <p:cNvSpPr/>
          <p:nvPr/>
        </p:nvSpPr>
        <p:spPr>
          <a:xfrm>
            <a:off x="3402769" y="2753916"/>
            <a:ext cx="2338350" cy="149376"/>
          </a:xfrm>
          <a:prstGeom prst="rect">
            <a:avLst/>
          </a:prstGeom>
          <a:noFill/>
          <a:ln/>
        </p:spPr>
        <p:txBody>
          <a:bodyPr wrap="none" lIns="0" tIns="0" rIns="0" bIns="0" rtlCol="0" anchor="t">
            <a:normAutofit/>
          </a:bodyPr>
          <a:lstStyle/>
          <a:p>
            <a:pPr algn="l" indent="0" marL="0">
              <a:lnSpc>
                <a:spcPts val="886"/>
              </a:lnSpc>
              <a:buNone/>
            </a:pPr>
            <a:r>
              <a:rPr lang="en-US" sz="800" spc="154" kern="0" dirty="0">
                <a:solidFill>
                  <a:srgbClr val="C94B4B"/>
                </a:solidFill>
                <a:latin typeface="Liberation Sans Narrow" pitchFamily="34" charset="0"/>
                <a:ea typeface="Liberation Sans Narrow" pitchFamily="34" charset="-122"/>
                <a:cs typeface="Liberation Sans Narrow" pitchFamily="34" charset="-120"/>
              </a:rPr>
              <a:t>MONTH 10</a:t>
            </a:r>
            <a:endParaRPr lang="en-US" sz="800" dirty="0"/>
          </a:p>
        </p:txBody>
      </p:sp>
      <p:sp>
        <p:nvSpPr>
          <p:cNvPr id="22" name="Text 20"/>
          <p:cNvSpPr/>
          <p:nvPr/>
        </p:nvSpPr>
        <p:spPr>
          <a:xfrm>
            <a:off x="3402769" y="2930723"/>
            <a:ext cx="2338350" cy="219027"/>
          </a:xfrm>
          <a:prstGeom prst="rect">
            <a:avLst/>
          </a:prstGeom>
          <a:noFill/>
          <a:ln/>
        </p:spPr>
        <p:txBody>
          <a:bodyPr wrap="none" lIns="0" tIns="0" rIns="0" bIns="0" rtlCol="0" anchor="t"/>
          <a:lstStyle/>
          <a:p>
            <a:pPr algn="l" indent="0" marL="0">
              <a:lnSpc>
                <a:spcPts val="1603"/>
              </a:lnSpc>
              <a:buNone/>
            </a:pPr>
            <a:r>
              <a:rPr lang="en-US" sz="1069" dirty="0">
                <a:solidFill>
                  <a:srgbClr val="E8DFC8"/>
                </a:solidFill>
                <a:latin typeface="Tinos" pitchFamily="34" charset="0"/>
                <a:ea typeface="Tinos" pitchFamily="34" charset="-122"/>
                <a:cs typeface="Tinos" pitchFamily="34" charset="-120"/>
              </a:rPr>
              <a:t>DLC “Children of Dawn”</a:t>
            </a:r>
            <a:endParaRPr lang="en-US" sz="1069" dirty="0"/>
          </a:p>
        </p:txBody>
      </p:sp>
      <p:sp>
        <p:nvSpPr>
          <p:cNvPr id="23" name="Text 21"/>
          <p:cNvSpPr/>
          <p:nvPr/>
        </p:nvSpPr>
        <p:spPr>
          <a:xfrm>
            <a:off x="3402769" y="3177183"/>
            <a:ext cx="2448078" cy="133945"/>
          </a:xfrm>
          <a:prstGeom prst="rect">
            <a:avLst/>
          </a:prstGeom>
          <a:noFill/>
          <a:ln/>
        </p:spPr>
        <p:txBody>
          <a:bodyPr wrap="square" lIns="0" tIns="0" rIns="0" bIns="0" rtlCol="0" anchor="t"/>
          <a:lstStyle/>
          <a:p>
            <a:pPr algn="l" indent="0" marL="0">
              <a:lnSpc>
                <a:spcPts val="1055"/>
              </a:lnSpc>
              <a:buNone/>
            </a:pPr>
            <a:r>
              <a:rPr lang="en-US" sz="800" dirty="0">
                <a:solidFill>
                  <a:srgbClr val="A89E88"/>
                </a:solidFill>
                <a:latin typeface="Carlito" pitchFamily="34" charset="0"/>
                <a:ea typeface="Carlito" pitchFamily="34" charset="-122"/>
                <a:cs typeface="Carlito" pitchFamily="34" charset="-120"/>
              </a:rPr>
              <a:t>the next chapter of the vataga’s arc</a:t>
            </a:r>
            <a:endParaRPr lang="en-US" sz="800" dirty="0"/>
          </a:p>
        </p:txBody>
      </p:sp>
      <p:sp>
        <p:nvSpPr>
          <p:cNvPr id="24" name="Text 22"/>
          <p:cNvSpPr/>
          <p:nvPr/>
        </p:nvSpPr>
        <p:spPr>
          <a:xfrm>
            <a:off x="6023297" y="2607469"/>
            <a:ext cx="2659931" cy="850106"/>
          </a:xfrm>
          <a:prstGeom prst="roundRect">
            <a:avLst>
              <a:gd name="adj" fmla="val 8964"/>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25" name="Text 23"/>
          <p:cNvSpPr/>
          <p:nvPr/>
        </p:nvSpPr>
        <p:spPr>
          <a:xfrm>
            <a:off x="6184032" y="2753916"/>
            <a:ext cx="2338462" cy="149376"/>
          </a:xfrm>
          <a:prstGeom prst="rect">
            <a:avLst/>
          </a:prstGeom>
          <a:noFill/>
          <a:ln/>
        </p:spPr>
        <p:txBody>
          <a:bodyPr wrap="none" lIns="0" tIns="0" rIns="0" bIns="0" rtlCol="0" anchor="t">
            <a:normAutofit/>
          </a:bodyPr>
          <a:lstStyle/>
          <a:p>
            <a:pPr algn="l" indent="0" marL="0">
              <a:lnSpc>
                <a:spcPts val="886"/>
              </a:lnSpc>
              <a:buNone/>
            </a:pPr>
            <a:r>
              <a:rPr lang="en-US" sz="800" spc="154" kern="0" dirty="0">
                <a:solidFill>
                  <a:srgbClr val="C94B4B"/>
                </a:solidFill>
                <a:latin typeface="Liberation Sans Narrow" pitchFamily="34" charset="0"/>
                <a:ea typeface="Liberation Sans Narrow" pitchFamily="34" charset="-122"/>
                <a:cs typeface="Liberation Sans Narrow" pitchFamily="34" charset="-120"/>
              </a:rPr>
              <a:t>MONTH 20</a:t>
            </a:r>
            <a:endParaRPr lang="en-US" sz="800" dirty="0"/>
          </a:p>
        </p:txBody>
      </p:sp>
      <p:sp>
        <p:nvSpPr>
          <p:cNvPr id="26" name="Text 24"/>
          <p:cNvSpPr/>
          <p:nvPr/>
        </p:nvSpPr>
        <p:spPr>
          <a:xfrm>
            <a:off x="6184032" y="2930723"/>
            <a:ext cx="2338462" cy="219027"/>
          </a:xfrm>
          <a:prstGeom prst="rect">
            <a:avLst/>
          </a:prstGeom>
          <a:noFill/>
          <a:ln/>
        </p:spPr>
        <p:txBody>
          <a:bodyPr wrap="none" lIns="0" tIns="0" rIns="0" bIns="0" rtlCol="0" anchor="t"/>
          <a:lstStyle/>
          <a:p>
            <a:pPr algn="l" indent="0" marL="0">
              <a:lnSpc>
                <a:spcPts val="1603"/>
              </a:lnSpc>
              <a:buNone/>
            </a:pPr>
            <a:r>
              <a:rPr lang="en-US" sz="1069" dirty="0">
                <a:solidFill>
                  <a:srgbClr val="E8DFC8"/>
                </a:solidFill>
                <a:latin typeface="Tinos" pitchFamily="34" charset="0"/>
                <a:ea typeface="Tinos" pitchFamily="34" charset="-122"/>
                <a:cs typeface="Tinos" pitchFamily="34" charset="-120"/>
              </a:rPr>
              <a:t>DLC “The Still Deep”</a:t>
            </a:r>
            <a:endParaRPr lang="en-US" sz="1069" dirty="0"/>
          </a:p>
        </p:txBody>
      </p:sp>
      <p:sp>
        <p:nvSpPr>
          <p:cNvPr id="27" name="Text 25"/>
          <p:cNvSpPr/>
          <p:nvPr/>
        </p:nvSpPr>
        <p:spPr>
          <a:xfrm>
            <a:off x="6184032" y="3177183"/>
            <a:ext cx="2448190" cy="133945"/>
          </a:xfrm>
          <a:prstGeom prst="rect">
            <a:avLst/>
          </a:prstGeom>
          <a:noFill/>
          <a:ln/>
        </p:spPr>
        <p:txBody>
          <a:bodyPr wrap="square" lIns="0" tIns="0" rIns="0" bIns="0" rtlCol="0" anchor="t"/>
          <a:lstStyle/>
          <a:p>
            <a:pPr algn="l" indent="0" marL="0">
              <a:lnSpc>
                <a:spcPts val="1055"/>
              </a:lnSpc>
              <a:buNone/>
            </a:pPr>
            <a:r>
              <a:rPr lang="en-US" sz="800" dirty="0">
                <a:solidFill>
                  <a:srgbClr val="A89E88"/>
                </a:solidFill>
                <a:latin typeface="Carlito" pitchFamily="34" charset="0"/>
                <a:ea typeface="Carlito" pitchFamily="34" charset="-122"/>
                <a:cs typeface="Carlito" pitchFamily="34" charset="-120"/>
              </a:rPr>
              <a:t>the sunken layer of the Still Sea</a:t>
            </a:r>
            <a:endParaRPr lang="en-US" sz="800" dirty="0"/>
          </a:p>
        </p:txBody>
      </p:sp>
      <p:sp>
        <p:nvSpPr>
          <p:cNvPr id="28" name="Text 26"/>
          <p:cNvSpPr/>
          <p:nvPr/>
        </p:nvSpPr>
        <p:spPr>
          <a:xfrm>
            <a:off x="457200" y="3856844"/>
            <a:ext cx="3255264" cy="245370"/>
          </a:xfrm>
          <a:prstGeom prst="rect">
            <a:avLst/>
          </a:prstGeom>
          <a:noFill/>
          <a:ln/>
        </p:spPr>
        <p:txBody>
          <a:bodyPr wrap="none" lIns="0" tIns="0" rIns="0" bIns="0" rtlCol="0" anchor="t">
            <a:normAutofit/>
          </a:bodyPr>
          <a:lstStyle/>
          <a:p>
            <a:pPr algn="l" indent="0" marL="0">
              <a:lnSpc>
                <a:spcPts val="1811"/>
              </a:lnSpc>
              <a:buNone/>
            </a:pPr>
            <a:r>
              <a:rPr lang="en-US" sz="1575" dirty="0">
                <a:solidFill>
                  <a:srgbClr val="C0A774"/>
                </a:solidFill>
                <a:latin typeface="Liberation Sans Narrow" pitchFamily="34" charset="0"/>
                <a:ea typeface="Liberation Sans Narrow" pitchFamily="34" charset="-122"/>
                <a:cs typeface="Liberation Sans Narrow" pitchFamily="34" charset="-120"/>
              </a:rPr>
              <a:t>9M copies</a:t>
            </a:r>
            <a:endParaRPr lang="en-US" sz="1575" dirty="0"/>
          </a:p>
        </p:txBody>
      </p:sp>
      <p:sp>
        <p:nvSpPr>
          <p:cNvPr id="29" name="Text 27"/>
          <p:cNvSpPr/>
          <p:nvPr/>
        </p:nvSpPr>
        <p:spPr>
          <a:xfrm>
            <a:off x="457200" y="4129646"/>
            <a:ext cx="3093256" cy="164592"/>
          </a:xfrm>
          <a:prstGeom prst="rect">
            <a:avLst/>
          </a:prstGeom>
          <a:noFill/>
          <a:ln/>
        </p:spPr>
        <p:txBody>
          <a:bodyPr wrap="none" lIns="0" tIns="0" rIns="0" bIns="0" rtlCol="0" anchor="t"/>
          <a:lstStyle/>
          <a:p>
            <a:pPr algn="l" indent="0" marL="0">
              <a:lnSpc>
                <a:spcPts val="886"/>
              </a:lnSpc>
              <a:buNone/>
            </a:pPr>
            <a:r>
              <a:rPr lang="en-US" sz="800" spc="35" kern="0" dirty="0">
                <a:solidFill>
                  <a:srgbClr val="A89E88"/>
                </a:solidFill>
                <a:latin typeface="Carlito" pitchFamily="34" charset="0"/>
                <a:ea typeface="Carlito" pitchFamily="34" charset="-122"/>
                <a:cs typeface="Carlito" pitchFamily="34" charset="-120"/>
              </a:rPr>
              <a:t>year-one plan</a:t>
            </a:r>
            <a:endParaRPr lang="en-US" sz="800" dirty="0"/>
          </a:p>
        </p:txBody>
      </p:sp>
      <p:sp>
        <p:nvSpPr>
          <p:cNvPr id="30" name="Shape 28"/>
          <p:cNvSpPr/>
          <p:nvPr/>
        </p:nvSpPr>
        <p:spPr>
          <a:xfrm>
            <a:off x="3203972" y="3799694"/>
            <a:ext cx="0" cy="499616"/>
          </a:xfrm>
          <a:prstGeom prst="line">
            <a:avLst/>
          </a:prstGeom>
          <a:noFill/>
          <a:ln w="7144">
            <a:solidFill>
              <a:srgbClr val="E8DFC8"/>
            </a:solidFill>
            <a:prstDash val="solid"/>
          </a:ln>
        </p:spPr>
      </p:sp>
      <p:sp>
        <p:nvSpPr>
          <p:cNvPr id="31" name="Text 29"/>
          <p:cNvSpPr/>
          <p:nvPr/>
        </p:nvSpPr>
        <p:spPr>
          <a:xfrm>
            <a:off x="3407569" y="3856844"/>
            <a:ext cx="2336006" cy="245370"/>
          </a:xfrm>
          <a:prstGeom prst="rect">
            <a:avLst/>
          </a:prstGeom>
          <a:noFill/>
          <a:ln/>
        </p:spPr>
        <p:txBody>
          <a:bodyPr wrap="none" lIns="0" tIns="0" rIns="0" bIns="0" rtlCol="0" anchor="t">
            <a:normAutofit/>
          </a:bodyPr>
          <a:lstStyle/>
          <a:p>
            <a:pPr algn="l" indent="0" marL="0">
              <a:lnSpc>
                <a:spcPts val="1811"/>
              </a:lnSpc>
              <a:buNone/>
            </a:pPr>
            <a:r>
              <a:rPr lang="en-US" sz="1575" dirty="0">
                <a:solidFill>
                  <a:srgbClr val="C0A774"/>
                </a:solidFill>
                <a:latin typeface="Liberation Sans Narrow" pitchFamily="34" charset="0"/>
                <a:ea typeface="Liberation Sans Narrow" pitchFamily="34" charset="-122"/>
                <a:cs typeface="Liberation Sans Narrow" pitchFamily="34" charset="-120"/>
              </a:rPr>
              <a:t>20M</a:t>
            </a:r>
            <a:endParaRPr lang="en-US" sz="1575" dirty="0"/>
          </a:p>
        </p:txBody>
      </p:sp>
      <p:sp>
        <p:nvSpPr>
          <p:cNvPr id="32" name="Text 30"/>
          <p:cNvSpPr/>
          <p:nvPr/>
        </p:nvSpPr>
        <p:spPr>
          <a:xfrm>
            <a:off x="3407569" y="4129646"/>
            <a:ext cx="2336006" cy="112514"/>
          </a:xfrm>
          <a:prstGeom prst="rect">
            <a:avLst/>
          </a:prstGeom>
          <a:noFill/>
          <a:ln/>
        </p:spPr>
        <p:txBody>
          <a:bodyPr wrap="none" lIns="0" tIns="0" rIns="0" bIns="0" rtlCol="0" anchor="t"/>
          <a:lstStyle/>
          <a:p>
            <a:pPr algn="l" indent="0" marL="0">
              <a:lnSpc>
                <a:spcPts val="886"/>
              </a:lnSpc>
              <a:buNone/>
            </a:pPr>
            <a:r>
              <a:rPr lang="en-US" sz="800" spc="35" kern="0" dirty="0">
                <a:solidFill>
                  <a:srgbClr val="A89E88"/>
                </a:solidFill>
                <a:latin typeface="Carlito" pitchFamily="34" charset="0"/>
                <a:ea typeface="Carlito" pitchFamily="34" charset="-122"/>
                <a:cs typeface="Carlito" pitchFamily="34" charset="-120"/>
              </a:rPr>
              <a:t>life-cycle plan</a:t>
            </a:r>
            <a:endParaRPr lang="en-US" sz="800" dirty="0"/>
          </a:p>
        </p:txBody>
      </p:sp>
      <p:sp>
        <p:nvSpPr>
          <p:cNvPr id="33" name="Shape 31"/>
          <p:cNvSpPr/>
          <p:nvPr/>
        </p:nvSpPr>
        <p:spPr>
          <a:xfrm>
            <a:off x="5947172" y="3799694"/>
            <a:ext cx="0" cy="499616"/>
          </a:xfrm>
          <a:prstGeom prst="line">
            <a:avLst/>
          </a:prstGeom>
          <a:noFill/>
          <a:ln w="7144">
            <a:solidFill>
              <a:srgbClr val="E8DFC8"/>
            </a:solidFill>
            <a:prstDash val="solid"/>
          </a:ln>
        </p:spPr>
      </p:sp>
      <p:sp>
        <p:nvSpPr>
          <p:cNvPr id="34" name="Text 32"/>
          <p:cNvSpPr/>
          <p:nvPr/>
        </p:nvSpPr>
        <p:spPr>
          <a:xfrm>
            <a:off x="6150769" y="3856844"/>
            <a:ext cx="2536031" cy="245370"/>
          </a:xfrm>
          <a:prstGeom prst="rect">
            <a:avLst/>
          </a:prstGeom>
          <a:noFill/>
          <a:ln/>
        </p:spPr>
        <p:txBody>
          <a:bodyPr wrap="none" lIns="0" tIns="0" rIns="0" bIns="0" rtlCol="0" anchor="t">
            <a:normAutofit/>
          </a:bodyPr>
          <a:lstStyle/>
          <a:p>
            <a:pPr algn="l" indent="0" marL="0">
              <a:lnSpc>
                <a:spcPts val="1811"/>
              </a:lnSpc>
              <a:buNone/>
            </a:pPr>
            <a:r>
              <a:rPr lang="en-US" sz="1575" dirty="0">
                <a:solidFill>
                  <a:srgbClr val="C0A774"/>
                </a:solidFill>
                <a:latin typeface="Liberation Sans Narrow" pitchFamily="34" charset="0"/>
                <a:ea typeface="Liberation Sans Narrow" pitchFamily="34" charset="-122"/>
                <a:cs typeface="Liberation Sans Narrow" pitchFamily="34" charset="-120"/>
              </a:rPr>
              <a:t>5.2M</a:t>
            </a:r>
            <a:endParaRPr lang="en-US" sz="1575" dirty="0"/>
          </a:p>
        </p:txBody>
      </p:sp>
      <p:sp>
        <p:nvSpPr>
          <p:cNvPr id="35" name="Text 33"/>
          <p:cNvSpPr/>
          <p:nvPr/>
        </p:nvSpPr>
        <p:spPr>
          <a:xfrm>
            <a:off x="6150769" y="4129646"/>
            <a:ext cx="2645759" cy="112514"/>
          </a:xfrm>
          <a:prstGeom prst="rect">
            <a:avLst/>
          </a:prstGeom>
          <a:noFill/>
          <a:ln/>
        </p:spPr>
        <p:txBody>
          <a:bodyPr wrap="square" lIns="0" tIns="0" rIns="0" bIns="0" rtlCol="0" anchor="t"/>
          <a:lstStyle/>
          <a:p>
            <a:pPr algn="l" indent="0" marL="0">
              <a:lnSpc>
                <a:spcPts val="886"/>
              </a:lnSpc>
              <a:buNone/>
            </a:pPr>
            <a:r>
              <a:rPr lang="en-US" sz="800" spc="35" kern="0" dirty="0">
                <a:solidFill>
                  <a:srgbClr val="A89E88"/>
                </a:solidFill>
                <a:latin typeface="Liberation Sans Narrow" pitchFamily="34" charset="0"/>
                <a:ea typeface="Liberation Sans Narrow" pitchFamily="34" charset="-122"/>
                <a:cs typeface="Liberation Sans Narrow" pitchFamily="34" charset="-120"/>
              </a:rPr>
              <a:t>break-even point (net price $42)</a:t>
            </a:r>
            <a:endParaRPr lang="en-US" sz="800" dirty="0"/>
          </a:p>
        </p:txBody>
      </p:sp>
      <p:sp>
        <p:nvSpPr>
          <p:cNvPr id="36" name="Shape 34"/>
          <p:cNvSpPr/>
          <p:nvPr/>
        </p:nvSpPr>
        <p:spPr>
          <a:xfrm>
            <a:off x="457200" y="4641428"/>
            <a:ext cx="8229600" cy="0"/>
          </a:xfrm>
          <a:prstGeom prst="line">
            <a:avLst/>
          </a:prstGeom>
          <a:noFill/>
          <a:ln w="7144">
            <a:solidFill>
              <a:srgbClr val="E8DFC8"/>
            </a:solidFill>
            <a:prstDash val="solid"/>
          </a:ln>
        </p:spPr>
      </p:sp>
      <p:sp>
        <p:nvSpPr>
          <p:cNvPr id="37" name="Text 35"/>
          <p:cNvSpPr/>
          <p:nvPr/>
        </p:nvSpPr>
        <p:spPr>
          <a:xfrm>
            <a:off x="2333662" y="4797698"/>
            <a:ext cx="35719" cy="35719"/>
          </a:xfrm>
          <a:prstGeom prst="ellipse">
            <a:avLst/>
          </a:prstGeom>
          <a:solidFill>
            <a:srgbClr val="C0A774"/>
          </a:solidFill>
          <a:ln/>
        </p:spPr>
        <p:txBody>
          <a:bodyPr wrap="square" rtlCol="0" anchor="ctr"/>
          <a:lstStyle/>
          <a:p>
            <a:pPr indent="0" marL="0">
              <a:buNone/>
            </a:pPr>
            <a:endParaRPr lang="en-US" dirty="0"/>
          </a:p>
        </p:txBody>
      </p:sp>
      <p:sp>
        <p:nvSpPr>
          <p:cNvPr id="38" name="Text 36"/>
          <p:cNvSpPr/>
          <p:nvPr/>
        </p:nvSpPr>
        <p:spPr>
          <a:xfrm>
            <a:off x="2469393" y="4759300"/>
            <a:ext cx="4255108" cy="112514"/>
          </a:xfrm>
          <a:prstGeom prst="rect">
            <a:avLst/>
          </a:prstGeom>
          <a:noFill/>
          <a:ln/>
        </p:spPr>
        <p:txBody>
          <a:bodyPr wrap="square" lIns="0" tIns="0" rIns="0" bIns="0" rtlCol="0" anchor="t"/>
          <a:lstStyle/>
          <a:p>
            <a:pPr algn="l" indent="0" marL="0">
              <a:lnSpc>
                <a:spcPts val="886"/>
              </a:lnSpc>
              <a:buNone/>
            </a:pPr>
            <a:r>
              <a:rPr lang="en-US" sz="600" spc="41" kern="0" dirty="0">
                <a:solidFill>
                  <a:srgbClr val="A89E88"/>
                </a:solidFill>
                <a:latin typeface="Carlito" pitchFamily="34" charset="0"/>
                <a:ea typeface="Carlito" pitchFamily="34" charset="-122"/>
                <a:cs typeface="Carlito" pitchFamily="34" charset="-120"/>
              </a:rPr>
              <a:t>Completion ≥ 38% · Sessions 75+ minutes · Reach rupture stage IV ≥ 55% · Co-op players ≥ 18% · Press 85+</a:t>
            </a:r>
            <a:endParaRPr lang="en-US" sz="600" dirty="0"/>
          </a:p>
        </p:txBody>
      </p:sp>
      <p:sp>
        <p:nvSpPr>
          <p:cNvPr id="39" name="Text 37"/>
          <p:cNvSpPr/>
          <p:nvPr/>
        </p:nvSpPr>
        <p:spPr>
          <a:xfrm>
            <a:off x="6774507" y="4797698"/>
            <a:ext cx="35719" cy="35719"/>
          </a:xfrm>
          <a:prstGeom prst="ellipse">
            <a:avLst/>
          </a:prstGeom>
          <a:solidFill>
            <a:srgbClr val="C0A774"/>
          </a:solidFill>
          <a:ln/>
        </p:spPr>
        <p:txBody>
          <a:bodyPr wrap="square" rtlCol="0" anchor="ctr"/>
          <a:lstStyle/>
          <a:p>
            <a:pPr indent="0" marL="0">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423824" y="1962745"/>
            <a:ext cx="2202018" cy="1114854"/>
          </a:xfrm>
          <a:prstGeom prst="rect">
            <a:avLst/>
          </a:prstGeom>
          <a:noFill/>
          <a:ln/>
        </p:spPr>
        <p:txBody>
          <a:bodyPr wrap="none" lIns="0" tIns="0" rIns="0" bIns="0" rtlCol="0" anchor="t"/>
          <a:lstStyle/>
          <a:p>
            <a:pPr algn="l" indent="0" marL="0">
              <a:lnSpc>
                <a:spcPts val="8128"/>
              </a:lnSpc>
              <a:buNone/>
            </a:pPr>
            <a:r>
              <a:rPr lang="en-US" sz="9563" b="1" spc="191" kern="0" dirty="0">
                <a:solidFill>
                  <a:srgbClr val="A82727">
                    <a:alpha val="85000"/>
                  </a:srgbClr>
                </a:solidFill>
                <a:latin typeface="Liberation Sans Narrow" pitchFamily="34" charset="0"/>
                <a:ea typeface="Liberation Sans Narrow" pitchFamily="34" charset="-122"/>
                <a:cs typeface="Liberation Sans Narrow" pitchFamily="34" charset="-120"/>
              </a:rPr>
              <a:t>03</a:t>
            </a:r>
            <a:endParaRPr lang="en-US" sz="9563" dirty="0"/>
          </a:p>
        </p:txBody>
      </p:sp>
      <p:sp>
        <p:nvSpPr>
          <p:cNvPr id="3" name="Text 1"/>
          <p:cNvSpPr/>
          <p:nvPr/>
        </p:nvSpPr>
        <p:spPr>
          <a:xfrm>
            <a:off x="2206079" y="1797211"/>
            <a:ext cx="3909430" cy="164592"/>
          </a:xfrm>
          <a:prstGeom prst="rect">
            <a:avLst/>
          </a:prstGeom>
          <a:noFill/>
          <a:ln/>
        </p:spPr>
        <p:txBody>
          <a:bodyPr wrap="none" lIns="0" tIns="0" rIns="0" bIns="0" rtlCol="0" anchor="t"/>
          <a:lstStyle/>
          <a:p>
            <a:pPr algn="l" indent="0" marL="0">
              <a:lnSpc>
                <a:spcPts val="1055"/>
              </a:lnSpc>
              <a:buNone/>
            </a:pPr>
            <a:r>
              <a:rPr lang="en-US" sz="800" spc="246" kern="0" dirty="0">
                <a:solidFill>
                  <a:srgbClr val="A89E88"/>
                </a:solidFill>
                <a:latin typeface="Liberation Sans Narrow" pitchFamily="34" charset="0"/>
                <a:ea typeface="Liberation Sans Narrow" pitchFamily="34" charset="-122"/>
                <a:cs typeface="Liberation Sans Narrow" pitchFamily="34" charset="-120"/>
              </a:rPr>
              <a:t>SECTION 03 / 03</a:t>
            </a:r>
            <a:endParaRPr lang="en-US" sz="800" dirty="0"/>
          </a:p>
        </p:txBody>
      </p:sp>
      <p:sp>
        <p:nvSpPr>
          <p:cNvPr id="4" name="Text 2"/>
          <p:cNvSpPr/>
          <p:nvPr/>
        </p:nvSpPr>
        <p:spPr>
          <a:xfrm>
            <a:off x="2206079" y="2074032"/>
            <a:ext cx="3707218" cy="583225"/>
          </a:xfrm>
          <a:prstGeom prst="rect">
            <a:avLst/>
          </a:prstGeom>
          <a:noFill/>
          <a:ln/>
        </p:spPr>
        <p:txBody>
          <a:bodyPr wrap="none" lIns="0" tIns="0" rIns="0" bIns="0" rtlCol="0" anchor="t"/>
          <a:lstStyle/>
          <a:p>
            <a:pPr algn="l" indent="0" marL="0">
              <a:lnSpc>
                <a:spcPts val="4253"/>
              </a:lnSpc>
              <a:buNone/>
            </a:pPr>
            <a:r>
              <a:rPr lang="en-US" sz="4050" b="1" spc="162" kern="0" dirty="0">
                <a:solidFill>
                  <a:srgbClr val="E8DFC8"/>
                </a:solidFill>
                <a:latin typeface="Tinos" pitchFamily="34" charset="0"/>
                <a:ea typeface="Tinos" pitchFamily="34" charset="-122"/>
                <a:cs typeface="Tinos" pitchFamily="34" charset="-120"/>
              </a:rPr>
              <a:t>THE DEAL</a:t>
            </a:r>
            <a:endParaRPr lang="en-US" sz="4050" dirty="0"/>
          </a:p>
        </p:txBody>
      </p:sp>
      <p:sp>
        <p:nvSpPr>
          <p:cNvPr id="5" name="Shape 3"/>
          <p:cNvSpPr/>
          <p:nvPr/>
        </p:nvSpPr>
        <p:spPr>
          <a:xfrm>
            <a:off x="2206079" y="2792648"/>
            <a:ext cx="857250" cy="0"/>
          </a:xfrm>
          <a:prstGeom prst="line">
            <a:avLst/>
          </a:prstGeom>
          <a:noFill/>
          <a:ln w="7144">
            <a:solidFill>
              <a:srgbClr val="E8DFC8"/>
            </a:solidFill>
            <a:prstDash val="solid"/>
          </a:ln>
        </p:spPr>
      </p:sp>
      <p:sp>
        <p:nvSpPr>
          <p:cNvPr id="6" name="Text 4"/>
          <p:cNvSpPr/>
          <p:nvPr/>
        </p:nvSpPr>
        <p:spPr>
          <a:xfrm>
            <a:off x="2206079" y="2956954"/>
            <a:ext cx="3033178" cy="219885"/>
          </a:xfrm>
          <a:prstGeom prst="rect">
            <a:avLst/>
          </a:prstGeom>
          <a:noFill/>
          <a:ln/>
        </p:spPr>
        <p:txBody>
          <a:bodyPr wrap="square" lIns="0" tIns="0" rIns="0" bIns="0" rtlCol="0" anchor="t"/>
          <a:lstStyle/>
          <a:p>
            <a:pPr algn="l" indent="0" marL="0">
              <a:lnSpc>
                <a:spcPts val="1603"/>
              </a:lnSpc>
              <a:buNone/>
            </a:pPr>
            <a:r>
              <a:rPr lang="en-US" sz="1069" i="1" dirty="0">
                <a:solidFill>
                  <a:srgbClr val="A89E88"/>
                </a:solidFill>
                <a:latin typeface="Tinos" pitchFamily="34" charset="0"/>
                <a:ea typeface="Tinos" pitchFamily="34" charset="-122"/>
                <a:cs typeface="Tinos" pitchFamily="34" charset="-120"/>
              </a:rPr>
              <a:t>Prototype, production plan, budget and terms</a:t>
            </a:r>
            <a:endParaRPr lang="en-US" sz="1069" dirty="0"/>
          </a:p>
        </p:txBody>
      </p:sp>
      <p:sp>
        <p:nvSpPr>
          <p:cNvPr id="7" name="Text 5"/>
          <p:cNvSpPr/>
          <p:nvPr/>
        </p:nvSpPr>
        <p:spPr>
          <a:xfrm>
            <a:off x="7114170" y="4745236"/>
            <a:ext cx="1867302" cy="164592"/>
          </a:xfrm>
          <a:prstGeom prst="rect">
            <a:avLst/>
          </a:prstGeom>
          <a:noFill/>
          <a:ln/>
        </p:spPr>
        <p:txBody>
          <a:bodyPr wrap="square" lIns="0" tIns="0" rIns="0" bIns="0" rtlCol="0" anchor="t"/>
          <a:lstStyle/>
          <a:p>
            <a:pPr algn="l" indent="0" marL="0">
              <a:lnSpc>
                <a:spcPts val="886"/>
              </a:lnSpc>
              <a:buNone/>
            </a:pPr>
            <a:r>
              <a:rPr lang="en-US" sz="800" spc="142" kern="0" dirty="0">
                <a:solidFill>
                  <a:srgbClr val="A89E88"/>
                </a:solidFill>
                <a:latin typeface="Carlito" pitchFamily="34" charset="0"/>
                <a:ea typeface="Carlito" pitchFamily="34" charset="-122"/>
                <a:cs typeface="Carlito" pitchFamily="34" charset="-120"/>
              </a:rPr>
              <a:t>ZARNITSA · PUBLISHER PITCH</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457200" y="342900"/>
            <a:ext cx="5678277" cy="164592"/>
          </a:xfrm>
          <a:prstGeom prst="rect">
            <a:avLst/>
          </a:prstGeom>
          <a:noFill/>
          <a:ln/>
        </p:spPr>
        <p:txBody>
          <a:bodyPr wrap="none" lIns="0" tIns="0" rIns="0" bIns="0" rtlCol="0" anchor="t"/>
          <a:lstStyle/>
          <a:p>
            <a:pPr algn="l" indent="0" marL="0">
              <a:lnSpc>
                <a:spcPts val="1055"/>
              </a:lnSpc>
              <a:buNone/>
            </a:pPr>
            <a:r>
              <a:rPr lang="en-US" sz="800" spc="246" kern="0" dirty="0">
                <a:solidFill>
                  <a:srgbClr val="C94B4B"/>
                </a:solidFill>
                <a:latin typeface="Carlito" pitchFamily="34" charset="0"/>
                <a:ea typeface="Carlito" pitchFamily="34" charset="-122"/>
                <a:cs typeface="Carlito" pitchFamily="34" charset="-120"/>
              </a:rPr>
              <a:t>READINESS</a:t>
            </a:r>
            <a:endParaRPr lang="en-US" sz="800" dirty="0"/>
          </a:p>
        </p:txBody>
      </p:sp>
      <p:sp>
        <p:nvSpPr>
          <p:cNvPr id="3" name="Text 1"/>
          <p:cNvSpPr/>
          <p:nvPr/>
        </p:nvSpPr>
        <p:spPr>
          <a:xfrm>
            <a:off x="457200" y="576858"/>
            <a:ext cx="3785518" cy="766462"/>
          </a:xfrm>
          <a:prstGeom prst="rect">
            <a:avLst/>
          </a:prstGeom>
          <a:noFill/>
          <a:ln/>
        </p:spPr>
        <p:txBody>
          <a:bodyPr wrap="square" lIns="0" tIns="0" rIns="0" bIns="0" rtlCol="0" anchor="t"/>
          <a:lstStyle/>
          <a:p>
            <a:pPr algn="l" indent="0" marL="0">
              <a:lnSpc>
                <a:spcPts val="2795"/>
              </a:lnSpc>
              <a:buNone/>
            </a:pPr>
            <a:r>
              <a:rPr lang="en-US" sz="2588" b="1" spc="26" kern="0" dirty="0">
                <a:solidFill>
                  <a:srgbClr val="E8DFC8"/>
                </a:solidFill>
                <a:latin typeface="Tinos" pitchFamily="34" charset="0"/>
                <a:ea typeface="Tinos" pitchFamily="34" charset="-122"/>
                <a:cs typeface="Tinos" pitchFamily="34" charset="-120"/>
              </a:rPr>
              <a:t>The vertical slice is already playable</a:t>
            </a:r>
            <a:endParaRPr lang="en-US" sz="2588" dirty="0"/>
          </a:p>
        </p:txBody>
      </p:sp>
      <p:sp>
        <p:nvSpPr>
          <p:cNvPr id="4" name="Text 2"/>
          <p:cNvSpPr/>
          <p:nvPr/>
        </p:nvSpPr>
        <p:spPr>
          <a:xfrm>
            <a:off x="457200" y="1429420"/>
            <a:ext cx="3785518" cy="954762"/>
          </a:xfrm>
          <a:prstGeom prst="rect">
            <a:avLst/>
          </a:prstGeom>
          <a:noFill/>
          <a:ln/>
        </p:spPr>
        <p:txBody>
          <a:bodyPr wrap="square" lIns="0" tIns="0" rIns="0" bIns="0" rtlCol="0" anchor="t"/>
          <a:lstStyle/>
          <a:p>
            <a:pPr algn="l" indent="0" marL="0">
              <a:lnSpc>
                <a:spcPts val="1392"/>
              </a:lnSpc>
              <a:buNone/>
            </a:pPr>
            <a:r>
              <a:rPr lang="en-US" sz="844" dirty="0">
                <a:solidFill>
                  <a:srgbClr val="E8DFC8"/>
                </a:solidFill>
                <a:latin typeface="Carlito" pitchFamily="34" charset="0"/>
                <a:ea typeface="Carlito" pitchFamily="34" charset="-122"/>
                <a:cs typeface="Carlito" pitchFamily="34" charset="-120"/>
              </a:rPr>
              <a:t>ZARNITSA · Three Nights is a working prototype of the core: three days and three nights, all four systems in one build. Real time with the Oath Pause and four Zaritsa forms; the companions’ rupture ladder from doubt to the Night of Knives; the Right of Speech after battle; factions, gold and the Mgla as world-scale resources.</a:t>
            </a:r>
            <a:endParaRPr lang="en-US" sz="844" dirty="0"/>
          </a:p>
        </p:txBody>
      </p:sp>
      <p:sp>
        <p:nvSpPr>
          <p:cNvPr id="5" name="Text 3"/>
          <p:cNvSpPr/>
          <p:nvPr/>
        </p:nvSpPr>
        <p:spPr>
          <a:xfrm>
            <a:off x="457200" y="2470621"/>
            <a:ext cx="92869" cy="160734"/>
          </a:xfrm>
          <a:prstGeom prst="rect">
            <a:avLst/>
          </a:prstGeom>
          <a:noFill/>
          <a:ln/>
        </p:spPr>
        <p:txBody>
          <a:bodyPr wrap="none" lIns="0" tIns="0" rIns="0" bIns="0" rtlCol="0" anchor="ctr"/>
          <a:lstStyle/>
          <a:p>
            <a:pPr algn="ctr" indent="0" marL="0">
              <a:buNone/>
            </a:pPr>
            <a:r>
              <a:rPr lang="en-US" sz="844" dirty="0">
                <a:solidFill>
                  <a:srgbClr val="C0A774"/>
                </a:solidFill>
                <a:latin typeface="Segoe UI Symbol" pitchFamily="34" charset="0"/>
                <a:ea typeface="Segoe UI Symbol" pitchFamily="34" charset="-122"/>
                <a:cs typeface="Segoe UI Symbol" pitchFamily="34" charset="-120"/>
              </a:rPr>
              <a:t>✦</a:t>
            </a:r>
            <a:endParaRPr lang="en-US" sz="844" dirty="0"/>
          </a:p>
        </p:txBody>
      </p:sp>
      <p:sp>
        <p:nvSpPr>
          <p:cNvPr id="6" name="Text 4"/>
          <p:cNvSpPr/>
          <p:nvPr/>
        </p:nvSpPr>
        <p:spPr>
          <a:xfrm>
            <a:off x="635794" y="2470621"/>
            <a:ext cx="3606924" cy="173593"/>
          </a:xfrm>
          <a:prstGeom prst="rect">
            <a:avLst/>
          </a:prstGeom>
          <a:noFill/>
          <a:ln/>
        </p:spPr>
        <p:txBody>
          <a:bodyPr wrap="square" lIns="0" tIns="0" rIns="0" bIns="0" rtlCol="0" anchor="t"/>
          <a:lstStyle/>
          <a:p>
            <a:pPr algn="l" indent="0" marL="0">
              <a:lnSpc>
                <a:spcPts val="1266"/>
              </a:lnSpc>
              <a:buNone/>
            </a:pPr>
            <a:r>
              <a:rPr lang="en-US" sz="844" dirty="0">
                <a:solidFill>
                  <a:srgbClr val="E8DFC8"/>
                </a:solidFill>
                <a:latin typeface="Carlito" pitchFamily="34" charset="0"/>
                <a:ea typeface="Carlito" pitchFamily="34" charset="-122"/>
                <a:cs typeface="Carlito" pitchFamily="34" charset="-120"/>
              </a:rPr>
              <a:t>Full golden path verified: title → contracts → three nights → finale</a:t>
            </a:r>
            <a:endParaRPr lang="en-US" sz="844" dirty="0"/>
          </a:p>
        </p:txBody>
      </p:sp>
      <p:sp>
        <p:nvSpPr>
          <p:cNvPr id="7" name="Text 5"/>
          <p:cNvSpPr/>
          <p:nvPr/>
        </p:nvSpPr>
        <p:spPr>
          <a:xfrm>
            <a:off x="457200" y="2724224"/>
            <a:ext cx="92869" cy="160734"/>
          </a:xfrm>
          <a:prstGeom prst="rect">
            <a:avLst/>
          </a:prstGeom>
          <a:noFill/>
          <a:ln/>
        </p:spPr>
        <p:txBody>
          <a:bodyPr wrap="none" lIns="0" tIns="0" rIns="0" bIns="0" rtlCol="0" anchor="ctr"/>
          <a:lstStyle/>
          <a:p>
            <a:pPr algn="ctr" indent="0" marL="0">
              <a:buNone/>
            </a:pPr>
            <a:r>
              <a:rPr lang="en-US" sz="844" dirty="0">
                <a:solidFill>
                  <a:srgbClr val="C0A774"/>
                </a:solidFill>
                <a:latin typeface="Segoe UI Symbol" pitchFamily="34" charset="0"/>
                <a:ea typeface="Segoe UI Symbol" pitchFamily="34" charset="-122"/>
                <a:cs typeface="Segoe UI Symbol" pitchFamily="34" charset="-120"/>
              </a:rPr>
              <a:t>✦</a:t>
            </a:r>
            <a:endParaRPr lang="en-US" sz="844" dirty="0"/>
          </a:p>
        </p:txBody>
      </p:sp>
      <p:sp>
        <p:nvSpPr>
          <p:cNvPr id="8" name="Text 6"/>
          <p:cNvSpPr/>
          <p:nvPr/>
        </p:nvSpPr>
        <p:spPr>
          <a:xfrm>
            <a:off x="635794" y="2724224"/>
            <a:ext cx="3606924" cy="173593"/>
          </a:xfrm>
          <a:prstGeom prst="rect">
            <a:avLst/>
          </a:prstGeom>
          <a:noFill/>
          <a:ln/>
        </p:spPr>
        <p:txBody>
          <a:bodyPr wrap="square" lIns="0" tIns="0" rIns="0" bIns="0" rtlCol="0" anchor="t"/>
          <a:lstStyle/>
          <a:p>
            <a:pPr algn="l" indent="0" marL="0">
              <a:lnSpc>
                <a:spcPts val="1266"/>
              </a:lnSpc>
              <a:buNone/>
            </a:pPr>
            <a:r>
              <a:rPr lang="en-US" sz="844" dirty="0">
                <a:solidFill>
                  <a:srgbClr val="E8DFC8"/>
                </a:solidFill>
                <a:latin typeface="Carlito" pitchFamily="34" charset="0"/>
                <a:ea typeface="Carlito" pitchFamily="34" charset="-122"/>
                <a:cs typeface="Carlito" pitchFamily="34" charset="-120"/>
              </a:rPr>
              <a:t>Three finales across three lines of ataman behavior</a:t>
            </a:r>
            <a:endParaRPr lang="en-US" sz="844" dirty="0"/>
          </a:p>
        </p:txBody>
      </p:sp>
      <p:sp>
        <p:nvSpPr>
          <p:cNvPr id="9" name="Text 7"/>
          <p:cNvSpPr/>
          <p:nvPr/>
        </p:nvSpPr>
        <p:spPr>
          <a:xfrm>
            <a:off x="457200" y="2977828"/>
            <a:ext cx="92869" cy="160734"/>
          </a:xfrm>
          <a:prstGeom prst="rect">
            <a:avLst/>
          </a:prstGeom>
          <a:noFill/>
          <a:ln/>
        </p:spPr>
        <p:txBody>
          <a:bodyPr wrap="none" lIns="0" tIns="0" rIns="0" bIns="0" rtlCol="0" anchor="ctr"/>
          <a:lstStyle/>
          <a:p>
            <a:pPr algn="ctr" indent="0" marL="0">
              <a:buNone/>
            </a:pPr>
            <a:r>
              <a:rPr lang="en-US" sz="844" dirty="0">
                <a:solidFill>
                  <a:srgbClr val="C0A774"/>
                </a:solidFill>
                <a:latin typeface="Segoe UI Symbol" pitchFamily="34" charset="0"/>
                <a:ea typeface="Segoe UI Symbol" pitchFamily="34" charset="-122"/>
                <a:cs typeface="Segoe UI Symbol" pitchFamily="34" charset="-120"/>
              </a:rPr>
              <a:t>✦</a:t>
            </a:r>
            <a:endParaRPr lang="en-US" sz="844" dirty="0"/>
          </a:p>
        </p:txBody>
      </p:sp>
      <p:sp>
        <p:nvSpPr>
          <p:cNvPr id="10" name="Text 8"/>
          <p:cNvSpPr/>
          <p:nvPr/>
        </p:nvSpPr>
        <p:spPr>
          <a:xfrm>
            <a:off x="635794" y="2977828"/>
            <a:ext cx="3606924" cy="173593"/>
          </a:xfrm>
          <a:prstGeom prst="rect">
            <a:avLst/>
          </a:prstGeom>
          <a:noFill/>
          <a:ln/>
        </p:spPr>
        <p:txBody>
          <a:bodyPr wrap="square" lIns="0" tIns="0" rIns="0" bIns="0" rtlCol="0" anchor="t"/>
          <a:lstStyle/>
          <a:p>
            <a:pPr algn="l" indent="0" marL="0">
              <a:lnSpc>
                <a:spcPts val="1266"/>
              </a:lnSpc>
              <a:buNone/>
            </a:pPr>
            <a:r>
              <a:rPr lang="en-US" sz="844" dirty="0">
                <a:solidFill>
                  <a:srgbClr val="E8DFC8"/>
                </a:solidFill>
                <a:latin typeface="Carlito" pitchFamily="34" charset="0"/>
                <a:ea typeface="Carlito" pitchFamily="34" charset="-122"/>
                <a:cs typeface="Carlito" pitchFamily="34" charset="-120"/>
              </a:rPr>
              <a:t>Six companions with memory, tags and the Right of Speech</a:t>
            </a:r>
            <a:endParaRPr lang="en-US" sz="844" dirty="0"/>
          </a:p>
        </p:txBody>
      </p:sp>
      <p:sp>
        <p:nvSpPr>
          <p:cNvPr id="11" name="Text 9"/>
          <p:cNvSpPr/>
          <p:nvPr/>
        </p:nvSpPr>
        <p:spPr>
          <a:xfrm>
            <a:off x="460772" y="4418409"/>
            <a:ext cx="3778374" cy="407194"/>
          </a:xfrm>
          <a:prstGeom prst="roundRect">
            <a:avLst>
              <a:gd name="adj" fmla="val 18713"/>
            </a:avLst>
          </a:prstGeom>
          <a:solidFill>
            <a:srgbClr val="A82727">
              <a:alpha val="10000"/>
            </a:srgbClr>
          </a:solidFill>
          <a:ln w="7144">
            <a:solidFill>
              <a:srgbClr val="A82727"/>
            </a:solidFill>
            <a:prstDash val="solid"/>
          </a:ln>
        </p:spPr>
        <p:txBody>
          <a:bodyPr wrap="square" rtlCol="0" anchor="ctr"/>
          <a:lstStyle/>
          <a:p>
            <a:pPr indent="0" marL="0">
              <a:buNone/>
            </a:pPr>
            <a:endParaRPr lang="en-US" dirty="0"/>
          </a:p>
        </p:txBody>
      </p:sp>
      <p:sp>
        <p:nvSpPr>
          <p:cNvPr id="12" name="Text 10"/>
          <p:cNvSpPr/>
          <p:nvPr/>
        </p:nvSpPr>
        <p:spPr>
          <a:xfrm>
            <a:off x="607219" y="4579144"/>
            <a:ext cx="2457115" cy="122895"/>
          </a:xfrm>
          <a:prstGeom prst="rect">
            <a:avLst/>
          </a:prstGeom>
          <a:noFill/>
          <a:ln/>
        </p:spPr>
        <p:txBody>
          <a:bodyPr wrap="square" lIns="0" tIns="0" rIns="0" bIns="0" rtlCol="0" anchor="t"/>
          <a:lstStyle/>
          <a:p>
            <a:pPr algn="l" indent="0" marL="0">
              <a:lnSpc>
                <a:spcPts val="1055"/>
              </a:lnSpc>
              <a:buNone/>
            </a:pPr>
            <a:r>
              <a:rPr lang="en-US" sz="703" dirty="0">
                <a:solidFill>
                  <a:srgbClr val="E8DFC8"/>
                </a:solidFill>
                <a:latin typeface="Carlito" pitchFamily="34" charset="0"/>
                <a:ea typeface="Carlito" pitchFamily="34" charset="-122"/>
                <a:cs typeface="Carlito" pitchFamily="34" charset="-120"/>
              </a:rPr>
              <a:t>Build link and the full GDD (30 pages) — available on request.</a:t>
            </a:r>
            <a:endParaRPr lang="en-US" sz="703" dirty="0"/>
          </a:p>
        </p:txBody>
      </p:sp>
      <p:sp>
        <p:nvSpPr>
          <p:cNvPr id="13" name="Text 11"/>
          <p:cNvSpPr/>
          <p:nvPr/>
        </p:nvSpPr>
        <p:spPr>
          <a:xfrm>
            <a:off x="4560615" y="346472"/>
            <a:ext cx="4122613" cy="1993106"/>
          </a:xfrm>
          <a:prstGeom prst="roundRect">
            <a:avLst>
              <a:gd name="adj" fmla="val 3823"/>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14" name="Image 0" descr="/tmp/h2p-fit-1792619797181-bgq8l7.png">    </p:cNvPr>
          <p:cNvPicPr>
            <a:picLocks noChangeAspect="1"/>
          </p:cNvPicPr>
          <p:nvPr/>
        </p:nvPicPr>
        <p:blipFill>
          <a:blip r:embed="rId1"/>
          <a:stretch>
            <a:fillRect/>
          </a:stretch>
        </p:blipFill>
        <p:spPr>
          <a:xfrm>
            <a:off x="4564187" y="350044"/>
            <a:ext cx="4115470" cy="1985963"/>
          </a:xfrm>
          <a:prstGeom prst="rect">
            <a:avLst/>
          </a:prstGeom>
        </p:spPr>
      </p:pic>
      <p:sp>
        <p:nvSpPr>
          <p:cNvPr id="15" name="Text 12"/>
          <p:cNvSpPr/>
          <p:nvPr/>
        </p:nvSpPr>
        <p:spPr>
          <a:xfrm>
            <a:off x="4557043" y="2400300"/>
            <a:ext cx="4129757" cy="164592"/>
          </a:xfrm>
          <a:prstGeom prst="rect">
            <a:avLst/>
          </a:prstGeom>
          <a:noFill/>
          <a:ln/>
        </p:spPr>
        <p:txBody>
          <a:bodyPr wrap="square" lIns="0" tIns="0" rIns="0" bIns="0" rtlCol="0" anchor="t"/>
          <a:lstStyle/>
          <a:p>
            <a:pPr algn="l" indent="0" marL="0">
              <a:lnSpc>
                <a:spcPts val="886"/>
              </a:lnSpc>
              <a:buNone/>
            </a:pPr>
            <a:r>
              <a:rPr lang="en-US" sz="800" spc="30" kern="0" dirty="0">
                <a:solidFill>
                  <a:srgbClr val="A89E88"/>
                </a:solidFill>
                <a:latin typeface="Carlito" pitchFamily="34" charset="0"/>
                <a:ea typeface="Carlito" pitchFamily="34" charset="-122"/>
                <a:cs typeface="Carlito" pitchFamily="34" charset="-120"/>
              </a:rPr>
              <a:t>Camp: the vataga’s memory, conversation and raid lineup</a:t>
            </a:r>
            <a:endParaRPr lang="en-US" sz="800" dirty="0"/>
          </a:p>
        </p:txBody>
      </p:sp>
      <p:sp>
        <p:nvSpPr>
          <p:cNvPr id="16" name="Text 13"/>
          <p:cNvSpPr/>
          <p:nvPr/>
        </p:nvSpPr>
        <p:spPr>
          <a:xfrm>
            <a:off x="4560615" y="2662833"/>
            <a:ext cx="4122613" cy="1993106"/>
          </a:xfrm>
          <a:prstGeom prst="roundRect">
            <a:avLst>
              <a:gd name="adj" fmla="val 3823"/>
            </a:avLst>
          </a:prstGeom>
          <a:solidFill>
            <a:srgbClr val="1B1817"/>
          </a:solidFill>
          <a:ln w="7144">
            <a:solidFill>
              <a:srgbClr val="E8DFC8"/>
            </a:solidFill>
            <a:prstDash val="solid"/>
          </a:ln>
        </p:spPr>
        <p:txBody>
          <a:bodyPr wrap="square" rtlCol="0" anchor="ctr"/>
          <a:lstStyle/>
          <a:p>
            <a:pPr indent="0" marL="0">
              <a:buNone/>
            </a:pPr>
            <a:endParaRPr lang="en-US" dirty="0"/>
          </a:p>
        </p:txBody>
      </p:sp>
      <p:pic>
        <p:nvPicPr>
          <p:cNvPr id="17" name="Image 1" descr="/tmp/h2p-fit-1792619797181-vme2g7.png">    </p:cNvPr>
          <p:cNvPicPr>
            <a:picLocks noChangeAspect="1"/>
          </p:cNvPicPr>
          <p:nvPr/>
        </p:nvPicPr>
        <p:blipFill>
          <a:blip r:embed="rId2"/>
          <a:stretch>
            <a:fillRect/>
          </a:stretch>
        </p:blipFill>
        <p:spPr>
          <a:xfrm>
            <a:off x="4564187" y="2666405"/>
            <a:ext cx="4115470" cy="1985963"/>
          </a:xfrm>
          <a:prstGeom prst="rect">
            <a:avLst/>
          </a:prstGeom>
        </p:spPr>
      </p:pic>
      <p:sp>
        <p:nvSpPr>
          <p:cNvPr id="18" name="Text 14"/>
          <p:cNvSpPr/>
          <p:nvPr/>
        </p:nvSpPr>
        <p:spPr>
          <a:xfrm>
            <a:off x="4557043" y="4716661"/>
            <a:ext cx="4129757" cy="164592"/>
          </a:xfrm>
          <a:prstGeom prst="rect">
            <a:avLst/>
          </a:prstGeom>
          <a:noFill/>
          <a:ln/>
        </p:spPr>
        <p:txBody>
          <a:bodyPr wrap="square" lIns="0" tIns="0" rIns="0" bIns="0" rtlCol="0" anchor="t"/>
          <a:lstStyle/>
          <a:p>
            <a:pPr algn="l" indent="0" marL="0">
              <a:lnSpc>
                <a:spcPts val="886"/>
              </a:lnSpc>
              <a:buNone/>
            </a:pPr>
            <a:r>
              <a:rPr lang="en-US" sz="800" spc="30" kern="0" dirty="0">
                <a:solidFill>
                  <a:srgbClr val="A89E88"/>
                </a:solidFill>
                <a:latin typeface="Carlito" pitchFamily="34" charset="0"/>
                <a:ea typeface="Carlito" pitchFamily="34" charset="-122"/>
                <a:cs typeface="Carlito" pitchFamily="34" charset="-120"/>
              </a:rPr>
              <a:t>Night: the Oath Pause, orders and four Zaritsa forms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457200" y="342900"/>
            <a:ext cx="6519445" cy="164592"/>
          </a:xfrm>
          <a:prstGeom prst="rect">
            <a:avLst/>
          </a:prstGeom>
          <a:noFill/>
          <a:ln/>
        </p:spPr>
        <p:txBody>
          <a:bodyPr wrap="none" lIns="0" tIns="0" rIns="0" bIns="0" rtlCol="0" anchor="t"/>
          <a:lstStyle/>
          <a:p>
            <a:pPr algn="l" indent="0" marL="0">
              <a:lnSpc>
                <a:spcPts val="1055"/>
              </a:lnSpc>
              <a:buNone/>
            </a:pPr>
            <a:r>
              <a:rPr lang="en-US" sz="800" spc="246" kern="0" dirty="0">
                <a:solidFill>
                  <a:srgbClr val="C94B4B"/>
                </a:solidFill>
                <a:latin typeface="Carlito" pitchFamily="34" charset="0"/>
                <a:ea typeface="Carlito" pitchFamily="34" charset="-122"/>
                <a:cs typeface="Carlito" pitchFamily="34" charset="-120"/>
              </a:rPr>
              <a:t>PRODUCTION PLAN</a:t>
            </a:r>
            <a:endParaRPr lang="en-US" sz="800" dirty="0"/>
          </a:p>
        </p:txBody>
      </p:sp>
      <p:sp>
        <p:nvSpPr>
          <p:cNvPr id="3" name="Text 1"/>
          <p:cNvSpPr/>
          <p:nvPr/>
        </p:nvSpPr>
        <p:spPr>
          <a:xfrm>
            <a:off x="457200" y="562570"/>
            <a:ext cx="5151860" cy="383231"/>
          </a:xfrm>
          <a:prstGeom prst="rect">
            <a:avLst/>
          </a:prstGeom>
          <a:noFill/>
          <a:ln/>
        </p:spPr>
        <p:txBody>
          <a:bodyPr wrap="square" lIns="0" tIns="0" rIns="0" bIns="0" rtlCol="0" anchor="t"/>
          <a:lstStyle/>
          <a:p>
            <a:pPr algn="l" indent="0" marL="0">
              <a:lnSpc>
                <a:spcPts val="2795"/>
              </a:lnSpc>
              <a:buNone/>
            </a:pPr>
            <a:r>
              <a:rPr lang="en-US" sz="2588" b="1" spc="26" kern="0" dirty="0">
                <a:solidFill>
                  <a:srgbClr val="E8DFC8"/>
                </a:solidFill>
                <a:latin typeface="Liberation Sans Narrow" pitchFamily="34" charset="0"/>
                <a:ea typeface="Liberation Sans Narrow" pitchFamily="34" charset="-122"/>
                <a:cs typeface="Liberation Sans Narrow" pitchFamily="34" charset="-120"/>
              </a:rPr>
              <a:t>Five years, five phases — $210M</a:t>
            </a:r>
            <a:endParaRPr lang="en-US" sz="2588" dirty="0"/>
          </a:p>
        </p:txBody>
      </p:sp>
      <p:sp>
        <p:nvSpPr>
          <p:cNvPr id="4" name="Shape 2"/>
          <p:cNvSpPr/>
          <p:nvPr/>
        </p:nvSpPr>
        <p:spPr>
          <a:xfrm>
            <a:off x="7115175" y="828117"/>
            <a:ext cx="1571625" cy="0"/>
          </a:xfrm>
          <a:prstGeom prst="line">
            <a:avLst/>
          </a:prstGeom>
          <a:noFill/>
          <a:ln w="7144">
            <a:solidFill>
              <a:srgbClr val="E8DFC8"/>
            </a:solidFill>
            <a:prstDash val="solid"/>
          </a:ln>
        </p:spPr>
      </p:sp>
      <p:sp>
        <p:nvSpPr>
          <p:cNvPr id="5" name="Text 3"/>
          <p:cNvSpPr/>
          <p:nvPr/>
        </p:nvSpPr>
        <p:spPr>
          <a:xfrm>
            <a:off x="460772" y="1174700"/>
            <a:ext cx="1547292" cy="1100361"/>
          </a:xfrm>
          <a:prstGeom prst="roundRect">
            <a:avLst>
              <a:gd name="adj" fmla="val 6925"/>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6" name="Text 4"/>
          <p:cNvSpPr/>
          <p:nvPr/>
        </p:nvSpPr>
        <p:spPr>
          <a:xfrm>
            <a:off x="571500" y="1292572"/>
            <a:ext cx="1325835" cy="216027"/>
          </a:xfrm>
          <a:prstGeom prst="rect">
            <a:avLst/>
          </a:prstGeom>
          <a:noFill/>
          <a:ln/>
        </p:spPr>
        <p:txBody>
          <a:bodyPr wrap="none" lIns="0" tIns="0" rIns="0" bIns="0" rtlCol="0" anchor="t"/>
          <a:lstStyle/>
          <a:p>
            <a:pPr algn="l" indent="0" marL="0">
              <a:lnSpc>
                <a:spcPts val="1575"/>
              </a:lnSpc>
              <a:buNone/>
            </a:pPr>
            <a:r>
              <a:rPr lang="en-US" sz="1575" dirty="0">
                <a:solidFill>
                  <a:srgbClr val="C0A774"/>
                </a:solidFill>
                <a:latin typeface="Liberation Sans Narrow" pitchFamily="34" charset="0"/>
                <a:ea typeface="Liberation Sans Narrow" pitchFamily="34" charset="-122"/>
                <a:cs typeface="Liberation Sans Narrow" pitchFamily="34" charset="-120"/>
              </a:rPr>
              <a:t>2027</a:t>
            </a:r>
            <a:endParaRPr lang="en-US" sz="1575" dirty="0"/>
          </a:p>
        </p:txBody>
      </p:sp>
      <p:sp>
        <p:nvSpPr>
          <p:cNvPr id="7" name="Text 5"/>
          <p:cNvSpPr/>
          <p:nvPr/>
        </p:nvSpPr>
        <p:spPr>
          <a:xfrm>
            <a:off x="571500" y="1556891"/>
            <a:ext cx="1325835" cy="156520"/>
          </a:xfrm>
          <a:prstGeom prst="rect">
            <a:avLst/>
          </a:prstGeom>
          <a:noFill/>
          <a:ln/>
        </p:spPr>
        <p:txBody>
          <a:bodyPr wrap="none" lIns="0" tIns="0" rIns="0" bIns="0" rtlCol="0" anchor="t">
            <a:normAutofit/>
          </a:bodyPr>
          <a:lstStyle/>
          <a:p>
            <a:pPr algn="l" indent="0" marL="0">
              <a:lnSpc>
                <a:spcPts val="1055"/>
              </a:lnSpc>
              <a:buNone/>
            </a:pPr>
            <a:r>
              <a:rPr lang="en-US" sz="800" spc="70" kern="0" dirty="0">
                <a:solidFill>
                  <a:srgbClr val="E8DFC8"/>
                </a:solidFill>
                <a:latin typeface="Tinos" pitchFamily="34" charset="0"/>
                <a:ea typeface="Tinos" pitchFamily="34" charset="-122"/>
                <a:cs typeface="Tinos" pitchFamily="34" charset="-120"/>
              </a:rPr>
              <a:t>PRE-PRODUCTION</a:t>
            </a:r>
            <a:endParaRPr lang="en-US" sz="800" dirty="0"/>
          </a:p>
        </p:txBody>
      </p:sp>
      <p:sp>
        <p:nvSpPr>
          <p:cNvPr id="8" name="Text 6"/>
          <p:cNvSpPr/>
          <p:nvPr/>
        </p:nvSpPr>
        <p:spPr>
          <a:xfrm>
            <a:off x="571500" y="1740843"/>
            <a:ext cx="1405385" cy="204963"/>
          </a:xfrm>
          <a:prstGeom prst="rect">
            <a:avLst/>
          </a:prstGeom>
          <a:noFill/>
          <a:ln/>
        </p:spPr>
        <p:txBody>
          <a:bodyPr wrap="square" lIns="0" tIns="0" rIns="0" bIns="0" rtlCol="0" anchor="t">
            <a:normAutofit/>
          </a:bodyPr>
          <a:lstStyle/>
          <a:p>
            <a:pPr algn="l" indent="0" marL="0">
              <a:lnSpc>
                <a:spcPts val="915"/>
              </a:lnSpc>
              <a:buNone/>
            </a:pPr>
            <a:r>
              <a:rPr lang="en-US" sz="800" dirty="0">
                <a:solidFill>
                  <a:srgbClr val="A89E88"/>
                </a:solidFill>
                <a:latin typeface="Carlito" pitchFamily="34" charset="0"/>
                <a:ea typeface="Carlito" pitchFamily="34" charset="-122"/>
                <a:cs typeface="Carlito" pitchFamily="34" charset="-120"/>
              </a:rPr>
              <a:t>vertical slice: Polesie, combat, vataga memory</a:t>
            </a:r>
            <a:endParaRPr lang="en-US" sz="800" dirty="0"/>
          </a:p>
        </p:txBody>
      </p:sp>
      <p:sp>
        <p:nvSpPr>
          <p:cNvPr id="9" name="Text 7"/>
          <p:cNvSpPr/>
          <p:nvPr/>
        </p:nvSpPr>
        <p:spPr>
          <a:xfrm>
            <a:off x="571500" y="1973238"/>
            <a:ext cx="1325835" cy="183952"/>
          </a:xfrm>
          <a:prstGeom prst="rect">
            <a:avLst/>
          </a:prstGeom>
          <a:noFill/>
          <a:ln/>
        </p:spPr>
        <p:txBody>
          <a:bodyPr wrap="none" lIns="0" tIns="71438" rIns="0" bIns="0" rtlCol="0" anchor="t"/>
          <a:lstStyle/>
          <a:p>
            <a:pPr algn="l" indent="0" marL="0">
              <a:lnSpc>
                <a:spcPts val="886"/>
              </a:lnSpc>
              <a:buNone/>
            </a:pPr>
            <a:r>
              <a:rPr lang="en-US" sz="800" spc="24" kern="0" dirty="0">
                <a:solidFill>
                  <a:srgbClr val="C94B4B"/>
                </a:solidFill>
                <a:latin typeface="Liberation Sans Narrow" pitchFamily="34" charset="0"/>
                <a:ea typeface="Liberation Sans Narrow" pitchFamily="34" charset="-122"/>
                <a:cs typeface="Liberation Sans Narrow" pitchFamily="34" charset="-120"/>
              </a:rPr>
              <a:t>90–120 staff</a:t>
            </a:r>
            <a:endParaRPr lang="en-US" sz="800" dirty="0"/>
          </a:p>
        </p:txBody>
      </p:sp>
      <p:sp>
        <p:nvSpPr>
          <p:cNvPr id="10" name="Text 8"/>
          <p:cNvSpPr/>
          <p:nvPr/>
        </p:nvSpPr>
        <p:spPr>
          <a:xfrm>
            <a:off x="2129507" y="1174700"/>
            <a:ext cx="1547292" cy="1100361"/>
          </a:xfrm>
          <a:prstGeom prst="roundRect">
            <a:avLst>
              <a:gd name="adj" fmla="val 6925"/>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1" name="Text 9"/>
          <p:cNvSpPr/>
          <p:nvPr/>
        </p:nvSpPr>
        <p:spPr>
          <a:xfrm>
            <a:off x="2240235" y="1292572"/>
            <a:ext cx="1325835" cy="216027"/>
          </a:xfrm>
          <a:prstGeom prst="rect">
            <a:avLst/>
          </a:prstGeom>
          <a:noFill/>
          <a:ln/>
        </p:spPr>
        <p:txBody>
          <a:bodyPr wrap="none" lIns="0" tIns="0" rIns="0" bIns="0" rtlCol="0" anchor="t"/>
          <a:lstStyle/>
          <a:p>
            <a:pPr algn="l" indent="0" marL="0">
              <a:lnSpc>
                <a:spcPts val="1575"/>
              </a:lnSpc>
              <a:buNone/>
            </a:pPr>
            <a:r>
              <a:rPr lang="en-US" sz="1575" dirty="0">
                <a:solidFill>
                  <a:srgbClr val="C0A774"/>
                </a:solidFill>
                <a:latin typeface="Liberation Sans Narrow" pitchFamily="34" charset="0"/>
                <a:ea typeface="Liberation Sans Narrow" pitchFamily="34" charset="-122"/>
                <a:cs typeface="Liberation Sans Narrow" pitchFamily="34" charset="-120"/>
              </a:rPr>
              <a:t>2028</a:t>
            </a:r>
            <a:endParaRPr lang="en-US" sz="1575" dirty="0"/>
          </a:p>
        </p:txBody>
      </p:sp>
      <p:sp>
        <p:nvSpPr>
          <p:cNvPr id="12" name="Text 10"/>
          <p:cNvSpPr/>
          <p:nvPr/>
        </p:nvSpPr>
        <p:spPr>
          <a:xfrm>
            <a:off x="2240235" y="1556891"/>
            <a:ext cx="1325835" cy="156520"/>
          </a:xfrm>
          <a:prstGeom prst="rect">
            <a:avLst/>
          </a:prstGeom>
          <a:noFill/>
          <a:ln/>
        </p:spPr>
        <p:txBody>
          <a:bodyPr wrap="none" lIns="0" tIns="0" rIns="0" bIns="0" rtlCol="0" anchor="t">
            <a:normAutofit/>
          </a:bodyPr>
          <a:lstStyle/>
          <a:p>
            <a:pPr algn="l" indent="0" marL="0">
              <a:lnSpc>
                <a:spcPts val="1055"/>
              </a:lnSpc>
              <a:buNone/>
            </a:pPr>
            <a:r>
              <a:rPr lang="en-US" sz="800" spc="70" kern="0" dirty="0">
                <a:solidFill>
                  <a:srgbClr val="E8DFC8"/>
                </a:solidFill>
                <a:latin typeface="Tinos" pitchFamily="34" charset="0"/>
                <a:ea typeface="Tinos" pitchFamily="34" charset="-122"/>
                <a:cs typeface="Tinos" pitchFamily="34" charset="-120"/>
              </a:rPr>
              <a:t>PRODUCTION I</a:t>
            </a:r>
            <a:endParaRPr lang="en-US" sz="800" dirty="0"/>
          </a:p>
        </p:txBody>
      </p:sp>
      <p:sp>
        <p:nvSpPr>
          <p:cNvPr id="13" name="Text 11"/>
          <p:cNvSpPr/>
          <p:nvPr/>
        </p:nvSpPr>
        <p:spPr>
          <a:xfrm>
            <a:off x="2240235" y="1740843"/>
            <a:ext cx="1405385" cy="204963"/>
          </a:xfrm>
          <a:prstGeom prst="rect">
            <a:avLst/>
          </a:prstGeom>
          <a:noFill/>
          <a:ln/>
        </p:spPr>
        <p:txBody>
          <a:bodyPr wrap="square" lIns="0" tIns="0" rIns="0" bIns="0" rtlCol="0" anchor="t">
            <a:normAutofit/>
          </a:bodyPr>
          <a:lstStyle/>
          <a:p>
            <a:pPr algn="l" indent="0" marL="0">
              <a:lnSpc>
                <a:spcPts val="915"/>
              </a:lnSpc>
              <a:buNone/>
            </a:pPr>
            <a:r>
              <a:rPr lang="en-US" sz="800" dirty="0">
                <a:solidFill>
                  <a:srgbClr val="A89E88"/>
                </a:solidFill>
                <a:latin typeface="Carlito" pitchFamily="34" charset="0"/>
                <a:ea typeface="Carlito" pitchFamily="34" charset="-122"/>
                <a:cs typeface="Carlito" pitchFamily="34" charset="-120"/>
              </a:rPr>
              <a:t>two regions, full bestiary, Betrayal Engine v1</a:t>
            </a:r>
            <a:endParaRPr lang="en-US" sz="800" dirty="0"/>
          </a:p>
        </p:txBody>
      </p:sp>
      <p:sp>
        <p:nvSpPr>
          <p:cNvPr id="14" name="Text 12"/>
          <p:cNvSpPr/>
          <p:nvPr/>
        </p:nvSpPr>
        <p:spPr>
          <a:xfrm>
            <a:off x="2240235" y="1973238"/>
            <a:ext cx="1325835" cy="183952"/>
          </a:xfrm>
          <a:prstGeom prst="rect">
            <a:avLst/>
          </a:prstGeom>
          <a:noFill/>
          <a:ln/>
        </p:spPr>
        <p:txBody>
          <a:bodyPr wrap="none" lIns="0" tIns="71438" rIns="0" bIns="0" rtlCol="0" anchor="t"/>
          <a:lstStyle/>
          <a:p>
            <a:pPr algn="l" indent="0" marL="0">
              <a:lnSpc>
                <a:spcPts val="886"/>
              </a:lnSpc>
              <a:buNone/>
            </a:pPr>
            <a:r>
              <a:rPr lang="en-US" sz="800" spc="24" kern="0" dirty="0">
                <a:solidFill>
                  <a:srgbClr val="C94B4B"/>
                </a:solidFill>
                <a:latin typeface="Liberation Sans Narrow" pitchFamily="34" charset="0"/>
                <a:ea typeface="Liberation Sans Narrow" pitchFamily="34" charset="-122"/>
                <a:cs typeface="Liberation Sans Narrow" pitchFamily="34" charset="-120"/>
              </a:rPr>
              <a:t>240–300 staff</a:t>
            </a:r>
            <a:endParaRPr lang="en-US" sz="800" dirty="0"/>
          </a:p>
        </p:txBody>
      </p:sp>
      <p:sp>
        <p:nvSpPr>
          <p:cNvPr id="15" name="Text 13"/>
          <p:cNvSpPr/>
          <p:nvPr/>
        </p:nvSpPr>
        <p:spPr>
          <a:xfrm>
            <a:off x="3798243" y="1174700"/>
            <a:ext cx="1547403" cy="1100361"/>
          </a:xfrm>
          <a:prstGeom prst="roundRect">
            <a:avLst>
              <a:gd name="adj" fmla="val 6925"/>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16" name="Text 14"/>
          <p:cNvSpPr/>
          <p:nvPr/>
        </p:nvSpPr>
        <p:spPr>
          <a:xfrm>
            <a:off x="3908971" y="1292572"/>
            <a:ext cx="1325947" cy="216027"/>
          </a:xfrm>
          <a:prstGeom prst="rect">
            <a:avLst/>
          </a:prstGeom>
          <a:noFill/>
          <a:ln/>
        </p:spPr>
        <p:txBody>
          <a:bodyPr wrap="none" lIns="0" tIns="0" rIns="0" bIns="0" rtlCol="0" anchor="t"/>
          <a:lstStyle/>
          <a:p>
            <a:pPr algn="l" indent="0" marL="0">
              <a:lnSpc>
                <a:spcPts val="1575"/>
              </a:lnSpc>
              <a:buNone/>
            </a:pPr>
            <a:r>
              <a:rPr lang="en-US" sz="1575" dirty="0">
                <a:solidFill>
                  <a:srgbClr val="C0A774"/>
                </a:solidFill>
                <a:latin typeface="Liberation Sans Narrow" pitchFamily="34" charset="0"/>
                <a:ea typeface="Liberation Sans Narrow" pitchFamily="34" charset="-122"/>
                <a:cs typeface="Liberation Sans Narrow" pitchFamily="34" charset="-120"/>
              </a:rPr>
              <a:t>2029</a:t>
            </a:r>
            <a:endParaRPr lang="en-US" sz="1575" dirty="0"/>
          </a:p>
        </p:txBody>
      </p:sp>
      <p:sp>
        <p:nvSpPr>
          <p:cNvPr id="17" name="Text 15"/>
          <p:cNvSpPr/>
          <p:nvPr/>
        </p:nvSpPr>
        <p:spPr>
          <a:xfrm>
            <a:off x="3908971" y="1556891"/>
            <a:ext cx="1325947" cy="156520"/>
          </a:xfrm>
          <a:prstGeom prst="rect">
            <a:avLst/>
          </a:prstGeom>
          <a:noFill/>
          <a:ln/>
        </p:spPr>
        <p:txBody>
          <a:bodyPr wrap="none" lIns="0" tIns="0" rIns="0" bIns="0" rtlCol="0" anchor="t">
            <a:normAutofit/>
          </a:bodyPr>
          <a:lstStyle/>
          <a:p>
            <a:pPr algn="l" indent="0" marL="0">
              <a:lnSpc>
                <a:spcPts val="1055"/>
              </a:lnSpc>
              <a:buNone/>
            </a:pPr>
            <a:r>
              <a:rPr lang="en-US" sz="800" spc="70" kern="0" dirty="0">
                <a:solidFill>
                  <a:srgbClr val="E8DFC8"/>
                </a:solidFill>
                <a:latin typeface="Tinos" pitchFamily="34" charset="0"/>
                <a:ea typeface="Tinos" pitchFamily="34" charset="-122"/>
                <a:cs typeface="Tinos" pitchFamily="34" charset="-120"/>
              </a:rPr>
              <a:t>PRODUCTION II</a:t>
            </a:r>
            <a:endParaRPr lang="en-US" sz="800" dirty="0"/>
          </a:p>
        </p:txBody>
      </p:sp>
      <p:sp>
        <p:nvSpPr>
          <p:cNvPr id="18" name="Text 16"/>
          <p:cNvSpPr/>
          <p:nvPr/>
        </p:nvSpPr>
        <p:spPr>
          <a:xfrm>
            <a:off x="3908971" y="1740843"/>
            <a:ext cx="1405504" cy="204963"/>
          </a:xfrm>
          <a:prstGeom prst="rect">
            <a:avLst/>
          </a:prstGeom>
          <a:noFill/>
          <a:ln/>
        </p:spPr>
        <p:txBody>
          <a:bodyPr wrap="square" lIns="0" tIns="0" rIns="0" bIns="0" rtlCol="0" anchor="t">
            <a:normAutofit/>
          </a:bodyPr>
          <a:lstStyle/>
          <a:p>
            <a:pPr algn="l" indent="0" marL="0">
              <a:lnSpc>
                <a:spcPts val="915"/>
              </a:lnSpc>
              <a:buNone/>
            </a:pPr>
            <a:r>
              <a:rPr lang="en-US" sz="800" dirty="0">
                <a:solidFill>
                  <a:srgbClr val="A89E88"/>
                </a:solidFill>
                <a:latin typeface="Carlito" pitchFamily="34" charset="0"/>
                <a:ea typeface="Carlito" pitchFamily="34" charset="-122"/>
                <a:cs typeface="Carlito" pitchFamily="34" charset="-120"/>
              </a:rPr>
              <a:t>all five regions, voiced story skeleton, co-op alpha</a:t>
            </a:r>
            <a:endParaRPr lang="en-US" sz="800" dirty="0"/>
          </a:p>
        </p:txBody>
      </p:sp>
      <p:sp>
        <p:nvSpPr>
          <p:cNvPr id="19" name="Text 17"/>
          <p:cNvSpPr/>
          <p:nvPr/>
        </p:nvSpPr>
        <p:spPr>
          <a:xfrm>
            <a:off x="3908971" y="1973238"/>
            <a:ext cx="1325947" cy="183952"/>
          </a:xfrm>
          <a:prstGeom prst="rect">
            <a:avLst/>
          </a:prstGeom>
          <a:noFill/>
          <a:ln/>
        </p:spPr>
        <p:txBody>
          <a:bodyPr wrap="none" lIns="0" tIns="71438" rIns="0" bIns="0" rtlCol="0" anchor="t"/>
          <a:lstStyle/>
          <a:p>
            <a:pPr algn="l" indent="0" marL="0">
              <a:lnSpc>
                <a:spcPts val="886"/>
              </a:lnSpc>
              <a:buNone/>
            </a:pPr>
            <a:r>
              <a:rPr lang="en-US" sz="800" spc="24" kern="0" dirty="0">
                <a:solidFill>
                  <a:srgbClr val="C94B4B"/>
                </a:solidFill>
                <a:latin typeface="Liberation Sans Narrow" pitchFamily="34" charset="0"/>
                <a:ea typeface="Liberation Sans Narrow" pitchFamily="34" charset="-122"/>
                <a:cs typeface="Liberation Sans Narrow" pitchFamily="34" charset="-120"/>
              </a:rPr>
              <a:t>360–420 staff</a:t>
            </a:r>
            <a:endParaRPr lang="en-US" sz="800" dirty="0"/>
          </a:p>
        </p:txBody>
      </p:sp>
      <p:sp>
        <p:nvSpPr>
          <p:cNvPr id="20" name="Text 18"/>
          <p:cNvSpPr/>
          <p:nvPr/>
        </p:nvSpPr>
        <p:spPr>
          <a:xfrm>
            <a:off x="5467090" y="1174700"/>
            <a:ext cx="1547292" cy="1100361"/>
          </a:xfrm>
          <a:prstGeom prst="roundRect">
            <a:avLst>
              <a:gd name="adj" fmla="val 6925"/>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21" name="Text 19"/>
          <p:cNvSpPr/>
          <p:nvPr/>
        </p:nvSpPr>
        <p:spPr>
          <a:xfrm>
            <a:off x="5577818" y="1292572"/>
            <a:ext cx="1325835" cy="216027"/>
          </a:xfrm>
          <a:prstGeom prst="rect">
            <a:avLst/>
          </a:prstGeom>
          <a:noFill/>
          <a:ln/>
        </p:spPr>
        <p:txBody>
          <a:bodyPr wrap="none" lIns="0" tIns="0" rIns="0" bIns="0" rtlCol="0" anchor="t"/>
          <a:lstStyle/>
          <a:p>
            <a:pPr algn="l" indent="0" marL="0">
              <a:lnSpc>
                <a:spcPts val="1575"/>
              </a:lnSpc>
              <a:buNone/>
            </a:pPr>
            <a:r>
              <a:rPr lang="en-US" sz="1575" dirty="0">
                <a:solidFill>
                  <a:srgbClr val="C0A774"/>
                </a:solidFill>
                <a:latin typeface="Liberation Sans Narrow" pitchFamily="34" charset="0"/>
                <a:ea typeface="Liberation Sans Narrow" pitchFamily="34" charset="-122"/>
                <a:cs typeface="Liberation Sans Narrow" pitchFamily="34" charset="-120"/>
              </a:rPr>
              <a:t>2030</a:t>
            </a:r>
            <a:endParaRPr lang="en-US" sz="1575" dirty="0"/>
          </a:p>
        </p:txBody>
      </p:sp>
      <p:sp>
        <p:nvSpPr>
          <p:cNvPr id="22" name="Text 20"/>
          <p:cNvSpPr/>
          <p:nvPr/>
        </p:nvSpPr>
        <p:spPr>
          <a:xfrm>
            <a:off x="5577818" y="1556891"/>
            <a:ext cx="1325835" cy="156520"/>
          </a:xfrm>
          <a:prstGeom prst="rect">
            <a:avLst/>
          </a:prstGeom>
          <a:noFill/>
          <a:ln/>
        </p:spPr>
        <p:txBody>
          <a:bodyPr wrap="none" lIns="0" tIns="0" rIns="0" bIns="0" rtlCol="0" anchor="t">
            <a:normAutofit/>
          </a:bodyPr>
          <a:lstStyle/>
          <a:p>
            <a:pPr algn="l" indent="0" marL="0">
              <a:lnSpc>
                <a:spcPts val="1055"/>
              </a:lnSpc>
              <a:buNone/>
            </a:pPr>
            <a:r>
              <a:rPr lang="en-US" sz="800" spc="70" kern="0" dirty="0">
                <a:solidFill>
                  <a:srgbClr val="E8DFC8"/>
                </a:solidFill>
                <a:latin typeface="Tinos" pitchFamily="34" charset="0"/>
                <a:ea typeface="Tinos" pitchFamily="34" charset="-122"/>
                <a:cs typeface="Tinos" pitchFamily="34" charset="-120"/>
              </a:rPr>
              <a:t>ALPHA &amp; BETA</a:t>
            </a:r>
            <a:endParaRPr lang="en-US" sz="800" dirty="0"/>
          </a:p>
        </p:txBody>
      </p:sp>
      <p:sp>
        <p:nvSpPr>
          <p:cNvPr id="23" name="Text 21"/>
          <p:cNvSpPr/>
          <p:nvPr/>
        </p:nvSpPr>
        <p:spPr>
          <a:xfrm>
            <a:off x="5577818" y="1740843"/>
            <a:ext cx="1405385" cy="204963"/>
          </a:xfrm>
          <a:prstGeom prst="rect">
            <a:avLst/>
          </a:prstGeom>
          <a:noFill/>
          <a:ln/>
        </p:spPr>
        <p:txBody>
          <a:bodyPr wrap="square" lIns="0" tIns="0" rIns="0" bIns="0" rtlCol="0" anchor="t">
            <a:normAutofit/>
          </a:bodyPr>
          <a:lstStyle/>
          <a:p>
            <a:pPr algn="l" indent="0" marL="0">
              <a:lnSpc>
                <a:spcPts val="915"/>
              </a:lnSpc>
              <a:buNone/>
            </a:pPr>
            <a:r>
              <a:rPr lang="en-US" sz="800" dirty="0">
                <a:solidFill>
                  <a:srgbClr val="A89E88"/>
                </a:solidFill>
                <a:latin typeface="Carlito" pitchFamily="34" charset="0"/>
                <a:ea typeface="Carlito" pitchFamily="34" charset="-122"/>
                <a:cs typeface="Carlito" pitchFamily="34" charset="-120"/>
              </a:rPr>
              <a:t>content lock, balancing, co-op beta, localization</a:t>
            </a:r>
            <a:endParaRPr lang="en-US" sz="800" dirty="0"/>
          </a:p>
        </p:txBody>
      </p:sp>
      <p:sp>
        <p:nvSpPr>
          <p:cNvPr id="24" name="Text 22"/>
          <p:cNvSpPr/>
          <p:nvPr/>
        </p:nvSpPr>
        <p:spPr>
          <a:xfrm>
            <a:off x="5577818" y="1973238"/>
            <a:ext cx="1325835" cy="183952"/>
          </a:xfrm>
          <a:prstGeom prst="rect">
            <a:avLst/>
          </a:prstGeom>
          <a:noFill/>
          <a:ln/>
        </p:spPr>
        <p:txBody>
          <a:bodyPr wrap="none" lIns="0" tIns="71438" rIns="0" bIns="0" rtlCol="0" anchor="t"/>
          <a:lstStyle/>
          <a:p>
            <a:pPr algn="l" indent="0" marL="0">
              <a:lnSpc>
                <a:spcPts val="886"/>
              </a:lnSpc>
              <a:buNone/>
            </a:pPr>
            <a:r>
              <a:rPr lang="en-US" sz="800" spc="24" kern="0" dirty="0">
                <a:solidFill>
                  <a:srgbClr val="C94B4B"/>
                </a:solidFill>
                <a:latin typeface="Liberation Sans Narrow" pitchFamily="34" charset="0"/>
                <a:ea typeface="Liberation Sans Narrow" pitchFamily="34" charset="-122"/>
                <a:cs typeface="Liberation Sans Narrow" pitchFamily="34" charset="-120"/>
              </a:rPr>
              <a:t>420–450 staff</a:t>
            </a:r>
            <a:endParaRPr lang="en-US" sz="800" dirty="0"/>
          </a:p>
        </p:txBody>
      </p:sp>
      <p:sp>
        <p:nvSpPr>
          <p:cNvPr id="25" name="Text 23"/>
          <p:cNvSpPr/>
          <p:nvPr/>
        </p:nvSpPr>
        <p:spPr>
          <a:xfrm>
            <a:off x="7135825" y="1174700"/>
            <a:ext cx="1547403" cy="1100361"/>
          </a:xfrm>
          <a:prstGeom prst="roundRect">
            <a:avLst>
              <a:gd name="adj" fmla="val 6925"/>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26" name="Text 24"/>
          <p:cNvSpPr/>
          <p:nvPr/>
        </p:nvSpPr>
        <p:spPr>
          <a:xfrm>
            <a:off x="7246553" y="1292572"/>
            <a:ext cx="1325947" cy="216027"/>
          </a:xfrm>
          <a:prstGeom prst="rect">
            <a:avLst/>
          </a:prstGeom>
          <a:noFill/>
          <a:ln/>
        </p:spPr>
        <p:txBody>
          <a:bodyPr wrap="none" lIns="0" tIns="0" rIns="0" bIns="0" rtlCol="0" anchor="t"/>
          <a:lstStyle/>
          <a:p>
            <a:pPr algn="l" indent="0" marL="0">
              <a:lnSpc>
                <a:spcPts val="1575"/>
              </a:lnSpc>
              <a:buNone/>
            </a:pPr>
            <a:r>
              <a:rPr lang="en-US" sz="1575" dirty="0">
                <a:solidFill>
                  <a:srgbClr val="C0A774"/>
                </a:solidFill>
                <a:latin typeface="Liberation Sans Narrow" pitchFamily="34" charset="0"/>
                <a:ea typeface="Liberation Sans Narrow" pitchFamily="34" charset="-122"/>
                <a:cs typeface="Liberation Sans Narrow" pitchFamily="34" charset="-120"/>
              </a:rPr>
              <a:t>2031</a:t>
            </a:r>
            <a:endParaRPr lang="en-US" sz="1575" dirty="0"/>
          </a:p>
        </p:txBody>
      </p:sp>
      <p:sp>
        <p:nvSpPr>
          <p:cNvPr id="27" name="Text 25"/>
          <p:cNvSpPr/>
          <p:nvPr/>
        </p:nvSpPr>
        <p:spPr>
          <a:xfrm>
            <a:off x="7246553" y="1556891"/>
            <a:ext cx="1325947" cy="156520"/>
          </a:xfrm>
          <a:prstGeom prst="rect">
            <a:avLst/>
          </a:prstGeom>
          <a:noFill/>
          <a:ln/>
        </p:spPr>
        <p:txBody>
          <a:bodyPr wrap="none" lIns="0" tIns="0" rIns="0" bIns="0" rtlCol="0" anchor="t">
            <a:normAutofit/>
          </a:bodyPr>
          <a:lstStyle/>
          <a:p>
            <a:pPr algn="l" indent="0" marL="0">
              <a:lnSpc>
                <a:spcPts val="1055"/>
              </a:lnSpc>
              <a:buNone/>
            </a:pPr>
            <a:r>
              <a:rPr lang="en-US" sz="800" spc="70" kern="0" dirty="0">
                <a:solidFill>
                  <a:srgbClr val="E8DFC8"/>
                </a:solidFill>
                <a:latin typeface="Tinos" pitchFamily="34" charset="0"/>
                <a:ea typeface="Tinos" pitchFamily="34" charset="-122"/>
                <a:cs typeface="Tinos" pitchFamily="34" charset="-120"/>
              </a:rPr>
              <a:t>RELEASE</a:t>
            </a:r>
            <a:endParaRPr lang="en-US" sz="800" dirty="0"/>
          </a:p>
        </p:txBody>
      </p:sp>
      <p:sp>
        <p:nvSpPr>
          <p:cNvPr id="28" name="Text 26"/>
          <p:cNvSpPr/>
          <p:nvPr/>
        </p:nvSpPr>
        <p:spPr>
          <a:xfrm>
            <a:off x="7246553" y="1740843"/>
            <a:ext cx="1405504" cy="204963"/>
          </a:xfrm>
          <a:prstGeom prst="rect">
            <a:avLst/>
          </a:prstGeom>
          <a:noFill/>
          <a:ln/>
        </p:spPr>
        <p:txBody>
          <a:bodyPr wrap="square" lIns="0" tIns="0" rIns="0" bIns="0" rtlCol="0" anchor="t">
            <a:normAutofit/>
          </a:bodyPr>
          <a:lstStyle/>
          <a:p>
            <a:pPr algn="l" indent="0" marL="0">
              <a:lnSpc>
                <a:spcPts val="915"/>
              </a:lnSpc>
              <a:buNone/>
            </a:pPr>
            <a:r>
              <a:rPr lang="en-US" sz="800" dirty="0">
                <a:solidFill>
                  <a:srgbClr val="A89E88"/>
                </a:solidFill>
                <a:latin typeface="Carlito" pitchFamily="34" charset="0"/>
                <a:ea typeface="Carlito" pitchFamily="34" charset="-122"/>
                <a:cs typeface="Carlito" pitchFamily="34" charset="-120"/>
              </a:rPr>
              <a:t>optimization, certification, marketing campaign</a:t>
            </a:r>
            <a:endParaRPr lang="en-US" sz="800" dirty="0"/>
          </a:p>
        </p:txBody>
      </p:sp>
      <p:sp>
        <p:nvSpPr>
          <p:cNvPr id="29" name="Text 27"/>
          <p:cNvSpPr/>
          <p:nvPr/>
        </p:nvSpPr>
        <p:spPr>
          <a:xfrm>
            <a:off x="7246553" y="1973238"/>
            <a:ext cx="1325947" cy="183952"/>
          </a:xfrm>
          <a:prstGeom prst="rect">
            <a:avLst/>
          </a:prstGeom>
          <a:noFill/>
          <a:ln/>
        </p:spPr>
        <p:txBody>
          <a:bodyPr wrap="none" lIns="0" tIns="71438" rIns="0" bIns="0" rtlCol="0" anchor="t"/>
          <a:lstStyle/>
          <a:p>
            <a:pPr algn="l" indent="0" marL="0">
              <a:lnSpc>
                <a:spcPts val="886"/>
              </a:lnSpc>
              <a:buNone/>
            </a:pPr>
            <a:r>
              <a:rPr lang="en-US" sz="800" spc="24" kern="0" dirty="0">
                <a:solidFill>
                  <a:srgbClr val="C94B4B"/>
                </a:solidFill>
                <a:latin typeface="Liberation Sans Narrow" pitchFamily="34" charset="0"/>
                <a:ea typeface="Liberation Sans Narrow" pitchFamily="34" charset="-122"/>
                <a:cs typeface="Liberation Sans Narrow" pitchFamily="34" charset="-120"/>
              </a:rPr>
              <a:t>400 → 150 staff</a:t>
            </a:r>
            <a:endParaRPr lang="en-US" sz="800" dirty="0"/>
          </a:p>
        </p:txBody>
      </p:sp>
      <p:sp>
        <p:nvSpPr>
          <p:cNvPr id="30" name="Text 28"/>
          <p:cNvSpPr/>
          <p:nvPr/>
        </p:nvSpPr>
        <p:spPr>
          <a:xfrm>
            <a:off x="457200" y="2532348"/>
            <a:ext cx="1287888" cy="164592"/>
          </a:xfrm>
          <a:prstGeom prst="rect">
            <a:avLst/>
          </a:prstGeom>
          <a:noFill/>
          <a:ln/>
        </p:spPr>
        <p:txBody>
          <a:bodyPr wrap="none" lIns="0" tIns="0" rIns="0" bIns="0" rtlCol="0" anchor="t"/>
          <a:lstStyle/>
          <a:p>
            <a:pPr algn="l" indent="0" marL="0">
              <a:lnSpc>
                <a:spcPts val="886"/>
              </a:lnSpc>
              <a:buNone/>
            </a:pPr>
            <a:r>
              <a:rPr lang="en-US" sz="800" spc="177" kern="0" dirty="0">
                <a:solidFill>
                  <a:srgbClr val="C0A774"/>
                </a:solidFill>
                <a:latin typeface="Liberation Sans Narrow" pitchFamily="34" charset="0"/>
                <a:ea typeface="Liberation Sans Narrow" pitchFamily="34" charset="-122"/>
                <a:cs typeface="Liberation Sans Narrow" pitchFamily="34" charset="-120"/>
              </a:rPr>
              <a:t>BUDGET: $210M</a:t>
            </a:r>
            <a:endParaRPr lang="en-US" sz="800" dirty="0"/>
          </a:p>
        </p:txBody>
      </p:sp>
      <p:sp>
        <p:nvSpPr>
          <p:cNvPr id="31" name="Shape 29"/>
          <p:cNvSpPr/>
          <p:nvPr/>
        </p:nvSpPr>
        <p:spPr>
          <a:xfrm>
            <a:off x="1461901" y="2588605"/>
            <a:ext cx="7224899" cy="0"/>
          </a:xfrm>
          <a:prstGeom prst="line">
            <a:avLst/>
          </a:prstGeom>
          <a:noFill/>
          <a:ln w="7144">
            <a:solidFill>
              <a:srgbClr val="E8DFC8"/>
            </a:solidFill>
            <a:prstDash val="solid"/>
          </a:ln>
        </p:spPr>
      </p:sp>
      <p:sp>
        <p:nvSpPr>
          <p:cNvPr id="32" name="Text 30"/>
          <p:cNvSpPr/>
          <p:nvPr/>
        </p:nvSpPr>
        <p:spPr>
          <a:xfrm>
            <a:off x="457200" y="2744874"/>
            <a:ext cx="7756438" cy="164592"/>
          </a:xfrm>
          <a:prstGeom prst="rect">
            <a:avLst/>
          </a:prstGeom>
          <a:noFill/>
          <a:ln/>
        </p:spPr>
        <p:txBody>
          <a:bodyPr wrap="square" lIns="0" tIns="0" rIns="0" bIns="0" rtlCol="0" anchor="t"/>
          <a:lstStyle/>
          <a:p>
            <a:pPr algn="l" indent="0" marL="0">
              <a:lnSpc>
                <a:spcPts val="1055"/>
              </a:lnSpc>
              <a:buNone/>
            </a:pPr>
            <a:r>
              <a:rPr lang="en-US" sz="800" dirty="0">
                <a:solidFill>
                  <a:srgbClr val="E8DFC8"/>
                </a:solidFill>
                <a:latin typeface="Carlito" pitchFamily="34" charset="0"/>
                <a:ea typeface="Carlito" pitchFamily="34" charset="-122"/>
                <a:cs typeface="Carlito" pitchFamily="34" charset="-120"/>
              </a:rPr>
              <a:t>Content</a:t>
            </a:r>
            <a:endParaRPr lang="en-US" sz="800" dirty="0"/>
          </a:p>
        </p:txBody>
      </p:sp>
      <p:sp>
        <p:nvSpPr>
          <p:cNvPr id="33" name="Text 31"/>
          <p:cNvSpPr/>
          <p:nvPr/>
        </p:nvSpPr>
        <p:spPr>
          <a:xfrm>
            <a:off x="8208290" y="2744874"/>
            <a:ext cx="577072" cy="164592"/>
          </a:xfrm>
          <a:prstGeom prst="rect">
            <a:avLst/>
          </a:prstGeom>
          <a:noFill/>
          <a:ln/>
        </p:spPr>
        <p:txBody>
          <a:bodyPr wrap="none" lIns="0" tIns="0" rIns="0" bIns="0" rtlCol="0" anchor="t"/>
          <a:lstStyle/>
          <a:p>
            <a:pPr algn="l" indent="0" marL="0">
              <a:lnSpc>
                <a:spcPts val="1055"/>
              </a:lnSpc>
              <a:buNone/>
            </a:pPr>
            <a:r>
              <a:rPr lang="en-US" sz="703" dirty="0">
                <a:solidFill>
                  <a:srgbClr val="C0A774"/>
                </a:solidFill>
                <a:latin typeface="Liberation Sans Narrow" pitchFamily="34" charset="0"/>
                <a:ea typeface="Liberation Sans Narrow" pitchFamily="34" charset="-122"/>
                <a:cs typeface="Liberation Sans Narrow" pitchFamily="34" charset="-120"/>
              </a:rPr>
              <a:t>$97M (46%)</a:t>
            </a:r>
            <a:endParaRPr lang="en-US" sz="703" dirty="0"/>
          </a:p>
        </p:txBody>
      </p:sp>
      <p:sp>
        <p:nvSpPr>
          <p:cNvPr id="34" name="Text 32"/>
          <p:cNvSpPr/>
          <p:nvPr/>
        </p:nvSpPr>
        <p:spPr>
          <a:xfrm>
            <a:off x="457200" y="2914538"/>
            <a:ext cx="8229600" cy="57150"/>
          </a:xfrm>
          <a:prstGeom prst="roundRect">
            <a:avLst>
              <a:gd name="adj" fmla="val 66667"/>
            </a:avLst>
          </a:prstGeom>
          <a:solidFill>
            <a:srgbClr val="241F1B"/>
          </a:solidFill>
          <a:ln/>
        </p:spPr>
        <p:txBody>
          <a:bodyPr wrap="square" rtlCol="0" anchor="ctr"/>
          <a:lstStyle/>
          <a:p>
            <a:pPr indent="0" marL="0">
              <a:buNone/>
            </a:pPr>
            <a:endParaRPr lang="en-US" dirty="0"/>
          </a:p>
        </p:txBody>
      </p:sp>
      <p:sp>
        <p:nvSpPr>
          <p:cNvPr id="35" name="Text 33"/>
          <p:cNvSpPr/>
          <p:nvPr/>
        </p:nvSpPr>
        <p:spPr>
          <a:xfrm>
            <a:off x="457200" y="2914538"/>
            <a:ext cx="3785518" cy="57150"/>
          </a:xfrm>
          <a:prstGeom prst="roundRect">
            <a:avLst>
              <a:gd name="adj" fmla="val 66667"/>
            </a:avLst>
          </a:prstGeom>
          <a:solidFill>
            <a:srgbClr val="A82727"/>
          </a:solidFill>
          <a:ln/>
        </p:spPr>
        <p:txBody>
          <a:bodyPr wrap="square" rtlCol="0" anchor="ctr"/>
          <a:lstStyle/>
          <a:p>
            <a:pPr indent="0" marL="0">
              <a:buNone/>
            </a:pPr>
            <a:endParaRPr lang="en-US" dirty="0"/>
          </a:p>
        </p:txBody>
      </p:sp>
      <p:sp>
        <p:nvSpPr>
          <p:cNvPr id="36" name="Text 34"/>
          <p:cNvSpPr/>
          <p:nvPr/>
        </p:nvSpPr>
        <p:spPr>
          <a:xfrm>
            <a:off x="457200" y="3050270"/>
            <a:ext cx="7756438" cy="164592"/>
          </a:xfrm>
          <a:prstGeom prst="rect">
            <a:avLst/>
          </a:prstGeom>
          <a:noFill/>
          <a:ln/>
        </p:spPr>
        <p:txBody>
          <a:bodyPr wrap="square" lIns="0" tIns="0" rIns="0" bIns="0" rtlCol="0" anchor="t"/>
          <a:lstStyle/>
          <a:p>
            <a:pPr algn="l" indent="0" marL="0">
              <a:lnSpc>
                <a:spcPts val="1055"/>
              </a:lnSpc>
              <a:buNone/>
            </a:pPr>
            <a:r>
              <a:rPr lang="en-US" sz="800" dirty="0">
                <a:solidFill>
                  <a:srgbClr val="E8DFC8"/>
                </a:solidFill>
                <a:latin typeface="Carlito" pitchFamily="34" charset="0"/>
                <a:ea typeface="Carlito" pitchFamily="34" charset="-122"/>
                <a:cs typeface="Carlito" pitchFamily="34" charset="-120"/>
              </a:rPr>
              <a:t>Marketing</a:t>
            </a:r>
            <a:endParaRPr lang="en-US" sz="800" dirty="0"/>
          </a:p>
        </p:txBody>
      </p:sp>
      <p:sp>
        <p:nvSpPr>
          <p:cNvPr id="37" name="Text 35"/>
          <p:cNvSpPr/>
          <p:nvPr/>
        </p:nvSpPr>
        <p:spPr>
          <a:xfrm>
            <a:off x="8208290" y="3050270"/>
            <a:ext cx="577072" cy="164592"/>
          </a:xfrm>
          <a:prstGeom prst="rect">
            <a:avLst/>
          </a:prstGeom>
          <a:noFill/>
          <a:ln/>
        </p:spPr>
        <p:txBody>
          <a:bodyPr wrap="none" lIns="0" tIns="0" rIns="0" bIns="0" rtlCol="0" anchor="t"/>
          <a:lstStyle/>
          <a:p>
            <a:pPr algn="l" indent="0" marL="0">
              <a:lnSpc>
                <a:spcPts val="1055"/>
              </a:lnSpc>
              <a:buNone/>
            </a:pPr>
            <a:r>
              <a:rPr lang="en-US" sz="703" dirty="0">
                <a:solidFill>
                  <a:srgbClr val="C0A774"/>
                </a:solidFill>
                <a:latin typeface="Liberation Sans Narrow" pitchFamily="34" charset="0"/>
                <a:ea typeface="Liberation Sans Narrow" pitchFamily="34" charset="-122"/>
                <a:cs typeface="Liberation Sans Narrow" pitchFamily="34" charset="-120"/>
              </a:rPr>
              <a:t>$44M (21%)</a:t>
            </a:r>
            <a:endParaRPr lang="en-US" sz="703" dirty="0"/>
          </a:p>
        </p:txBody>
      </p:sp>
      <p:sp>
        <p:nvSpPr>
          <p:cNvPr id="38" name="Text 36"/>
          <p:cNvSpPr/>
          <p:nvPr/>
        </p:nvSpPr>
        <p:spPr>
          <a:xfrm>
            <a:off x="457200" y="3219934"/>
            <a:ext cx="8229600" cy="57150"/>
          </a:xfrm>
          <a:prstGeom prst="roundRect">
            <a:avLst>
              <a:gd name="adj" fmla="val 66667"/>
            </a:avLst>
          </a:prstGeom>
          <a:solidFill>
            <a:srgbClr val="241F1B"/>
          </a:solidFill>
          <a:ln/>
        </p:spPr>
        <p:txBody>
          <a:bodyPr wrap="square" rtlCol="0" anchor="ctr"/>
          <a:lstStyle/>
          <a:p>
            <a:pPr indent="0" marL="0">
              <a:buNone/>
            </a:pPr>
            <a:endParaRPr lang="en-US" dirty="0"/>
          </a:p>
        </p:txBody>
      </p:sp>
      <p:sp>
        <p:nvSpPr>
          <p:cNvPr id="39" name="Text 37"/>
          <p:cNvSpPr/>
          <p:nvPr/>
        </p:nvSpPr>
        <p:spPr>
          <a:xfrm>
            <a:off x="457200" y="3219934"/>
            <a:ext cx="1728118" cy="57150"/>
          </a:xfrm>
          <a:prstGeom prst="roundRect">
            <a:avLst>
              <a:gd name="adj" fmla="val 66667"/>
            </a:avLst>
          </a:prstGeom>
          <a:solidFill>
            <a:srgbClr val="A82727"/>
          </a:solidFill>
          <a:ln/>
        </p:spPr>
        <p:txBody>
          <a:bodyPr wrap="square" rtlCol="0" anchor="ctr"/>
          <a:lstStyle/>
          <a:p>
            <a:pPr indent="0" marL="0">
              <a:buNone/>
            </a:pPr>
            <a:endParaRPr lang="en-US" dirty="0"/>
          </a:p>
        </p:txBody>
      </p:sp>
      <p:sp>
        <p:nvSpPr>
          <p:cNvPr id="40" name="Text 38"/>
          <p:cNvSpPr/>
          <p:nvPr/>
        </p:nvSpPr>
        <p:spPr>
          <a:xfrm>
            <a:off x="457200" y="3355665"/>
            <a:ext cx="7756438" cy="164592"/>
          </a:xfrm>
          <a:prstGeom prst="rect">
            <a:avLst/>
          </a:prstGeom>
          <a:noFill/>
          <a:ln/>
        </p:spPr>
        <p:txBody>
          <a:bodyPr wrap="square" lIns="0" tIns="0" rIns="0" bIns="0" rtlCol="0" anchor="t"/>
          <a:lstStyle/>
          <a:p>
            <a:pPr algn="l" indent="0" marL="0">
              <a:lnSpc>
                <a:spcPts val="1055"/>
              </a:lnSpc>
              <a:buNone/>
            </a:pPr>
            <a:r>
              <a:rPr lang="en-US" sz="800" dirty="0">
                <a:solidFill>
                  <a:srgbClr val="E8DFC8"/>
                </a:solidFill>
                <a:latin typeface="Carlito" pitchFamily="34" charset="0"/>
                <a:ea typeface="Carlito" pitchFamily="34" charset="-122"/>
                <a:cs typeface="Carlito" pitchFamily="34" charset="-120"/>
              </a:rPr>
              <a:t>Engine &amp; co-op tech</a:t>
            </a:r>
            <a:endParaRPr lang="en-US" sz="800" dirty="0"/>
          </a:p>
        </p:txBody>
      </p:sp>
      <p:sp>
        <p:nvSpPr>
          <p:cNvPr id="41" name="Text 39"/>
          <p:cNvSpPr/>
          <p:nvPr/>
        </p:nvSpPr>
        <p:spPr>
          <a:xfrm>
            <a:off x="8208290" y="3355665"/>
            <a:ext cx="577072" cy="164592"/>
          </a:xfrm>
          <a:prstGeom prst="rect">
            <a:avLst/>
          </a:prstGeom>
          <a:noFill/>
          <a:ln/>
        </p:spPr>
        <p:txBody>
          <a:bodyPr wrap="none" lIns="0" tIns="0" rIns="0" bIns="0" rtlCol="0" anchor="t"/>
          <a:lstStyle/>
          <a:p>
            <a:pPr algn="l" indent="0" marL="0">
              <a:lnSpc>
                <a:spcPts val="1055"/>
              </a:lnSpc>
              <a:buNone/>
            </a:pPr>
            <a:r>
              <a:rPr lang="en-US" sz="703" dirty="0">
                <a:solidFill>
                  <a:srgbClr val="C0A774"/>
                </a:solidFill>
                <a:latin typeface="Liberation Sans Narrow" pitchFamily="34" charset="0"/>
                <a:ea typeface="Liberation Sans Narrow" pitchFamily="34" charset="-122"/>
                <a:cs typeface="Liberation Sans Narrow" pitchFamily="34" charset="-120"/>
              </a:rPr>
              <a:t>$25M (12%)</a:t>
            </a:r>
            <a:endParaRPr lang="en-US" sz="703" dirty="0"/>
          </a:p>
        </p:txBody>
      </p:sp>
      <p:sp>
        <p:nvSpPr>
          <p:cNvPr id="42" name="Text 40"/>
          <p:cNvSpPr/>
          <p:nvPr/>
        </p:nvSpPr>
        <p:spPr>
          <a:xfrm>
            <a:off x="457200" y="3525329"/>
            <a:ext cx="8229600" cy="57150"/>
          </a:xfrm>
          <a:prstGeom prst="roundRect">
            <a:avLst>
              <a:gd name="adj" fmla="val 66667"/>
            </a:avLst>
          </a:prstGeom>
          <a:solidFill>
            <a:srgbClr val="241F1B"/>
          </a:solidFill>
          <a:ln/>
        </p:spPr>
        <p:txBody>
          <a:bodyPr wrap="square" rtlCol="0" anchor="ctr"/>
          <a:lstStyle/>
          <a:p>
            <a:pPr indent="0" marL="0">
              <a:buNone/>
            </a:pPr>
            <a:endParaRPr lang="en-US" dirty="0"/>
          </a:p>
        </p:txBody>
      </p:sp>
      <p:sp>
        <p:nvSpPr>
          <p:cNvPr id="43" name="Text 41"/>
          <p:cNvSpPr/>
          <p:nvPr/>
        </p:nvSpPr>
        <p:spPr>
          <a:xfrm>
            <a:off x="457200" y="3525329"/>
            <a:ext cx="987512" cy="57150"/>
          </a:xfrm>
          <a:prstGeom prst="roundRect">
            <a:avLst>
              <a:gd name="adj" fmla="val 66667"/>
            </a:avLst>
          </a:prstGeom>
          <a:solidFill>
            <a:srgbClr val="A82727"/>
          </a:solidFill>
          <a:ln/>
        </p:spPr>
        <p:txBody>
          <a:bodyPr wrap="square" rtlCol="0" anchor="ctr"/>
          <a:lstStyle/>
          <a:p>
            <a:pPr indent="0" marL="0">
              <a:buNone/>
            </a:pPr>
            <a:endParaRPr lang="en-US" dirty="0"/>
          </a:p>
        </p:txBody>
      </p:sp>
      <p:sp>
        <p:nvSpPr>
          <p:cNvPr id="44" name="Text 42"/>
          <p:cNvSpPr/>
          <p:nvPr/>
        </p:nvSpPr>
        <p:spPr>
          <a:xfrm>
            <a:off x="457200" y="3661060"/>
            <a:ext cx="7801087" cy="164592"/>
          </a:xfrm>
          <a:prstGeom prst="rect">
            <a:avLst/>
          </a:prstGeom>
          <a:noFill/>
          <a:ln/>
        </p:spPr>
        <p:txBody>
          <a:bodyPr wrap="square" lIns="0" tIns="0" rIns="0" bIns="0" rtlCol="0" anchor="t"/>
          <a:lstStyle/>
          <a:p>
            <a:pPr algn="l" indent="0" marL="0">
              <a:lnSpc>
                <a:spcPts val="1055"/>
              </a:lnSpc>
              <a:buNone/>
            </a:pPr>
            <a:r>
              <a:rPr lang="en-US" sz="800" dirty="0">
                <a:solidFill>
                  <a:srgbClr val="E8DFC8"/>
                </a:solidFill>
                <a:latin typeface="Carlito" pitchFamily="34" charset="0"/>
                <a:ea typeface="Carlito" pitchFamily="34" charset="-122"/>
                <a:cs typeface="Carlito" pitchFamily="34" charset="-120"/>
              </a:rPr>
              <a:t>Live support &amp; first DLC</a:t>
            </a:r>
            <a:endParaRPr lang="en-US" sz="800" dirty="0"/>
          </a:p>
        </p:txBody>
      </p:sp>
      <p:sp>
        <p:nvSpPr>
          <p:cNvPr id="45" name="Text 43"/>
          <p:cNvSpPr/>
          <p:nvPr/>
        </p:nvSpPr>
        <p:spPr>
          <a:xfrm>
            <a:off x="8246554" y="3661060"/>
            <a:ext cx="582249" cy="164592"/>
          </a:xfrm>
          <a:prstGeom prst="rect">
            <a:avLst/>
          </a:prstGeom>
          <a:noFill/>
          <a:ln/>
        </p:spPr>
        <p:txBody>
          <a:bodyPr wrap="none" lIns="0" tIns="0" rIns="0" bIns="0" rtlCol="0" anchor="t"/>
          <a:lstStyle/>
          <a:p>
            <a:pPr algn="l" indent="0" marL="0">
              <a:lnSpc>
                <a:spcPts val="1055"/>
              </a:lnSpc>
              <a:buNone/>
            </a:pPr>
            <a:r>
              <a:rPr lang="en-US" sz="800" dirty="0">
                <a:solidFill>
                  <a:srgbClr val="C0A774"/>
                </a:solidFill>
                <a:latin typeface="Liberation Sans Narrow" pitchFamily="34" charset="0"/>
                <a:ea typeface="Liberation Sans Narrow" pitchFamily="34" charset="-122"/>
                <a:cs typeface="Liberation Sans Narrow" pitchFamily="34" charset="-120"/>
              </a:rPr>
              <a:t>$19M (9%)</a:t>
            </a:r>
            <a:endParaRPr lang="en-US" sz="800" dirty="0"/>
          </a:p>
        </p:txBody>
      </p:sp>
      <p:sp>
        <p:nvSpPr>
          <p:cNvPr id="46" name="Text 44"/>
          <p:cNvSpPr/>
          <p:nvPr/>
        </p:nvSpPr>
        <p:spPr>
          <a:xfrm>
            <a:off x="457200" y="3830724"/>
            <a:ext cx="8229600" cy="57150"/>
          </a:xfrm>
          <a:prstGeom prst="roundRect">
            <a:avLst>
              <a:gd name="adj" fmla="val 66667"/>
            </a:avLst>
          </a:prstGeom>
          <a:solidFill>
            <a:srgbClr val="241F1B"/>
          </a:solidFill>
          <a:ln/>
        </p:spPr>
        <p:txBody>
          <a:bodyPr wrap="square" rtlCol="0" anchor="ctr"/>
          <a:lstStyle/>
          <a:p>
            <a:pPr indent="0" marL="0">
              <a:buNone/>
            </a:pPr>
            <a:endParaRPr lang="en-US" dirty="0"/>
          </a:p>
        </p:txBody>
      </p:sp>
      <p:sp>
        <p:nvSpPr>
          <p:cNvPr id="47" name="Text 45"/>
          <p:cNvSpPr/>
          <p:nvPr/>
        </p:nvSpPr>
        <p:spPr>
          <a:xfrm>
            <a:off x="457200" y="3830724"/>
            <a:ext cx="740606" cy="57150"/>
          </a:xfrm>
          <a:prstGeom prst="roundRect">
            <a:avLst>
              <a:gd name="adj" fmla="val 66667"/>
            </a:avLst>
          </a:prstGeom>
          <a:solidFill>
            <a:srgbClr val="A82727"/>
          </a:solidFill>
          <a:ln/>
        </p:spPr>
        <p:txBody>
          <a:bodyPr wrap="square" rtlCol="0" anchor="ctr"/>
          <a:lstStyle/>
          <a:p>
            <a:pPr indent="0" marL="0">
              <a:buNone/>
            </a:pPr>
            <a:endParaRPr lang="en-US" dirty="0"/>
          </a:p>
        </p:txBody>
      </p:sp>
      <p:sp>
        <p:nvSpPr>
          <p:cNvPr id="48" name="Text 46"/>
          <p:cNvSpPr/>
          <p:nvPr/>
        </p:nvSpPr>
        <p:spPr>
          <a:xfrm>
            <a:off x="457200" y="3966456"/>
            <a:ext cx="7801087" cy="164592"/>
          </a:xfrm>
          <a:prstGeom prst="rect">
            <a:avLst/>
          </a:prstGeom>
          <a:noFill/>
          <a:ln/>
        </p:spPr>
        <p:txBody>
          <a:bodyPr wrap="square" lIns="0" tIns="0" rIns="0" bIns="0" rtlCol="0" anchor="t"/>
          <a:lstStyle/>
          <a:p>
            <a:pPr algn="l" indent="0" marL="0">
              <a:lnSpc>
                <a:spcPts val="1055"/>
              </a:lnSpc>
              <a:buNone/>
            </a:pPr>
            <a:r>
              <a:rPr lang="en-US" sz="800" dirty="0">
                <a:solidFill>
                  <a:srgbClr val="E8DFC8"/>
                </a:solidFill>
                <a:latin typeface="Liberation Sans Narrow" pitchFamily="34" charset="0"/>
                <a:ea typeface="Liberation Sans Narrow" pitchFamily="34" charset="-122"/>
                <a:cs typeface="Liberation Sans Narrow" pitchFamily="34" charset="-120"/>
              </a:rPr>
              <a:t>Audio &amp; 6 voice-over languages</a:t>
            </a:r>
            <a:endParaRPr lang="en-US" sz="800" dirty="0"/>
          </a:p>
        </p:txBody>
      </p:sp>
      <p:sp>
        <p:nvSpPr>
          <p:cNvPr id="49" name="Text 47"/>
          <p:cNvSpPr/>
          <p:nvPr/>
        </p:nvSpPr>
        <p:spPr>
          <a:xfrm>
            <a:off x="8246554" y="3966456"/>
            <a:ext cx="582249" cy="164592"/>
          </a:xfrm>
          <a:prstGeom prst="rect">
            <a:avLst/>
          </a:prstGeom>
          <a:noFill/>
          <a:ln/>
        </p:spPr>
        <p:txBody>
          <a:bodyPr wrap="none" lIns="0" tIns="0" rIns="0" bIns="0" rtlCol="0" anchor="t"/>
          <a:lstStyle/>
          <a:p>
            <a:pPr algn="l" indent="0" marL="0">
              <a:lnSpc>
                <a:spcPts val="1055"/>
              </a:lnSpc>
              <a:buNone/>
            </a:pPr>
            <a:r>
              <a:rPr lang="en-US" sz="800" dirty="0">
                <a:solidFill>
                  <a:srgbClr val="C0A774"/>
                </a:solidFill>
                <a:latin typeface="Liberation Sans Narrow" pitchFamily="34" charset="0"/>
                <a:ea typeface="Liberation Sans Narrow" pitchFamily="34" charset="-122"/>
                <a:cs typeface="Liberation Sans Narrow" pitchFamily="34" charset="-120"/>
              </a:rPr>
              <a:t>$17M (8%)</a:t>
            </a:r>
            <a:endParaRPr lang="en-US" sz="800" dirty="0"/>
          </a:p>
        </p:txBody>
      </p:sp>
      <p:sp>
        <p:nvSpPr>
          <p:cNvPr id="50" name="Text 48"/>
          <p:cNvSpPr/>
          <p:nvPr/>
        </p:nvSpPr>
        <p:spPr>
          <a:xfrm>
            <a:off x="457200" y="4136120"/>
            <a:ext cx="8229600" cy="57150"/>
          </a:xfrm>
          <a:prstGeom prst="roundRect">
            <a:avLst>
              <a:gd name="adj" fmla="val 66667"/>
            </a:avLst>
          </a:prstGeom>
          <a:solidFill>
            <a:srgbClr val="241F1B"/>
          </a:solidFill>
          <a:ln/>
        </p:spPr>
        <p:txBody>
          <a:bodyPr wrap="square" rtlCol="0" anchor="ctr"/>
          <a:lstStyle/>
          <a:p>
            <a:pPr indent="0" marL="0">
              <a:buNone/>
            </a:pPr>
            <a:endParaRPr lang="en-US" dirty="0"/>
          </a:p>
        </p:txBody>
      </p:sp>
      <p:sp>
        <p:nvSpPr>
          <p:cNvPr id="51" name="Text 49"/>
          <p:cNvSpPr/>
          <p:nvPr/>
        </p:nvSpPr>
        <p:spPr>
          <a:xfrm>
            <a:off x="457200" y="4136120"/>
            <a:ext cx="658341" cy="57150"/>
          </a:xfrm>
          <a:prstGeom prst="roundRect">
            <a:avLst>
              <a:gd name="adj" fmla="val 66667"/>
            </a:avLst>
          </a:prstGeom>
          <a:solidFill>
            <a:srgbClr val="A82727"/>
          </a:solidFill>
          <a:ln/>
        </p:spPr>
        <p:txBody>
          <a:bodyPr wrap="square" rtlCol="0" anchor="ctr"/>
          <a:lstStyle/>
          <a:p>
            <a:pPr indent="0" marL="0">
              <a:buNone/>
            </a:pPr>
            <a:endParaRPr lang="en-US" dirty="0"/>
          </a:p>
        </p:txBody>
      </p:sp>
      <p:sp>
        <p:nvSpPr>
          <p:cNvPr id="52" name="Text 50"/>
          <p:cNvSpPr/>
          <p:nvPr/>
        </p:nvSpPr>
        <p:spPr>
          <a:xfrm>
            <a:off x="457200" y="4271851"/>
            <a:ext cx="7845735" cy="164592"/>
          </a:xfrm>
          <a:prstGeom prst="rect">
            <a:avLst/>
          </a:prstGeom>
          <a:noFill/>
          <a:ln/>
        </p:spPr>
        <p:txBody>
          <a:bodyPr wrap="square" lIns="0" tIns="0" rIns="0" bIns="0" rtlCol="0" anchor="t"/>
          <a:lstStyle/>
          <a:p>
            <a:pPr algn="l" indent="0" marL="0">
              <a:lnSpc>
                <a:spcPts val="1055"/>
              </a:lnSpc>
              <a:buNone/>
            </a:pPr>
            <a:r>
              <a:rPr lang="en-US" sz="800" dirty="0">
                <a:solidFill>
                  <a:srgbClr val="E8DFC8"/>
                </a:solidFill>
                <a:latin typeface="Carlito" pitchFamily="34" charset="0"/>
                <a:ea typeface="Carlito" pitchFamily="34" charset="-122"/>
                <a:cs typeface="Carlito" pitchFamily="34" charset="-120"/>
              </a:rPr>
              <a:t>Contingency</a:t>
            </a:r>
            <a:endParaRPr lang="en-US" sz="800" dirty="0"/>
          </a:p>
        </p:txBody>
      </p:sp>
      <p:sp>
        <p:nvSpPr>
          <p:cNvPr id="53" name="Text 51"/>
          <p:cNvSpPr/>
          <p:nvPr/>
        </p:nvSpPr>
        <p:spPr>
          <a:xfrm>
            <a:off x="8299793" y="4271851"/>
            <a:ext cx="507919" cy="164592"/>
          </a:xfrm>
          <a:prstGeom prst="rect">
            <a:avLst/>
          </a:prstGeom>
          <a:noFill/>
          <a:ln/>
        </p:spPr>
        <p:txBody>
          <a:bodyPr wrap="none" lIns="0" tIns="0" rIns="0" bIns="0" rtlCol="0" anchor="t"/>
          <a:lstStyle/>
          <a:p>
            <a:pPr algn="l" indent="0" marL="0">
              <a:lnSpc>
                <a:spcPts val="1055"/>
              </a:lnSpc>
              <a:buNone/>
            </a:pPr>
            <a:r>
              <a:rPr lang="en-US" sz="800" dirty="0">
                <a:solidFill>
                  <a:srgbClr val="C0A774"/>
                </a:solidFill>
                <a:latin typeface="Liberation Sans Narrow" pitchFamily="34" charset="0"/>
                <a:ea typeface="Liberation Sans Narrow" pitchFamily="34" charset="-122"/>
                <a:cs typeface="Liberation Sans Narrow" pitchFamily="34" charset="-120"/>
              </a:rPr>
              <a:t>$8M (4%)</a:t>
            </a:r>
            <a:endParaRPr lang="en-US" sz="800" dirty="0"/>
          </a:p>
        </p:txBody>
      </p:sp>
      <p:sp>
        <p:nvSpPr>
          <p:cNvPr id="54" name="Text 52"/>
          <p:cNvSpPr/>
          <p:nvPr/>
        </p:nvSpPr>
        <p:spPr>
          <a:xfrm>
            <a:off x="457200" y="4441515"/>
            <a:ext cx="8229600" cy="57150"/>
          </a:xfrm>
          <a:prstGeom prst="roundRect">
            <a:avLst>
              <a:gd name="adj" fmla="val 66667"/>
            </a:avLst>
          </a:prstGeom>
          <a:solidFill>
            <a:srgbClr val="241F1B"/>
          </a:solidFill>
          <a:ln/>
        </p:spPr>
        <p:txBody>
          <a:bodyPr wrap="square" rtlCol="0" anchor="ctr"/>
          <a:lstStyle/>
          <a:p>
            <a:pPr indent="0" marL="0">
              <a:buNone/>
            </a:pPr>
            <a:endParaRPr lang="en-US" dirty="0"/>
          </a:p>
        </p:txBody>
      </p:sp>
      <p:sp>
        <p:nvSpPr>
          <p:cNvPr id="55" name="Text 53"/>
          <p:cNvSpPr/>
          <p:nvPr/>
        </p:nvSpPr>
        <p:spPr>
          <a:xfrm>
            <a:off x="457200" y="4441515"/>
            <a:ext cx="329171" cy="57150"/>
          </a:xfrm>
          <a:prstGeom prst="roundRect">
            <a:avLst>
              <a:gd name="adj" fmla="val 66667"/>
            </a:avLst>
          </a:prstGeom>
          <a:solidFill>
            <a:srgbClr val="A82727"/>
          </a:solidFill>
          <a:ln/>
        </p:spPr>
        <p:txBody>
          <a:bodyPr wrap="square" rtlCol="0" anchor="ctr"/>
          <a:lstStyle/>
          <a:p>
            <a:pPr indent="0" marL="0">
              <a:buNone/>
            </a:pPr>
            <a:endParaRPr lang="en-US" dirty="0"/>
          </a:p>
        </p:txBody>
      </p:sp>
      <p:sp>
        <p:nvSpPr>
          <p:cNvPr id="56" name="Text 54"/>
          <p:cNvSpPr/>
          <p:nvPr/>
        </p:nvSpPr>
        <p:spPr>
          <a:xfrm>
            <a:off x="457200" y="4752380"/>
            <a:ext cx="8229600" cy="164592"/>
          </a:xfrm>
          <a:prstGeom prst="rect">
            <a:avLst/>
          </a:prstGeom>
          <a:noFill/>
          <a:ln/>
        </p:spPr>
        <p:txBody>
          <a:bodyPr wrap="square" lIns="0" tIns="0" rIns="0" bIns="0" rtlCol="0" anchor="t"/>
          <a:lstStyle/>
          <a:p>
            <a:pPr algn="l" indent="0" marL="0">
              <a:lnSpc>
                <a:spcPts val="1055"/>
              </a:lnSpc>
              <a:buNone/>
            </a:pPr>
            <a:r>
              <a:rPr lang="en-US" sz="800" i="1" dirty="0">
                <a:solidFill>
                  <a:srgbClr val="A89E88"/>
                </a:solidFill>
                <a:latin typeface="Carlito" pitchFamily="34" charset="0"/>
                <a:ea typeface="Carlito" pitchFamily="34" charset="-122"/>
                <a:cs typeface="Carlito" pitchFamily="34" charset="-120"/>
              </a:rPr>
              <a:t>A dedicated team of 14 has been building the Betrayal Engine since day one — the project’s riskiest and most valuable system.</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1111"/>
        </a:solidFill>
      </p:bgPr>
    </p:bg>
    <p:spTree>
      <p:nvGrpSpPr>
        <p:cNvPr id="1" name=""/>
        <p:cNvGrpSpPr/>
        <p:nvPr/>
      </p:nvGrpSpPr>
      <p:grpSpPr>
        <a:xfrm>
          <a:off x="0" y="0"/>
          <a:ext cx="0" cy="0"/>
          <a:chOff x="0" y="0"/>
          <a:chExt cx="0" cy="0"/>
        </a:xfrm>
      </p:grpSpPr>
      <p:sp>
        <p:nvSpPr>
          <p:cNvPr id="2" name="Text 0"/>
          <p:cNvSpPr/>
          <p:nvPr/>
        </p:nvSpPr>
        <p:spPr>
          <a:xfrm>
            <a:off x="514350" y="371475"/>
            <a:ext cx="8629650" cy="164592"/>
          </a:xfrm>
          <a:prstGeom prst="rect">
            <a:avLst/>
          </a:prstGeom>
          <a:noFill/>
          <a:ln/>
        </p:spPr>
        <p:txBody>
          <a:bodyPr wrap="none" lIns="0" tIns="0" rIns="0" bIns="0" rtlCol="0" anchor="t"/>
          <a:lstStyle/>
          <a:p>
            <a:pPr algn="l" indent="0" marL="0">
              <a:lnSpc>
                <a:spcPts val="1055"/>
              </a:lnSpc>
              <a:buNone/>
            </a:pPr>
            <a:r>
              <a:rPr lang="en-US" sz="800" spc="246" kern="0" dirty="0">
                <a:solidFill>
                  <a:srgbClr val="C94B4B"/>
                </a:solidFill>
                <a:latin typeface="Carlito" pitchFamily="34" charset="0"/>
                <a:ea typeface="Carlito" pitchFamily="34" charset="-122"/>
                <a:cs typeface="Carlito" pitchFamily="34" charset="-120"/>
              </a:rPr>
              <a:t>THE ASK</a:t>
            </a:r>
            <a:endParaRPr lang="en-US" sz="800" dirty="0"/>
          </a:p>
        </p:txBody>
      </p:sp>
      <p:sp>
        <p:nvSpPr>
          <p:cNvPr id="3" name="Text 1"/>
          <p:cNvSpPr/>
          <p:nvPr/>
        </p:nvSpPr>
        <p:spPr>
          <a:xfrm>
            <a:off x="514350" y="605433"/>
            <a:ext cx="8521065" cy="383231"/>
          </a:xfrm>
          <a:prstGeom prst="rect">
            <a:avLst/>
          </a:prstGeom>
          <a:noFill/>
          <a:ln/>
        </p:spPr>
        <p:txBody>
          <a:bodyPr wrap="none" lIns="0" tIns="0" rIns="0" bIns="0" rtlCol="0" anchor="t"/>
          <a:lstStyle/>
          <a:p>
            <a:pPr algn="l" indent="0" marL="0">
              <a:lnSpc>
                <a:spcPts val="2795"/>
              </a:lnSpc>
              <a:buNone/>
            </a:pPr>
            <a:r>
              <a:rPr lang="en-US" sz="2588" b="1" spc="26" kern="0" dirty="0">
                <a:solidFill>
                  <a:srgbClr val="E8DFC8"/>
                </a:solidFill>
                <a:latin typeface="Tinos" pitchFamily="34" charset="0"/>
                <a:ea typeface="Tinos" pitchFamily="34" charset="-122"/>
                <a:cs typeface="Tinos" pitchFamily="34" charset="-120"/>
              </a:rPr>
              <a:t>What we are asking for</a:t>
            </a:r>
            <a:endParaRPr lang="en-US" sz="2588" dirty="0"/>
          </a:p>
        </p:txBody>
      </p:sp>
      <p:sp>
        <p:nvSpPr>
          <p:cNvPr id="4" name="Text 2"/>
          <p:cNvSpPr/>
          <p:nvPr/>
        </p:nvSpPr>
        <p:spPr>
          <a:xfrm>
            <a:off x="517922" y="1149586"/>
            <a:ext cx="8108156" cy="1032272"/>
          </a:xfrm>
          <a:prstGeom prst="roundRect">
            <a:avLst>
              <a:gd name="adj" fmla="val 7382"/>
            </a:avLst>
          </a:prstGeom>
          <a:solidFill>
            <a:srgbClr val="241F1B"/>
          </a:solidFill>
          <a:ln w="7144">
            <a:solidFill>
              <a:srgbClr val="E8DFC8"/>
            </a:solidFill>
            <a:prstDash val="solid"/>
          </a:ln>
        </p:spPr>
        <p:txBody>
          <a:bodyPr wrap="square" rtlCol="0" anchor="ctr"/>
          <a:lstStyle/>
          <a:p>
            <a:pPr indent="0" marL="0">
              <a:buNone/>
            </a:pPr>
            <a:endParaRPr lang="en-US" dirty="0"/>
          </a:p>
        </p:txBody>
      </p:sp>
      <p:sp>
        <p:nvSpPr>
          <p:cNvPr id="5" name="Text 3"/>
          <p:cNvSpPr/>
          <p:nvPr/>
        </p:nvSpPr>
        <p:spPr>
          <a:xfrm>
            <a:off x="2724559" y="1353183"/>
            <a:ext cx="3694881" cy="625078"/>
          </a:xfrm>
          <a:prstGeom prst="rect">
            <a:avLst/>
          </a:prstGeom>
          <a:noFill/>
          <a:ln/>
        </p:spPr>
        <p:txBody>
          <a:bodyPr wrap="square" lIns="0" tIns="0" rIns="0" bIns="0" rtlCol="0" anchor="t"/>
          <a:lstStyle/>
          <a:p>
            <a:pPr algn="l" indent="0" marL="0">
              <a:lnSpc>
                <a:spcPts val="1969"/>
              </a:lnSpc>
              <a:buNone/>
            </a:pPr>
            <a:r>
              <a:rPr lang="en-US" sz="844" dirty="0">
                <a:solidFill>
                  <a:srgbClr val="E8DFC8"/>
                </a:solidFill>
                <a:latin typeface="Carlito" pitchFamily="34" charset="0"/>
                <a:ea typeface="Carlito" pitchFamily="34" charset="-122"/>
                <a:cs typeface="Carlito" pitchFamily="34" charset="-120"/>
              </a:rPr>
              <a:t>Financing of full production — </a:t>
            </a:r>
            <a:pPr algn="l" indent="0" marL="0">
              <a:lnSpc>
                <a:spcPts val="1969"/>
              </a:lnSpc>
              <a:buNone/>
            </a:pPr>
            <a:r>
              <a:rPr lang="en-US" sz="1125" dirty="0">
                <a:solidFill>
                  <a:srgbClr val="C0A774"/>
                </a:solidFill>
                <a:latin typeface="Liberation Sans Narrow" pitchFamily="34" charset="0"/>
                <a:ea typeface="Liberation Sans Narrow" pitchFamily="34" charset="-122"/>
                <a:cs typeface="Liberation Sans Narrow" pitchFamily="34" charset="-120"/>
              </a:rPr>
              <a:t>$210 million</a:t>
            </a:r>
            <a:pPr algn="l" indent="0" marL="0">
              <a:lnSpc>
                <a:spcPts val="1969"/>
              </a:lnSpc>
              <a:buNone/>
            </a:pPr>
            <a:r>
              <a:rPr lang="en-US" sz="844" dirty="0">
                <a:solidFill>
                  <a:srgbClr val="E8DFC8"/>
                </a:solidFill>
                <a:latin typeface="Carlito" pitchFamily="34" charset="0"/>
                <a:ea typeface="Carlito" pitchFamily="34" charset="-122"/>
                <a:cs typeface="Carlito" pitchFamily="34" charset="-120"/>
              </a:rPr>
              <a:t>, staged across the 2027–2031 phases. The publisher leads marketing, distribution and certification; the studio owns narrative and the Betrayal Engine.</a:t>
            </a:r>
            <a:endParaRPr lang="en-US" sz="844" dirty="0"/>
          </a:p>
        </p:txBody>
      </p:sp>
      <p:sp>
        <p:nvSpPr>
          <p:cNvPr id="6" name="Text 4"/>
          <p:cNvSpPr/>
          <p:nvPr/>
        </p:nvSpPr>
        <p:spPr>
          <a:xfrm>
            <a:off x="517922" y="2360451"/>
            <a:ext cx="3979069" cy="2216907"/>
          </a:xfrm>
          <a:prstGeom prst="roundRect">
            <a:avLst>
              <a:gd name="adj" fmla="val 343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7" name="Text 5"/>
          <p:cNvSpPr/>
          <p:nvPr/>
        </p:nvSpPr>
        <p:spPr>
          <a:xfrm>
            <a:off x="721519" y="2535473"/>
            <a:ext cx="3571875" cy="219885"/>
          </a:xfrm>
          <a:prstGeom prst="rect">
            <a:avLst/>
          </a:prstGeom>
          <a:noFill/>
          <a:ln/>
        </p:spPr>
        <p:txBody>
          <a:bodyPr wrap="none" lIns="0" tIns="0" rIns="0" bIns="0" rtlCol="0" anchor="t"/>
          <a:lstStyle/>
          <a:p>
            <a:pPr algn="l" indent="0" marL="0">
              <a:lnSpc>
                <a:spcPts val="1603"/>
              </a:lnSpc>
              <a:buNone/>
            </a:pPr>
            <a:r>
              <a:rPr lang="en-US" sz="1069" dirty="0">
                <a:solidFill>
                  <a:srgbClr val="E8DFC8"/>
                </a:solidFill>
                <a:latin typeface="Tinos" pitchFamily="34" charset="0"/>
                <a:ea typeface="Tinos" pitchFamily="34" charset="-122"/>
                <a:cs typeface="Tinos" pitchFamily="34" charset="-120"/>
              </a:rPr>
              <a:t>Vataga Games studio</a:t>
            </a:r>
            <a:endParaRPr lang="en-US" sz="1069" dirty="0"/>
          </a:p>
        </p:txBody>
      </p:sp>
      <p:sp>
        <p:nvSpPr>
          <p:cNvPr id="8" name="Shape 6"/>
          <p:cNvSpPr/>
          <p:nvPr/>
        </p:nvSpPr>
        <p:spPr>
          <a:xfrm>
            <a:off x="721519" y="2828367"/>
            <a:ext cx="457200" cy="0"/>
          </a:xfrm>
          <a:prstGeom prst="line">
            <a:avLst/>
          </a:prstGeom>
          <a:noFill/>
          <a:ln w="7144">
            <a:solidFill>
              <a:srgbClr val="E8DFC8"/>
            </a:solidFill>
            <a:prstDash val="solid"/>
          </a:ln>
        </p:spPr>
      </p:sp>
      <p:sp>
        <p:nvSpPr>
          <p:cNvPr id="9" name="Text 7"/>
          <p:cNvSpPr/>
          <p:nvPr/>
        </p:nvSpPr>
        <p:spPr>
          <a:xfrm>
            <a:off x="697727" y="2974814"/>
            <a:ext cx="836253" cy="354902"/>
          </a:xfrm>
          <a:prstGeom prst="rect">
            <a:avLst/>
          </a:prstGeom>
          <a:noFill/>
          <a:ln/>
        </p:spPr>
        <p:txBody>
          <a:bodyPr wrap="none" lIns="0" tIns="0" rIns="0" bIns="0" rtlCol="0" anchor="t"/>
          <a:lstStyle/>
          <a:p>
            <a:pPr algn="l" indent="0" marL="0">
              <a:lnSpc>
                <a:spcPts val="2588"/>
              </a:lnSpc>
              <a:buNone/>
            </a:pPr>
            <a:r>
              <a:rPr lang="en-US" sz="2588" dirty="0">
                <a:solidFill>
                  <a:srgbClr val="C0A774"/>
                </a:solidFill>
                <a:latin typeface="Liberation Sans Narrow" pitchFamily="34" charset="0"/>
                <a:ea typeface="Liberation Sans Narrow" pitchFamily="34" charset="-122"/>
                <a:cs typeface="Liberation Sans Narrow" pitchFamily="34" charset="-120"/>
              </a:rPr>
              <a:t>220</a:t>
            </a:r>
            <a:endParaRPr lang="en-US" sz="2588" dirty="0"/>
          </a:p>
        </p:txBody>
      </p:sp>
      <p:sp>
        <p:nvSpPr>
          <p:cNvPr id="10" name="Text 8"/>
          <p:cNvSpPr/>
          <p:nvPr/>
        </p:nvSpPr>
        <p:spPr>
          <a:xfrm>
            <a:off x="1328738" y="3153408"/>
            <a:ext cx="2964656" cy="329184"/>
          </a:xfrm>
          <a:prstGeom prst="rect">
            <a:avLst/>
          </a:prstGeom>
          <a:noFill/>
          <a:ln/>
        </p:spPr>
        <p:txBody>
          <a:bodyPr wrap="square" lIns="0" tIns="0" rIns="0" bIns="0" rtlCol="0" anchor="t"/>
          <a:lstStyle/>
          <a:p>
            <a:pPr algn="l" indent="0" marL="0">
              <a:lnSpc>
                <a:spcPts val="1055"/>
              </a:lnSpc>
              <a:buNone/>
            </a:pPr>
            <a:r>
              <a:rPr lang="en-US" sz="800" dirty="0">
                <a:solidFill>
                  <a:srgbClr val="E8DFC8"/>
                </a:solidFill>
                <a:latin typeface="Carlito" pitchFamily="34" charset="0"/>
                <a:ea typeface="Carlito" pitchFamily="34" charset="-122"/>
                <a:cs typeface="Carlito" pitchFamily="34" charset="-120"/>
              </a:rPr>
              <a:t>full-time specialists</a:t>
            </a:r>
            <a:endParaRPr lang="en-US" sz="800" dirty="0"/>
          </a:p>
          <a:p>
            <a:pPr algn="l" indent="0" marL="0">
              <a:lnSpc>
                <a:spcPts val="1055"/>
              </a:lnSpc>
              <a:buNone/>
            </a:pPr>
            <a:r>
              <a:rPr lang="en-US" sz="800" dirty="0">
                <a:solidFill>
                  <a:srgbClr val="E8DFC8"/>
                </a:solidFill>
                <a:latin typeface="Carlito" pitchFamily="34" charset="0"/>
                <a:ea typeface="Carlito" pitchFamily="34" charset="-122"/>
                <a:cs typeface="Carlito" pitchFamily="34" charset="-120"/>
              </a:rPr>
              <a:t>by mid-production</a:t>
            </a:r>
            <a:endParaRPr lang="en-US" sz="800" dirty="0"/>
          </a:p>
        </p:txBody>
      </p:sp>
      <p:sp>
        <p:nvSpPr>
          <p:cNvPr id="11" name="Shape 9"/>
          <p:cNvSpPr/>
          <p:nvPr/>
        </p:nvSpPr>
        <p:spPr>
          <a:xfrm>
            <a:off x="721519" y="3582033"/>
            <a:ext cx="645728" cy="0"/>
          </a:xfrm>
          <a:prstGeom prst="line">
            <a:avLst/>
          </a:prstGeom>
          <a:noFill/>
          <a:ln w="7144">
            <a:solidFill>
              <a:srgbClr val="E8DFC8"/>
            </a:solidFill>
            <a:prstDash val="solid"/>
          </a:ln>
        </p:spPr>
      </p:sp>
      <p:sp>
        <p:nvSpPr>
          <p:cNvPr id="12" name="Text 10"/>
          <p:cNvSpPr/>
          <p:nvPr/>
        </p:nvSpPr>
        <p:spPr>
          <a:xfrm>
            <a:off x="721519" y="3649898"/>
            <a:ext cx="645728" cy="186881"/>
          </a:xfrm>
          <a:prstGeom prst="rect">
            <a:avLst/>
          </a:prstGeom>
          <a:noFill/>
          <a:ln/>
        </p:spPr>
        <p:txBody>
          <a:bodyPr wrap="none" lIns="0" tIns="0" rIns="0" bIns="0" rtlCol="0" anchor="t">
            <a:normAutofit/>
          </a:bodyPr>
          <a:lstStyle/>
          <a:p>
            <a:pPr algn="l" indent="0" marL="0">
              <a:lnSpc>
                <a:spcPts val="1519"/>
              </a:lnSpc>
              <a:buNone/>
            </a:pPr>
            <a:r>
              <a:rPr lang="en-US" sz="1013" dirty="0">
                <a:solidFill>
                  <a:srgbClr val="E8DFC8"/>
                </a:solidFill>
                <a:latin typeface="Liberation Sans Narrow" pitchFamily="34" charset="0"/>
                <a:ea typeface="Liberation Sans Narrow" pitchFamily="34" charset="-122"/>
                <a:cs typeface="Liberation Sans Narrow" pitchFamily="34" charset="-120"/>
              </a:rPr>
              <a:t>28</a:t>
            </a:r>
            <a:endParaRPr lang="en-US" sz="1013" dirty="0"/>
          </a:p>
        </p:txBody>
      </p:sp>
      <p:sp>
        <p:nvSpPr>
          <p:cNvPr id="13" name="Text 11"/>
          <p:cNvSpPr/>
          <p:nvPr/>
        </p:nvSpPr>
        <p:spPr>
          <a:xfrm>
            <a:off x="721519" y="3864211"/>
            <a:ext cx="645728" cy="104924"/>
          </a:xfrm>
          <a:prstGeom prst="rect">
            <a:avLst/>
          </a:prstGeom>
          <a:noFill/>
          <a:ln/>
        </p:spPr>
        <p:txBody>
          <a:bodyPr wrap="none" lIns="0" tIns="0" rIns="0" bIns="0" rtlCol="0" anchor="t"/>
          <a:lstStyle/>
          <a:p>
            <a:pPr algn="l" indent="0" marL="0">
              <a:lnSpc>
                <a:spcPts val="827"/>
              </a:lnSpc>
              <a:buNone/>
            </a:pPr>
            <a:r>
              <a:rPr lang="en-US" sz="800" dirty="0">
                <a:solidFill>
                  <a:srgbClr val="A89E88"/>
                </a:solidFill>
                <a:latin typeface="Carlito" pitchFamily="34" charset="0"/>
                <a:ea typeface="Carlito" pitchFamily="34" charset="-122"/>
                <a:cs typeface="Carlito" pitchFamily="34" charset="-120"/>
              </a:rPr>
              <a:t>narrative</a:t>
            </a:r>
            <a:endParaRPr lang="en-US" sz="800" dirty="0"/>
          </a:p>
        </p:txBody>
      </p:sp>
      <p:sp>
        <p:nvSpPr>
          <p:cNvPr id="14" name="Shape 12"/>
          <p:cNvSpPr/>
          <p:nvPr/>
        </p:nvSpPr>
        <p:spPr>
          <a:xfrm>
            <a:off x="1452972" y="3582033"/>
            <a:ext cx="645840" cy="0"/>
          </a:xfrm>
          <a:prstGeom prst="line">
            <a:avLst/>
          </a:prstGeom>
          <a:noFill/>
          <a:ln w="7144">
            <a:solidFill>
              <a:srgbClr val="E8DFC8"/>
            </a:solidFill>
            <a:prstDash val="solid"/>
          </a:ln>
        </p:spPr>
      </p:sp>
      <p:sp>
        <p:nvSpPr>
          <p:cNvPr id="15" name="Text 13"/>
          <p:cNvSpPr/>
          <p:nvPr/>
        </p:nvSpPr>
        <p:spPr>
          <a:xfrm>
            <a:off x="1452972" y="3649898"/>
            <a:ext cx="645840" cy="186881"/>
          </a:xfrm>
          <a:prstGeom prst="rect">
            <a:avLst/>
          </a:prstGeom>
          <a:noFill/>
          <a:ln/>
        </p:spPr>
        <p:txBody>
          <a:bodyPr wrap="none" lIns="0" tIns="0" rIns="0" bIns="0" rtlCol="0" anchor="t">
            <a:normAutofit/>
          </a:bodyPr>
          <a:lstStyle/>
          <a:p>
            <a:pPr algn="l" indent="0" marL="0">
              <a:lnSpc>
                <a:spcPts val="1519"/>
              </a:lnSpc>
              <a:buNone/>
            </a:pPr>
            <a:r>
              <a:rPr lang="en-US" sz="1013" dirty="0">
                <a:solidFill>
                  <a:srgbClr val="E8DFC8"/>
                </a:solidFill>
                <a:latin typeface="Liberation Sans Narrow" pitchFamily="34" charset="0"/>
                <a:ea typeface="Liberation Sans Narrow" pitchFamily="34" charset="-122"/>
                <a:cs typeface="Liberation Sans Narrow" pitchFamily="34" charset="-120"/>
              </a:rPr>
              <a:t>46</a:t>
            </a:r>
            <a:endParaRPr lang="en-US" sz="1013" dirty="0"/>
          </a:p>
        </p:txBody>
      </p:sp>
      <p:sp>
        <p:nvSpPr>
          <p:cNvPr id="16" name="Text 14"/>
          <p:cNvSpPr/>
          <p:nvPr/>
        </p:nvSpPr>
        <p:spPr>
          <a:xfrm>
            <a:off x="1452972" y="3864211"/>
            <a:ext cx="645840" cy="104924"/>
          </a:xfrm>
          <a:prstGeom prst="rect">
            <a:avLst/>
          </a:prstGeom>
          <a:noFill/>
          <a:ln/>
        </p:spPr>
        <p:txBody>
          <a:bodyPr wrap="none" lIns="0" tIns="0" rIns="0" bIns="0" rtlCol="0" anchor="t"/>
          <a:lstStyle/>
          <a:p>
            <a:pPr algn="l" indent="0" marL="0">
              <a:lnSpc>
                <a:spcPts val="827"/>
              </a:lnSpc>
              <a:buNone/>
            </a:pPr>
            <a:r>
              <a:rPr lang="en-US" sz="800" dirty="0">
                <a:solidFill>
                  <a:srgbClr val="A89E88"/>
                </a:solidFill>
                <a:latin typeface="Carlito" pitchFamily="34" charset="0"/>
                <a:ea typeface="Carlito" pitchFamily="34" charset="-122"/>
                <a:cs typeface="Carlito" pitchFamily="34" charset="-120"/>
              </a:rPr>
              <a:t>design</a:t>
            </a:r>
            <a:endParaRPr lang="en-US" sz="800" dirty="0"/>
          </a:p>
        </p:txBody>
      </p:sp>
      <p:sp>
        <p:nvSpPr>
          <p:cNvPr id="17" name="Shape 15"/>
          <p:cNvSpPr/>
          <p:nvPr/>
        </p:nvSpPr>
        <p:spPr>
          <a:xfrm>
            <a:off x="2184536" y="3582033"/>
            <a:ext cx="645728" cy="0"/>
          </a:xfrm>
          <a:prstGeom prst="line">
            <a:avLst/>
          </a:prstGeom>
          <a:noFill/>
          <a:ln w="7144">
            <a:solidFill>
              <a:srgbClr val="E8DFC8"/>
            </a:solidFill>
            <a:prstDash val="solid"/>
          </a:ln>
        </p:spPr>
      </p:sp>
      <p:sp>
        <p:nvSpPr>
          <p:cNvPr id="18" name="Text 16"/>
          <p:cNvSpPr/>
          <p:nvPr/>
        </p:nvSpPr>
        <p:spPr>
          <a:xfrm>
            <a:off x="2184536" y="3649898"/>
            <a:ext cx="645728" cy="186881"/>
          </a:xfrm>
          <a:prstGeom prst="rect">
            <a:avLst/>
          </a:prstGeom>
          <a:noFill/>
          <a:ln/>
        </p:spPr>
        <p:txBody>
          <a:bodyPr wrap="none" lIns="0" tIns="0" rIns="0" bIns="0" rtlCol="0" anchor="t">
            <a:normAutofit/>
          </a:bodyPr>
          <a:lstStyle/>
          <a:p>
            <a:pPr algn="l" indent="0" marL="0">
              <a:lnSpc>
                <a:spcPts val="1519"/>
              </a:lnSpc>
              <a:buNone/>
            </a:pPr>
            <a:r>
              <a:rPr lang="en-US" sz="1013" dirty="0">
                <a:solidFill>
                  <a:srgbClr val="E8DFC8"/>
                </a:solidFill>
                <a:latin typeface="Liberation Sans Narrow" pitchFamily="34" charset="0"/>
                <a:ea typeface="Liberation Sans Narrow" pitchFamily="34" charset="-122"/>
                <a:cs typeface="Liberation Sans Narrow" pitchFamily="34" charset="-120"/>
              </a:rPr>
              <a:t>60</a:t>
            </a:r>
            <a:endParaRPr lang="en-US" sz="1013" dirty="0"/>
          </a:p>
        </p:txBody>
      </p:sp>
      <p:sp>
        <p:nvSpPr>
          <p:cNvPr id="19" name="Text 17"/>
          <p:cNvSpPr/>
          <p:nvPr/>
        </p:nvSpPr>
        <p:spPr>
          <a:xfrm>
            <a:off x="2184536" y="3864211"/>
            <a:ext cx="645728" cy="104924"/>
          </a:xfrm>
          <a:prstGeom prst="rect">
            <a:avLst/>
          </a:prstGeom>
          <a:noFill/>
          <a:ln/>
        </p:spPr>
        <p:txBody>
          <a:bodyPr wrap="none" lIns="0" tIns="0" rIns="0" bIns="0" rtlCol="0" anchor="t"/>
          <a:lstStyle/>
          <a:p>
            <a:pPr algn="l" indent="0" marL="0">
              <a:lnSpc>
                <a:spcPts val="827"/>
              </a:lnSpc>
              <a:buNone/>
            </a:pPr>
            <a:r>
              <a:rPr lang="en-US" sz="600" dirty="0">
                <a:solidFill>
                  <a:srgbClr val="A89E88"/>
                </a:solidFill>
                <a:latin typeface="Carlito" pitchFamily="34" charset="0"/>
                <a:ea typeface="Carlito" pitchFamily="34" charset="-122"/>
                <a:cs typeface="Carlito" pitchFamily="34" charset="-120"/>
              </a:rPr>
              <a:t>programming</a:t>
            </a:r>
            <a:endParaRPr lang="en-US" sz="600" dirty="0"/>
          </a:p>
        </p:txBody>
      </p:sp>
      <p:sp>
        <p:nvSpPr>
          <p:cNvPr id="20" name="Shape 18"/>
          <p:cNvSpPr/>
          <p:nvPr/>
        </p:nvSpPr>
        <p:spPr>
          <a:xfrm>
            <a:off x="2915989" y="3582033"/>
            <a:ext cx="645840" cy="0"/>
          </a:xfrm>
          <a:prstGeom prst="line">
            <a:avLst/>
          </a:prstGeom>
          <a:noFill/>
          <a:ln w="7144">
            <a:solidFill>
              <a:srgbClr val="E8DFC8"/>
            </a:solidFill>
            <a:prstDash val="solid"/>
          </a:ln>
        </p:spPr>
      </p:sp>
      <p:sp>
        <p:nvSpPr>
          <p:cNvPr id="21" name="Text 19"/>
          <p:cNvSpPr/>
          <p:nvPr/>
        </p:nvSpPr>
        <p:spPr>
          <a:xfrm>
            <a:off x="2915989" y="3649898"/>
            <a:ext cx="645840" cy="186881"/>
          </a:xfrm>
          <a:prstGeom prst="rect">
            <a:avLst/>
          </a:prstGeom>
          <a:noFill/>
          <a:ln/>
        </p:spPr>
        <p:txBody>
          <a:bodyPr wrap="none" lIns="0" tIns="0" rIns="0" bIns="0" rtlCol="0" anchor="t">
            <a:normAutofit/>
          </a:bodyPr>
          <a:lstStyle/>
          <a:p>
            <a:pPr algn="l" indent="0" marL="0">
              <a:lnSpc>
                <a:spcPts val="1519"/>
              </a:lnSpc>
              <a:buNone/>
            </a:pPr>
            <a:r>
              <a:rPr lang="en-US" sz="1013" dirty="0">
                <a:solidFill>
                  <a:srgbClr val="E8DFC8"/>
                </a:solidFill>
                <a:latin typeface="Liberation Sans Narrow" pitchFamily="34" charset="0"/>
                <a:ea typeface="Liberation Sans Narrow" pitchFamily="34" charset="-122"/>
                <a:cs typeface="Liberation Sans Narrow" pitchFamily="34" charset="-120"/>
              </a:rPr>
              <a:t>70</a:t>
            </a:r>
            <a:endParaRPr lang="en-US" sz="1013" dirty="0"/>
          </a:p>
        </p:txBody>
      </p:sp>
      <p:sp>
        <p:nvSpPr>
          <p:cNvPr id="22" name="Text 20"/>
          <p:cNvSpPr/>
          <p:nvPr/>
        </p:nvSpPr>
        <p:spPr>
          <a:xfrm>
            <a:off x="2915989" y="3864211"/>
            <a:ext cx="645840" cy="104924"/>
          </a:xfrm>
          <a:prstGeom prst="rect">
            <a:avLst/>
          </a:prstGeom>
          <a:noFill/>
          <a:ln/>
        </p:spPr>
        <p:txBody>
          <a:bodyPr wrap="none" lIns="0" tIns="0" rIns="0" bIns="0" rtlCol="0" anchor="t"/>
          <a:lstStyle/>
          <a:p>
            <a:pPr algn="l" indent="0" marL="0">
              <a:lnSpc>
                <a:spcPts val="827"/>
              </a:lnSpc>
              <a:buNone/>
            </a:pPr>
            <a:r>
              <a:rPr lang="en-US" sz="800" dirty="0">
                <a:solidFill>
                  <a:srgbClr val="A89E88"/>
                </a:solidFill>
                <a:latin typeface="Carlito" pitchFamily="34" charset="0"/>
                <a:ea typeface="Carlito" pitchFamily="34" charset="-122"/>
                <a:cs typeface="Carlito" pitchFamily="34" charset="-120"/>
              </a:rPr>
              <a:t>art</a:t>
            </a:r>
            <a:endParaRPr lang="en-US" sz="800" dirty="0"/>
          </a:p>
        </p:txBody>
      </p:sp>
      <p:sp>
        <p:nvSpPr>
          <p:cNvPr id="23" name="Shape 21"/>
          <p:cNvSpPr/>
          <p:nvPr/>
        </p:nvSpPr>
        <p:spPr>
          <a:xfrm>
            <a:off x="3647554" y="3582033"/>
            <a:ext cx="645840" cy="0"/>
          </a:xfrm>
          <a:prstGeom prst="line">
            <a:avLst/>
          </a:prstGeom>
          <a:noFill/>
          <a:ln w="7144">
            <a:solidFill>
              <a:srgbClr val="E8DFC8"/>
            </a:solidFill>
            <a:prstDash val="solid"/>
          </a:ln>
        </p:spPr>
      </p:sp>
      <p:sp>
        <p:nvSpPr>
          <p:cNvPr id="24" name="Text 22"/>
          <p:cNvSpPr/>
          <p:nvPr/>
        </p:nvSpPr>
        <p:spPr>
          <a:xfrm>
            <a:off x="3647554" y="3649898"/>
            <a:ext cx="645840" cy="186881"/>
          </a:xfrm>
          <a:prstGeom prst="rect">
            <a:avLst/>
          </a:prstGeom>
          <a:noFill/>
          <a:ln/>
        </p:spPr>
        <p:txBody>
          <a:bodyPr wrap="none" lIns="0" tIns="0" rIns="0" bIns="0" rtlCol="0" anchor="t">
            <a:normAutofit/>
          </a:bodyPr>
          <a:lstStyle/>
          <a:p>
            <a:pPr algn="l" indent="0" marL="0">
              <a:lnSpc>
                <a:spcPts val="1519"/>
              </a:lnSpc>
              <a:buNone/>
            </a:pPr>
            <a:r>
              <a:rPr lang="en-US" sz="1013" dirty="0">
                <a:solidFill>
                  <a:srgbClr val="E8DFC8"/>
                </a:solidFill>
                <a:latin typeface="Liberation Sans Narrow" pitchFamily="34" charset="0"/>
                <a:ea typeface="Liberation Sans Narrow" pitchFamily="34" charset="-122"/>
                <a:cs typeface="Liberation Sans Narrow" pitchFamily="34" charset="-120"/>
              </a:rPr>
              <a:t>16</a:t>
            </a:r>
            <a:endParaRPr lang="en-US" sz="1013" dirty="0"/>
          </a:p>
        </p:txBody>
      </p:sp>
      <p:sp>
        <p:nvSpPr>
          <p:cNvPr id="25" name="Text 23"/>
          <p:cNvSpPr/>
          <p:nvPr/>
        </p:nvSpPr>
        <p:spPr>
          <a:xfrm>
            <a:off x="3647554" y="3864211"/>
            <a:ext cx="645840" cy="104924"/>
          </a:xfrm>
          <a:prstGeom prst="rect">
            <a:avLst/>
          </a:prstGeom>
          <a:noFill/>
          <a:ln/>
        </p:spPr>
        <p:txBody>
          <a:bodyPr wrap="none" lIns="0" tIns="0" rIns="0" bIns="0" rtlCol="0" anchor="t"/>
          <a:lstStyle/>
          <a:p>
            <a:pPr algn="l" indent="0" marL="0">
              <a:lnSpc>
                <a:spcPts val="827"/>
              </a:lnSpc>
              <a:buNone/>
            </a:pPr>
            <a:r>
              <a:rPr lang="en-US" sz="600" dirty="0">
                <a:solidFill>
                  <a:srgbClr val="A89E88"/>
                </a:solidFill>
                <a:latin typeface="Carlito" pitchFamily="34" charset="0"/>
                <a:ea typeface="Carlito" pitchFamily="34" charset="-122"/>
                <a:cs typeface="Carlito" pitchFamily="34" charset="-120"/>
              </a:rPr>
              <a:t>QA &amp; localization</a:t>
            </a:r>
            <a:endParaRPr lang="en-US" sz="600" dirty="0"/>
          </a:p>
        </p:txBody>
      </p:sp>
      <p:sp>
        <p:nvSpPr>
          <p:cNvPr id="26" name="Text 24"/>
          <p:cNvSpPr/>
          <p:nvPr/>
        </p:nvSpPr>
        <p:spPr>
          <a:xfrm>
            <a:off x="721519" y="4168378"/>
            <a:ext cx="3571875" cy="233958"/>
          </a:xfrm>
          <a:prstGeom prst="rect">
            <a:avLst/>
          </a:prstGeom>
          <a:noFill/>
          <a:ln/>
        </p:spPr>
        <p:txBody>
          <a:bodyPr wrap="square" lIns="0" tIns="100013" rIns="0" bIns="0" rtlCol="0" anchor="t"/>
          <a:lstStyle/>
          <a:p>
            <a:pPr algn="l" indent="0" marL="0">
              <a:lnSpc>
                <a:spcPts val="1055"/>
              </a:lnSpc>
              <a:buNone/>
            </a:pPr>
            <a:r>
              <a:rPr lang="en-US" sz="800" i="1" dirty="0">
                <a:solidFill>
                  <a:srgbClr val="A89E88"/>
                </a:solidFill>
                <a:latin typeface="Carlito" pitchFamily="34" charset="0"/>
                <a:ea typeface="Carlito" pitchFamily="34" charset="-122"/>
                <a:cs typeface="Carlito" pitchFamily="34" charset="-120"/>
              </a:rPr>
              <a:t>Outsourcing — up to 230 seats at peak.</a:t>
            </a:r>
            <a:endParaRPr lang="en-US" sz="800" dirty="0"/>
          </a:p>
        </p:txBody>
      </p:sp>
      <p:sp>
        <p:nvSpPr>
          <p:cNvPr id="27" name="Text 25"/>
          <p:cNvSpPr/>
          <p:nvPr/>
        </p:nvSpPr>
        <p:spPr>
          <a:xfrm>
            <a:off x="4647009" y="2360451"/>
            <a:ext cx="3979069" cy="2216907"/>
          </a:xfrm>
          <a:prstGeom prst="roundRect">
            <a:avLst>
              <a:gd name="adj" fmla="val 3437"/>
            </a:avLst>
          </a:prstGeom>
          <a:solidFill>
            <a:srgbClr val="1B1817"/>
          </a:solidFill>
          <a:ln w="7144">
            <a:solidFill>
              <a:srgbClr val="E8DFC8"/>
            </a:solidFill>
            <a:prstDash val="solid"/>
          </a:ln>
        </p:spPr>
        <p:txBody>
          <a:bodyPr wrap="square" rtlCol="0" anchor="ctr"/>
          <a:lstStyle/>
          <a:p>
            <a:pPr indent="0" marL="0">
              <a:buNone/>
            </a:pPr>
            <a:endParaRPr lang="en-US" dirty="0"/>
          </a:p>
        </p:txBody>
      </p:sp>
      <p:sp>
        <p:nvSpPr>
          <p:cNvPr id="28" name="Text 26"/>
          <p:cNvSpPr/>
          <p:nvPr/>
        </p:nvSpPr>
        <p:spPr>
          <a:xfrm>
            <a:off x="4850606" y="2535473"/>
            <a:ext cx="3571875" cy="219885"/>
          </a:xfrm>
          <a:prstGeom prst="rect">
            <a:avLst/>
          </a:prstGeom>
          <a:noFill/>
          <a:ln/>
        </p:spPr>
        <p:txBody>
          <a:bodyPr wrap="none" lIns="0" tIns="0" rIns="0" bIns="0" rtlCol="0" anchor="t"/>
          <a:lstStyle/>
          <a:p>
            <a:pPr algn="l" indent="0" marL="0">
              <a:lnSpc>
                <a:spcPts val="1603"/>
              </a:lnSpc>
              <a:buNone/>
            </a:pPr>
            <a:r>
              <a:rPr lang="en-US" sz="1069" dirty="0">
                <a:solidFill>
                  <a:srgbClr val="E8DFC8"/>
                </a:solidFill>
                <a:latin typeface="Tinos" pitchFamily="34" charset="0"/>
                <a:ea typeface="Tinos" pitchFamily="34" charset="-122"/>
                <a:cs typeface="Tinos" pitchFamily="34" charset="-120"/>
              </a:rPr>
              <a:t>Next steps</a:t>
            </a:r>
            <a:endParaRPr lang="en-US" sz="1069" dirty="0"/>
          </a:p>
        </p:txBody>
      </p:sp>
      <p:sp>
        <p:nvSpPr>
          <p:cNvPr id="29" name="Shape 27"/>
          <p:cNvSpPr/>
          <p:nvPr/>
        </p:nvSpPr>
        <p:spPr>
          <a:xfrm>
            <a:off x="4850606" y="2828367"/>
            <a:ext cx="457200" cy="0"/>
          </a:xfrm>
          <a:prstGeom prst="line">
            <a:avLst/>
          </a:prstGeom>
          <a:noFill/>
          <a:ln w="7144">
            <a:solidFill>
              <a:srgbClr val="E8DFC8"/>
            </a:solidFill>
            <a:prstDash val="solid"/>
          </a:ln>
        </p:spPr>
      </p:sp>
      <p:sp>
        <p:nvSpPr>
          <p:cNvPr id="30" name="Shape 28"/>
          <p:cNvSpPr/>
          <p:nvPr/>
        </p:nvSpPr>
        <p:spPr>
          <a:xfrm>
            <a:off x="4850606" y="3348410"/>
            <a:ext cx="3571875" cy="0"/>
          </a:xfrm>
          <a:prstGeom prst="line">
            <a:avLst/>
          </a:prstGeom>
          <a:noFill/>
          <a:ln w="7144">
            <a:solidFill>
              <a:srgbClr val="E8DFC8"/>
            </a:solidFill>
            <a:prstDash val="solid"/>
          </a:ln>
        </p:spPr>
      </p:sp>
      <p:sp>
        <p:nvSpPr>
          <p:cNvPr id="31" name="Text 29"/>
          <p:cNvSpPr/>
          <p:nvPr/>
        </p:nvSpPr>
        <p:spPr>
          <a:xfrm>
            <a:off x="4834969" y="3120703"/>
            <a:ext cx="291486" cy="162020"/>
          </a:xfrm>
          <a:prstGeom prst="rect">
            <a:avLst/>
          </a:prstGeom>
          <a:noFill/>
          <a:ln/>
        </p:spPr>
        <p:txBody>
          <a:bodyPr wrap="none" lIns="0" tIns="0" rIns="0" bIns="0" rtlCol="0" anchor="t"/>
          <a:lstStyle/>
          <a:p>
            <a:pPr algn="l" indent="0" marL="0">
              <a:lnSpc>
                <a:spcPts val="1181"/>
              </a:lnSpc>
              <a:buNone/>
            </a:pPr>
            <a:r>
              <a:rPr lang="en-US" sz="1181" dirty="0">
                <a:solidFill>
                  <a:srgbClr val="C94B4B"/>
                </a:solidFill>
                <a:latin typeface="Liberation Sans Narrow" pitchFamily="34" charset="0"/>
                <a:ea typeface="Liberation Sans Narrow" pitchFamily="34" charset="-122"/>
                <a:cs typeface="Liberation Sans Narrow" pitchFamily="34" charset="-120"/>
              </a:rPr>
              <a:t>1 ·</a:t>
            </a:r>
            <a:endParaRPr lang="en-US" sz="1181" dirty="0"/>
          </a:p>
        </p:txBody>
      </p:sp>
      <p:sp>
        <p:nvSpPr>
          <p:cNvPr id="32" name="Text 30"/>
          <p:cNvSpPr/>
          <p:nvPr/>
        </p:nvSpPr>
        <p:spPr>
          <a:xfrm>
            <a:off x="5098963" y="3149278"/>
            <a:ext cx="3323518" cy="138410"/>
          </a:xfrm>
          <a:prstGeom prst="rect">
            <a:avLst/>
          </a:prstGeom>
          <a:noFill/>
          <a:ln/>
        </p:spPr>
        <p:txBody>
          <a:bodyPr wrap="square" lIns="0" tIns="0" rIns="0" bIns="0" rtlCol="0" anchor="t"/>
          <a:lstStyle/>
          <a:p>
            <a:pPr algn="l" indent="0" marL="0">
              <a:lnSpc>
                <a:spcPts val="1090"/>
              </a:lnSpc>
              <a:buNone/>
            </a:pPr>
            <a:r>
              <a:rPr lang="en-US" sz="800" dirty="0">
                <a:solidFill>
                  <a:srgbClr val="E8DFC8"/>
                </a:solidFill>
                <a:latin typeface="Carlito" pitchFamily="34" charset="0"/>
                <a:ea typeface="Carlito" pitchFamily="34" charset="-122"/>
                <a:cs typeface="Carlito" pitchFamily="34" charset="-120"/>
              </a:rPr>
              <a:t>Prototype demo and GDD walkthrough — 60 minutes</a:t>
            </a:r>
            <a:endParaRPr lang="en-US" sz="800" dirty="0"/>
          </a:p>
        </p:txBody>
      </p:sp>
      <p:sp>
        <p:nvSpPr>
          <p:cNvPr id="33" name="Shape 31"/>
          <p:cNvSpPr/>
          <p:nvPr/>
        </p:nvSpPr>
        <p:spPr>
          <a:xfrm>
            <a:off x="4850606" y="3797015"/>
            <a:ext cx="3571875" cy="0"/>
          </a:xfrm>
          <a:prstGeom prst="line">
            <a:avLst/>
          </a:prstGeom>
          <a:noFill/>
          <a:ln w="7144">
            <a:solidFill>
              <a:srgbClr val="E8DFC8"/>
            </a:solidFill>
            <a:prstDash val="solid"/>
          </a:ln>
        </p:spPr>
      </p:sp>
      <p:sp>
        <p:nvSpPr>
          <p:cNvPr id="34" name="Text 32"/>
          <p:cNvSpPr/>
          <p:nvPr/>
        </p:nvSpPr>
        <p:spPr>
          <a:xfrm>
            <a:off x="4834969" y="3569308"/>
            <a:ext cx="291486" cy="162020"/>
          </a:xfrm>
          <a:prstGeom prst="rect">
            <a:avLst/>
          </a:prstGeom>
          <a:noFill/>
          <a:ln/>
        </p:spPr>
        <p:txBody>
          <a:bodyPr wrap="none" lIns="0" tIns="0" rIns="0" bIns="0" rtlCol="0" anchor="t"/>
          <a:lstStyle/>
          <a:p>
            <a:pPr algn="l" indent="0" marL="0">
              <a:lnSpc>
                <a:spcPts val="1181"/>
              </a:lnSpc>
              <a:buNone/>
            </a:pPr>
            <a:r>
              <a:rPr lang="en-US" sz="1181" dirty="0">
                <a:solidFill>
                  <a:srgbClr val="C94B4B"/>
                </a:solidFill>
                <a:latin typeface="Liberation Sans Narrow" pitchFamily="34" charset="0"/>
                <a:ea typeface="Liberation Sans Narrow" pitchFamily="34" charset="-122"/>
                <a:cs typeface="Liberation Sans Narrow" pitchFamily="34" charset="-120"/>
              </a:rPr>
              <a:t>2 ·</a:t>
            </a:r>
            <a:endParaRPr lang="en-US" sz="1181" dirty="0"/>
          </a:p>
        </p:txBody>
      </p:sp>
      <p:sp>
        <p:nvSpPr>
          <p:cNvPr id="35" name="Text 33"/>
          <p:cNvSpPr/>
          <p:nvPr/>
        </p:nvSpPr>
        <p:spPr>
          <a:xfrm>
            <a:off x="5098963" y="3597883"/>
            <a:ext cx="3323518" cy="138410"/>
          </a:xfrm>
          <a:prstGeom prst="rect">
            <a:avLst/>
          </a:prstGeom>
          <a:noFill/>
          <a:ln/>
        </p:spPr>
        <p:txBody>
          <a:bodyPr wrap="square" lIns="0" tIns="0" rIns="0" bIns="0" rtlCol="0" anchor="t"/>
          <a:lstStyle/>
          <a:p>
            <a:pPr algn="l" indent="0" marL="0">
              <a:lnSpc>
                <a:spcPts val="1090"/>
              </a:lnSpc>
              <a:buNone/>
            </a:pPr>
            <a:r>
              <a:rPr lang="en-US" sz="800" dirty="0">
                <a:solidFill>
                  <a:srgbClr val="E8DFC8"/>
                </a:solidFill>
                <a:latin typeface="Carlito" pitchFamily="34" charset="0"/>
                <a:ea typeface="Carlito" pitchFamily="34" charset="-122"/>
                <a:cs typeface="Carlito" pitchFamily="34" charset="-120"/>
              </a:rPr>
              <a:t>Access to the full financial model and the betrayal matrix</a:t>
            </a:r>
            <a:endParaRPr lang="en-US" sz="800" dirty="0"/>
          </a:p>
        </p:txBody>
      </p:sp>
      <p:sp>
        <p:nvSpPr>
          <p:cNvPr id="36" name="Text 34"/>
          <p:cNvSpPr/>
          <p:nvPr/>
        </p:nvSpPr>
        <p:spPr>
          <a:xfrm>
            <a:off x="4834969" y="4017913"/>
            <a:ext cx="291486" cy="162020"/>
          </a:xfrm>
          <a:prstGeom prst="rect">
            <a:avLst/>
          </a:prstGeom>
          <a:noFill/>
          <a:ln/>
        </p:spPr>
        <p:txBody>
          <a:bodyPr wrap="none" lIns="0" tIns="0" rIns="0" bIns="0" rtlCol="0" anchor="t"/>
          <a:lstStyle/>
          <a:p>
            <a:pPr algn="l" indent="0" marL="0">
              <a:lnSpc>
                <a:spcPts val="1181"/>
              </a:lnSpc>
              <a:buNone/>
            </a:pPr>
            <a:r>
              <a:rPr lang="en-US" sz="1181" dirty="0">
                <a:solidFill>
                  <a:srgbClr val="C94B4B"/>
                </a:solidFill>
                <a:latin typeface="Liberation Sans Narrow" pitchFamily="34" charset="0"/>
                <a:ea typeface="Liberation Sans Narrow" pitchFamily="34" charset="-122"/>
                <a:cs typeface="Liberation Sans Narrow" pitchFamily="34" charset="-120"/>
              </a:rPr>
              <a:t>3 ·</a:t>
            </a:r>
            <a:endParaRPr lang="en-US" sz="1181" dirty="0"/>
          </a:p>
        </p:txBody>
      </p:sp>
      <p:sp>
        <p:nvSpPr>
          <p:cNvPr id="37" name="Text 35"/>
          <p:cNvSpPr/>
          <p:nvPr/>
        </p:nvSpPr>
        <p:spPr>
          <a:xfrm>
            <a:off x="5098963" y="4046488"/>
            <a:ext cx="3323518" cy="170078"/>
          </a:xfrm>
          <a:prstGeom prst="rect">
            <a:avLst/>
          </a:prstGeom>
          <a:noFill/>
          <a:ln/>
        </p:spPr>
        <p:txBody>
          <a:bodyPr wrap="square" lIns="0" tIns="0" rIns="0" bIns="0" rtlCol="0" anchor="t"/>
          <a:lstStyle/>
          <a:p>
            <a:pPr algn="l" indent="0" marL="0">
              <a:lnSpc>
                <a:spcPts val="1090"/>
              </a:lnSpc>
              <a:buNone/>
            </a:pPr>
            <a:r>
              <a:rPr lang="en-US" sz="703" dirty="0">
                <a:solidFill>
                  <a:srgbClr val="E8DFC8"/>
                </a:solidFill>
                <a:latin typeface="Carlito" pitchFamily="34" charset="0"/>
                <a:ea typeface="Carlito" pitchFamily="34" charset="-122"/>
                <a:cs typeface="Carlito" pitchFamily="34" charset="-120"/>
              </a:rPr>
              <a:t>Term sheet by the end of Q1 2027 — pre-production starts in summer</a:t>
            </a:r>
            <a:endParaRPr lang="en-US" sz="703" dirty="0"/>
          </a:p>
        </p:txBody>
      </p:sp>
      <p:sp>
        <p:nvSpPr>
          <p:cNvPr id="38" name="Shape 36"/>
          <p:cNvSpPr/>
          <p:nvPr/>
        </p:nvSpPr>
        <p:spPr>
          <a:xfrm>
            <a:off x="2421731" y="4833640"/>
            <a:ext cx="857250" cy="0"/>
          </a:xfrm>
          <a:prstGeom prst="line">
            <a:avLst/>
          </a:prstGeom>
          <a:noFill/>
          <a:ln w="7144">
            <a:solidFill>
              <a:srgbClr val="E8DFC8"/>
            </a:solidFill>
            <a:prstDash val="solid"/>
          </a:ln>
        </p:spPr>
      </p:sp>
      <p:sp>
        <p:nvSpPr>
          <p:cNvPr id="39" name="Text 37"/>
          <p:cNvSpPr/>
          <p:nvPr/>
        </p:nvSpPr>
        <p:spPr>
          <a:xfrm>
            <a:off x="3407569" y="4766667"/>
            <a:ext cx="2515051" cy="164592"/>
          </a:xfrm>
          <a:prstGeom prst="rect">
            <a:avLst/>
          </a:prstGeom>
          <a:noFill/>
          <a:ln/>
        </p:spPr>
        <p:txBody>
          <a:bodyPr wrap="square" lIns="0" tIns="0" rIns="0" bIns="0" rtlCol="0" anchor="t"/>
          <a:lstStyle/>
          <a:p>
            <a:pPr algn="l" indent="0" marL="0">
              <a:lnSpc>
                <a:spcPts val="1055"/>
              </a:lnSpc>
              <a:buNone/>
            </a:pPr>
            <a:r>
              <a:rPr lang="en-US" sz="703" spc="56" kern="0" dirty="0">
                <a:solidFill>
                  <a:srgbClr val="A89E88"/>
                </a:solidFill>
                <a:latin typeface="Carlito" pitchFamily="34" charset="0"/>
                <a:ea typeface="Carlito" pitchFamily="34" charset="-122"/>
                <a:cs typeface="Carlito" pitchFamily="34" charset="-120"/>
              </a:rPr>
              <a:t>Vataga Games · hello@vataga.games · pitch 2026</a:t>
            </a:r>
            <a:endParaRPr lang="en-US" sz="703" dirty="0"/>
          </a:p>
        </p:txBody>
      </p:sp>
      <p:sp>
        <p:nvSpPr>
          <p:cNvPr id="40" name="Shape 38"/>
          <p:cNvSpPr/>
          <p:nvPr/>
        </p:nvSpPr>
        <p:spPr>
          <a:xfrm>
            <a:off x="5864907" y="4833640"/>
            <a:ext cx="857250" cy="0"/>
          </a:xfrm>
          <a:prstGeom prst="line">
            <a:avLst/>
          </a:prstGeom>
          <a:noFill/>
          <a:ln w="7144">
            <a:solidFill>
              <a:srgbClr val="E8DFC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2026-10-21T21:56:37Z</dcterms:created>
  <dcterms:modified xsi:type="dcterms:W3CDTF">2026-10-21T21:56:37Z</dcterms:modified>
</cp:coreProperties>
</file>