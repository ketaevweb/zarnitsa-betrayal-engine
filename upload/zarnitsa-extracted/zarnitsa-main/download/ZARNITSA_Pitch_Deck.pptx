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18034572-gb4i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2661940"/>
            <a:ext cx="58464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11" kern="0" dirty="0">
                <a:solidFill>
                  <a:srgbClr val="C0A77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ПИТЧ ДЛЯ ИЗДАТЕЛЯ · 2026</a:t>
            </a:r>
            <a:endParaRPr lang="en-US" sz="800" dirty="0"/>
          </a:p>
        </p:txBody>
      </p:sp>
      <p:sp>
        <p:nvSpPr>
          <p:cNvPr id="6" name="Text 1"/>
          <p:cNvSpPr/>
          <p:nvPr/>
        </p:nvSpPr>
        <p:spPr>
          <a:xfrm>
            <a:off x="514350" y="2910185"/>
            <a:ext cx="5935028" cy="864108"/>
          </a:xfrm>
          <a:prstGeom prst="rect">
            <a:avLst/>
          </a:prstGeom>
          <a:noFill/>
          <a:ln/>
          <a:effectLst>
            <a:outerShdw sx="100000" sy="100000" kx="0" ky="0" algn="bl" rotWithShape="0" blurRad="323850" dist="38100" dir="540000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300" b="1" spc="378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ЗАРНИЦА</a:t>
            </a:r>
            <a:endParaRPr lang="en-US" sz="6300" dirty="0"/>
          </a:p>
        </p:txBody>
      </p:sp>
      <p:sp>
        <p:nvSpPr>
          <p:cNvPr id="7" name="Text 2"/>
          <p:cNvSpPr/>
          <p:nvPr/>
        </p:nvSpPr>
        <p:spPr>
          <a:xfrm>
            <a:off x="514350" y="3853160"/>
            <a:ext cx="4429125" cy="46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1181" i="1" dirty="0">
                <a:solidFill>
                  <a:srgbClr val="E8DFC8">
                    <a:alpha val="90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«Обет держит ватагу. Ватага держит мир. Предай обет — и мир рухнет первым.»</a:t>
            </a:r>
            <a:endParaRPr lang="en-US" sz="1181" dirty="0"/>
          </a:p>
        </p:txBody>
      </p:sp>
      <p:sp>
        <p:nvSpPr>
          <p:cNvPr id="8" name="Text 3"/>
          <p:cNvSpPr/>
          <p:nvPr/>
        </p:nvSpPr>
        <p:spPr>
          <a:xfrm>
            <a:off x="514350" y="4459486"/>
            <a:ext cx="3714750" cy="7144"/>
          </a:xfrm>
          <a:prstGeom prst="rect">
            <a:avLst/>
          </a:prstGeom>
          <a:solidFill>
            <a:srgbClr val="C0A77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14350" y="4580930"/>
            <a:ext cx="4429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1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Сюжетная action-RPG · Сингл + кооп 2–4 · PC / консоли нового поколения / облако · Релиз 2031</a:t>
            </a:r>
            <a:endParaRPr lang="en-US" sz="703" dirty="0"/>
          </a:p>
        </p:txBody>
      </p:sp>
      <p:sp>
        <p:nvSpPr>
          <p:cNvPr id="10" name="Text 5"/>
          <p:cNvSpPr/>
          <p:nvPr/>
        </p:nvSpPr>
        <p:spPr>
          <a:xfrm>
            <a:off x="8059713" y="4845248"/>
            <a:ext cx="7184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Ватага Геймс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18035427-kalmd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82" y="0"/>
            <a:ext cx="4206218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82" y="0"/>
            <a:ext cx="4206218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62708" y="4482368"/>
            <a:ext cx="0" cy="361094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2957513" y="4482368"/>
            <a:ext cx="0" cy="361094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252317" y="4482368"/>
            <a:ext cx="0" cy="361094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28613"/>
            <a:ext cx="76037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ЛОГЛАЙН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562570"/>
            <a:ext cx="4714875" cy="79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Бог мёртв. Ночь наступает. Ватага помнит.</a:t>
            </a:r>
            <a:endParaRPr lang="en-US" sz="2588" dirty="0"/>
          </a:p>
        </p:txBody>
      </p:sp>
      <p:sp>
        <p:nvSpPr>
          <p:cNvPr id="9" name="Text 5"/>
          <p:cNvSpPr/>
          <p:nvPr/>
        </p:nvSpPr>
        <p:spPr>
          <a:xfrm>
            <a:off x="457200" y="1412900"/>
            <a:ext cx="3694881" cy="1041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Тридцать лет назад люди убили последнего бога — Златоглава. С тех пор каждую ночь из земли поднимается Мгла, а страна богатеет, выкапывая золото из его тела. Каждый выкопанный слиток приближает вечную ночь. Игрок — Обетный атаман, ведущий ватагу обетников: шесть спутников с собственной памятью, скрытыми целями и реальной способностью предать.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460772" y="2509465"/>
            <a:ext cx="2450306" cy="634008"/>
          </a:xfrm>
          <a:prstGeom prst="roundRect">
            <a:avLst>
              <a:gd name="adj" fmla="val 12019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78644" y="2598762"/>
            <a:ext cx="22145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Память товарищества</a:t>
            </a:r>
            <a:endParaRPr lang="en-US" sz="1069" dirty="0"/>
          </a:p>
        </p:txBody>
      </p:sp>
      <p:sp>
        <p:nvSpPr>
          <p:cNvPr id="12" name="Text 8"/>
          <p:cNvSpPr/>
          <p:nvPr/>
        </p:nvSpPr>
        <p:spPr>
          <a:xfrm>
            <a:off x="578644" y="2804145"/>
            <a:ext cx="2324291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выборы остаются в памяти каждого спутника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003947" y="2509465"/>
            <a:ext cx="2450306" cy="634008"/>
          </a:xfrm>
          <a:prstGeom prst="roundRect">
            <a:avLst>
              <a:gd name="adj" fmla="val 12019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121819" y="2598762"/>
            <a:ext cx="22145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Мир, который стоит труда</a:t>
            </a:r>
            <a:endParaRPr lang="en-US" sz="1069" dirty="0"/>
          </a:p>
        </p:txBody>
      </p:sp>
      <p:sp>
        <p:nvSpPr>
          <p:cNvPr id="15" name="Text 11"/>
          <p:cNvSpPr/>
          <p:nvPr/>
        </p:nvSpPr>
        <p:spPr>
          <a:xfrm>
            <a:off x="3121819" y="2804145"/>
            <a:ext cx="2214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победу готовят до боя: разведка, смазки, время выхода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0772" y="3236342"/>
            <a:ext cx="2450306" cy="508992"/>
          </a:xfrm>
          <a:prstGeom prst="roundRect">
            <a:avLst>
              <a:gd name="adj" fmla="val 14971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78644" y="3325639"/>
            <a:ext cx="22145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Мораль без судьи</a:t>
            </a:r>
            <a:endParaRPr lang="en-US" sz="1069" dirty="0"/>
          </a:p>
        </p:txBody>
      </p:sp>
      <p:sp>
        <p:nvSpPr>
          <p:cNvPr id="18" name="Text 14"/>
          <p:cNvSpPr/>
          <p:nvPr/>
        </p:nvSpPr>
        <p:spPr>
          <a:xfrm>
            <a:off x="578644" y="3531022"/>
            <a:ext cx="2324291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шкалы добра и зла, есть зреющие последствия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003947" y="3236342"/>
            <a:ext cx="2450306" cy="508992"/>
          </a:xfrm>
          <a:prstGeom prst="roundRect">
            <a:avLst>
              <a:gd name="adj" fmla="val 14971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121819" y="3325639"/>
            <a:ext cx="2214563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Ночь как стихия</a:t>
            </a:r>
            <a:endParaRPr lang="en-US" sz="1069" dirty="0"/>
          </a:p>
        </p:txBody>
      </p:sp>
      <p:sp>
        <p:nvSpPr>
          <p:cNvPr id="21" name="Text 17"/>
          <p:cNvSpPr/>
          <p:nvPr/>
        </p:nvSpPr>
        <p:spPr>
          <a:xfrm>
            <a:off x="3121819" y="3531022"/>
            <a:ext cx="2324291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днём торговля и политика, ночью выживание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57200" y="4482368"/>
            <a:ext cx="1740218" cy="2211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100+</a:t>
            </a:r>
            <a:endParaRPr lang="en-US" sz="1575" dirty="0"/>
          </a:p>
        </p:txBody>
      </p:sp>
      <p:sp>
        <p:nvSpPr>
          <p:cNvPr id="23" name="Text 19"/>
          <p:cNvSpPr/>
          <p:nvPr/>
        </p:nvSpPr>
        <p:spPr>
          <a:xfrm>
            <a:off x="457200" y="4730948"/>
            <a:ext cx="13068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часов контента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780580" y="4482368"/>
            <a:ext cx="1087636" cy="2211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575" dirty="0"/>
          </a:p>
        </p:txBody>
      </p:sp>
      <p:sp>
        <p:nvSpPr>
          <p:cNvPr id="25" name="Text 21"/>
          <p:cNvSpPr/>
          <p:nvPr/>
        </p:nvSpPr>
        <p:spPr>
          <a:xfrm>
            <a:off x="1780580" y="4730948"/>
            <a:ext cx="108763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компаньонов с памятью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075384" y="4482368"/>
            <a:ext cx="1087636" cy="2211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575" dirty="0"/>
          </a:p>
        </p:txBody>
      </p:sp>
      <p:sp>
        <p:nvSpPr>
          <p:cNvPr id="27" name="Text 23"/>
          <p:cNvSpPr/>
          <p:nvPr/>
        </p:nvSpPr>
        <p:spPr>
          <a:xfrm>
            <a:off x="3075384" y="4730948"/>
            <a:ext cx="108763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регионов Оковья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370189" y="4482368"/>
            <a:ext cx="1087636" cy="2211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575" dirty="0"/>
          </a:p>
        </p:txBody>
      </p:sp>
      <p:sp>
        <p:nvSpPr>
          <p:cNvPr id="29" name="Text 25"/>
          <p:cNvSpPr/>
          <p:nvPr/>
        </p:nvSpPr>
        <p:spPr>
          <a:xfrm>
            <a:off x="4370189" y="4730948"/>
            <a:ext cx="108763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глобальные концовки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891" y="2025253"/>
            <a:ext cx="2202018" cy="118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6"/>
              </a:lnSpc>
              <a:buNone/>
            </a:pPr>
            <a:r>
              <a:rPr lang="en-US" sz="9563" b="1" dirty="0">
                <a:solidFill>
                  <a:srgbClr val="A82727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563" dirty="0"/>
          </a:p>
        </p:txBody>
      </p:sp>
      <p:sp>
        <p:nvSpPr>
          <p:cNvPr id="3" name="Text 1"/>
          <p:cNvSpPr/>
          <p:nvPr/>
        </p:nvSpPr>
        <p:spPr>
          <a:xfrm>
            <a:off x="2100263" y="1918655"/>
            <a:ext cx="37284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46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01 /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00263" y="2166900"/>
            <a:ext cx="4285536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4050" b="1" spc="122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ИГРА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100263" y="2864086"/>
            <a:ext cx="857250" cy="14288"/>
          </a:xfrm>
          <a:prstGeom prst="rect">
            <a:avLst/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00263" y="3021248"/>
            <a:ext cx="2892737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i="1" dirty="0">
                <a:solidFill>
                  <a:srgbClr val="A89E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Мир Оковье, ватага и движок предательства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7238516" y="4816673"/>
            <a:ext cx="1905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ЗАРНИЦА · питч для издателя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43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97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УНИКАЛЬНОЕ ТОРГОВОЕ ПРЕДЛОЖЕНИЕ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3995"/>
            <a:ext cx="8636000" cy="39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Спутники, которые помнят всё</a:t>
            </a:r>
            <a:endParaRPr lang="en-US" sz="2588" dirty="0"/>
          </a:p>
        </p:txBody>
      </p:sp>
      <p:sp>
        <p:nvSpPr>
          <p:cNvPr id="4" name="Text 2"/>
          <p:cNvSpPr/>
          <p:nvPr/>
        </p:nvSpPr>
        <p:spPr>
          <a:xfrm>
            <a:off x="457200" y="1275159"/>
            <a:ext cx="7715250" cy="5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существующих RPG спутники либо вечны, либо меняют отношение одним числом, либо предают по скрипту. В „Зарнице“ предательство — симуляция: у каждого спутника журнал памяти, личный порог разрыва и цель, которую он преследует даже вне кадра. Игра непрерывно проверяет три условия, и когда они сходятся, спутник действует против атамана: от порчи снаряжения до „ночи ножей“.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2156743"/>
            <a:ext cx="2669418" cy="712589"/>
          </a:xfrm>
          <a:prstGeom prst="roundRect">
            <a:avLst>
              <a:gd name="adj" fmla="val 10693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2260327"/>
            <a:ext cx="2405100" cy="219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Журнал памяти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592931" y="2506787"/>
            <a:ext cx="251482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вида тегов: честь · кровь · злато · вера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37347" y="2156743"/>
            <a:ext cx="2669418" cy="712589"/>
          </a:xfrm>
          <a:prstGeom prst="roundRect">
            <a:avLst>
              <a:gd name="adj" fmla="val 10693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69506" y="2260327"/>
            <a:ext cx="2405100" cy="219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Личный порог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3369506" y="2506787"/>
            <a:ext cx="24051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необратимых ступеней: от первого сомнения до „ночи ножей“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13921" y="2156743"/>
            <a:ext cx="2669418" cy="712589"/>
          </a:xfrm>
          <a:prstGeom prst="roundRect">
            <a:avLst>
              <a:gd name="adj" fmla="val 10693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46081" y="2260327"/>
            <a:ext cx="2405100" cy="219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Узел случая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6146081" y="2506787"/>
            <a:ext cx="24051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накопленная обида, возможность и стимул должны сойтись одновременно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3256211"/>
            <a:ext cx="1615269" cy="198239"/>
          </a:xfrm>
          <a:prstGeom prst="roundRect">
            <a:avLst>
              <a:gd name="adj" fmla="val 4800002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0069" y="3288357"/>
            <a:ext cx="152287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Ведьмак 3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спутники-декорации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68909" y="3256211"/>
            <a:ext cx="2012193" cy="198239"/>
          </a:xfrm>
          <a:prstGeom prst="roundRect">
            <a:avLst>
              <a:gd name="adj" fmla="val 4800002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58206" y="3288357"/>
            <a:ext cx="194332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Baldur’s Gate 3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мир не живёт вне партии</a:t>
            </a:r>
            <a:endParaRPr lang="en-US" sz="703" dirty="0"/>
          </a:p>
        </p:txBody>
      </p:sp>
      <p:sp>
        <p:nvSpPr>
          <p:cNvPr id="18" name="Text 16"/>
          <p:cNvSpPr/>
          <p:nvPr/>
        </p:nvSpPr>
        <p:spPr>
          <a:xfrm>
            <a:off x="4273972" y="3256211"/>
            <a:ext cx="1760041" cy="198239"/>
          </a:xfrm>
          <a:prstGeom prst="roundRect">
            <a:avLst>
              <a:gd name="adj" fmla="val 4800002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63269" y="3288357"/>
            <a:ext cx="167633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Dragon Age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одно число одобрения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6126882" y="3256211"/>
            <a:ext cx="1997236" cy="198239"/>
          </a:xfrm>
          <a:prstGeom prst="roundRect">
            <a:avLst>
              <a:gd name="adj" fmla="val 4800002"/>
            </a:avLst>
          </a:prstGeom>
          <a:solidFill>
            <a:srgbClr val="A82727">
              <a:alpha val="10000"/>
            </a:srgbClr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6179" y="3288357"/>
            <a:ext cx="192776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C0A77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ЗАРНИЦА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предательство как симуляция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72" y="3841328"/>
            <a:ext cx="1304962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0" descr="/tmp/h2p-fit-1792618034935-9vr79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3844900"/>
            <a:ext cx="1297818" cy="84296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844315" y="3841328"/>
            <a:ext cx="1304962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1" descr="/tmp/h2p-fit-1792618034937-si9h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87" y="3844900"/>
            <a:ext cx="1297818" cy="84296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227859" y="3841328"/>
            <a:ext cx="1304962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/tmp/h2p-fit-1792618034939-3p19s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431" y="3844900"/>
            <a:ext cx="1297818" cy="84296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611402" y="3841328"/>
            <a:ext cx="1304962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3" descr="/tmp/h2p-fit-1792618034968-z62ih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974" y="3844900"/>
            <a:ext cx="1297818" cy="8429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994946" y="3841328"/>
            <a:ext cx="1304962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4" descr="/tmp/h2p-fit-1792618034968-2qsxm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518" y="3844900"/>
            <a:ext cx="1297818" cy="84296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78489" y="3841328"/>
            <a:ext cx="1304962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5" descr="/tmp/h2p-fit-1792618034969-53zn3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2061" y="3844900"/>
            <a:ext cx="1297818" cy="84296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7200" y="47593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спутников × 5 ступеней × 4 финала — матрица, которую не увидеть за один проход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18035418-jisz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40435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40435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1898" y="342900"/>
            <a:ext cx="50321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СЕТТИНГ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111898" y="569714"/>
            <a:ext cx="5032102" cy="79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Оковье: страна, живущая на теле бога</a:t>
            </a:r>
            <a:endParaRPr lang="en-US" sz="2588" dirty="0"/>
          </a:p>
        </p:txBody>
      </p:sp>
      <p:sp>
        <p:nvSpPr>
          <p:cNvPr id="6" name="Text 2"/>
          <p:cNvSpPr/>
          <p:nvPr/>
        </p:nvSpPr>
        <p:spPr>
          <a:xfrm>
            <a:off x="4111898" y="1412900"/>
            <a:ext cx="4603477" cy="527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Тёмное славянское фэнтези без орков и эльфов: навьи, обетники, корчмы-слухи и Златоприказ. Днём Оковье торгует, судится и плетёт политику; ночью мир принадлежит Мгле. Игрок сам выбирает час выхода из лагеря — и платит за выбор.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4111898" y="2365363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A7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276204" y="2351075"/>
            <a:ext cx="4439171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регионов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от полесских топей до подводного Стоя моря</a:t>
            </a:r>
            <a:endParaRPr lang="en-US" sz="844" dirty="0"/>
          </a:p>
        </p:txBody>
      </p:sp>
      <p:sp>
        <p:nvSpPr>
          <p:cNvPr id="9" name="Text 5"/>
          <p:cNvSpPr/>
          <p:nvPr/>
        </p:nvSpPr>
        <p:spPr>
          <a:xfrm>
            <a:off x="4111898" y="2592177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A7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276204" y="2577889"/>
            <a:ext cx="4439171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Мгла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мировая шкала напряжения: выкопанное из бога золото приближает вечную ночь</a:t>
            </a:r>
            <a:endParaRPr lang="en-US" sz="844" dirty="0"/>
          </a:p>
        </p:txBody>
      </p:sp>
      <p:sp>
        <p:nvSpPr>
          <p:cNvPr id="11" name="Text 7"/>
          <p:cNvSpPr/>
          <p:nvPr/>
        </p:nvSpPr>
        <p:spPr>
          <a:xfrm>
            <a:off x="4111898" y="3338252"/>
            <a:ext cx="50321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55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фракций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111898" y="3524168"/>
            <a:ext cx="947105" cy="230029"/>
          </a:xfrm>
          <a:prstGeom prst="roundRect">
            <a:avLst>
              <a:gd name="adj" fmla="val 4136641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204767" y="3610608"/>
            <a:ext cx="57150" cy="57150"/>
          </a:xfrm>
          <a:prstGeom prst="ellipse">
            <a:avLst/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304779" y="3572210"/>
            <a:ext cx="66135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Обетные ватаги</a:t>
            </a:r>
            <a:endParaRPr lang="en-US" sz="703" dirty="0"/>
          </a:p>
        </p:txBody>
      </p:sp>
      <p:sp>
        <p:nvSpPr>
          <p:cNvPr id="15" name="Text 11"/>
          <p:cNvSpPr/>
          <p:nvPr/>
        </p:nvSpPr>
        <p:spPr>
          <a:xfrm>
            <a:off x="5116153" y="3524168"/>
            <a:ext cx="807579" cy="230029"/>
          </a:xfrm>
          <a:prstGeom prst="roundRect">
            <a:avLst>
              <a:gd name="adj" fmla="val 4136641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209022" y="3610608"/>
            <a:ext cx="57150" cy="57150"/>
          </a:xfrm>
          <a:prstGeom prst="ellipse">
            <a:avLst/>
          </a:prstGeom>
          <a:solidFill>
            <a:srgbClr val="C0A7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93530" y="3572210"/>
            <a:ext cx="55283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Златоприказ</a:t>
            </a:r>
            <a:endParaRPr lang="en-US" sz="703" dirty="0"/>
          </a:p>
        </p:txBody>
      </p:sp>
      <p:sp>
        <p:nvSpPr>
          <p:cNvPr id="18" name="Text 14"/>
          <p:cNvSpPr/>
          <p:nvPr/>
        </p:nvSpPr>
        <p:spPr>
          <a:xfrm>
            <a:off x="5980881" y="3524168"/>
            <a:ext cx="807690" cy="230029"/>
          </a:xfrm>
          <a:prstGeom prst="roundRect">
            <a:avLst>
              <a:gd name="adj" fmla="val 4136641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073750" y="3610608"/>
            <a:ext cx="57150" cy="57150"/>
          </a:xfrm>
          <a:prstGeom prst="ellipse">
            <a:avLst/>
          </a:prstGeom>
          <a:solidFill>
            <a:srgbClr val="7D94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67271" y="3572210"/>
            <a:ext cx="53492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Вещие круги</a:t>
            </a:r>
            <a:endParaRPr lang="en-US" sz="703" dirty="0"/>
          </a:p>
        </p:txBody>
      </p:sp>
      <p:sp>
        <p:nvSpPr>
          <p:cNvPr id="21" name="Text 17"/>
          <p:cNvSpPr/>
          <p:nvPr/>
        </p:nvSpPr>
        <p:spPr>
          <a:xfrm>
            <a:off x="6845722" y="3524168"/>
            <a:ext cx="830684" cy="230029"/>
          </a:xfrm>
          <a:prstGeom prst="roundRect">
            <a:avLst>
              <a:gd name="adj" fmla="val 4136641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938590" y="3610608"/>
            <a:ext cx="57150" cy="57150"/>
          </a:xfrm>
          <a:prstGeom prst="ellipse">
            <a:avLst/>
          </a:prstGeom>
          <a:solidFill>
            <a:srgbClr val="5E8C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006758" y="3572210"/>
            <a:ext cx="60862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Навьи дворы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111898" y="3786701"/>
            <a:ext cx="992423" cy="230029"/>
          </a:xfrm>
          <a:prstGeom prst="roundRect">
            <a:avLst>
              <a:gd name="adj" fmla="val 4136641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204767" y="3873140"/>
            <a:ext cx="57150" cy="57150"/>
          </a:xfrm>
          <a:prstGeom prst="ellipse">
            <a:avLst/>
          </a:prstGeom>
          <a:solidFill>
            <a:srgbClr val="9A7B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304779" y="3834743"/>
            <a:ext cx="70667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Княжеский съезд</a:t>
            </a:r>
            <a:endParaRPr lang="en-US" sz="703" dirty="0"/>
          </a:p>
        </p:txBody>
      </p:sp>
      <p:sp>
        <p:nvSpPr>
          <p:cNvPr id="27" name="Text 23"/>
          <p:cNvSpPr/>
          <p:nvPr/>
        </p:nvSpPr>
        <p:spPr>
          <a:xfrm>
            <a:off x="5161471" y="3786701"/>
            <a:ext cx="711696" cy="230029"/>
          </a:xfrm>
          <a:prstGeom prst="roundRect">
            <a:avLst>
              <a:gd name="adj" fmla="val 4136641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254340" y="3873140"/>
            <a:ext cx="57150" cy="57150"/>
          </a:xfrm>
          <a:prstGeom prst="ellipse">
            <a:avLst/>
          </a:prstGeom>
          <a:solidFill>
            <a:srgbClr val="8A5A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347280" y="3834743"/>
            <a:ext cx="44009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Дети Зари</a:t>
            </a:r>
            <a:endParaRPr lang="en-US" sz="703" dirty="0"/>
          </a:p>
        </p:txBody>
      </p:sp>
      <p:sp>
        <p:nvSpPr>
          <p:cNvPr id="30" name="Text 26"/>
          <p:cNvSpPr/>
          <p:nvPr/>
        </p:nvSpPr>
        <p:spPr>
          <a:xfrm>
            <a:off x="4111898" y="4454017"/>
            <a:ext cx="50321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55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Бестиарий нави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111898" y="4640790"/>
            <a:ext cx="516582" cy="214027"/>
          </a:xfrm>
          <a:prstGeom prst="roundRect">
            <a:avLst>
              <a:gd name="adj" fmla="val 4445923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188604" y="4680831"/>
            <a:ext cx="36317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Мгленик</a:t>
            </a:r>
            <a:endParaRPr lang="en-US" sz="703" dirty="0"/>
          </a:p>
        </p:txBody>
      </p:sp>
      <p:sp>
        <p:nvSpPr>
          <p:cNvPr id="33" name="Text 29"/>
          <p:cNvSpPr/>
          <p:nvPr/>
        </p:nvSpPr>
        <p:spPr>
          <a:xfrm>
            <a:off x="4685630" y="4640790"/>
            <a:ext cx="517364" cy="214027"/>
          </a:xfrm>
          <a:prstGeom prst="roundRect">
            <a:avLst>
              <a:gd name="adj" fmla="val 4445923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762727" y="4680831"/>
            <a:ext cx="36317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Упорень</a:t>
            </a:r>
            <a:endParaRPr lang="en-US" sz="703" dirty="0"/>
          </a:p>
        </p:txBody>
      </p:sp>
      <p:sp>
        <p:nvSpPr>
          <p:cNvPr id="35" name="Text 31"/>
          <p:cNvSpPr/>
          <p:nvPr/>
        </p:nvSpPr>
        <p:spPr>
          <a:xfrm>
            <a:off x="5260144" y="4640790"/>
            <a:ext cx="607107" cy="214027"/>
          </a:xfrm>
          <a:prstGeom prst="roundRect">
            <a:avLst>
              <a:gd name="adj" fmla="val 4445923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334696" y="4680831"/>
            <a:ext cx="45800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Костяница</a:t>
            </a:r>
            <a:endParaRPr lang="en-US" sz="703" dirty="0"/>
          </a:p>
        </p:txBody>
      </p:sp>
      <p:sp>
        <p:nvSpPr>
          <p:cNvPr id="37" name="Text 33"/>
          <p:cNvSpPr/>
          <p:nvPr/>
        </p:nvSpPr>
        <p:spPr>
          <a:xfrm>
            <a:off x="5924401" y="4640790"/>
            <a:ext cx="463004" cy="214027"/>
          </a:xfrm>
          <a:prstGeom prst="roundRect">
            <a:avLst>
              <a:gd name="adj" fmla="val 4445923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5998026" y="4680831"/>
            <a:ext cx="31575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Зарник</a:t>
            </a:r>
            <a:endParaRPr lang="en-US" sz="703" dirty="0"/>
          </a:p>
        </p:txBody>
      </p:sp>
      <p:sp>
        <p:nvSpPr>
          <p:cNvPr id="39" name="Text 35"/>
          <p:cNvSpPr/>
          <p:nvPr/>
        </p:nvSpPr>
        <p:spPr>
          <a:xfrm>
            <a:off x="6444555" y="4640790"/>
            <a:ext cx="648184" cy="214027"/>
          </a:xfrm>
          <a:prstGeom prst="roundRect">
            <a:avLst>
              <a:gd name="adj" fmla="val 4445923"/>
            </a:avLst>
          </a:prstGeom>
          <a:noFill/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515937" y="4680831"/>
            <a:ext cx="50542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Мгла-ведун</a:t>
            </a:r>
            <a:endParaRPr lang="en-US" sz="70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ГЕЙМПЛЕЙНАЯ ПЕТЛЯ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1145"/>
            <a:ext cx="8636000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Контракт </a:t>
            </a:r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→</a:t>
            </a:r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Лагерь </a:t>
            </a:r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→</a:t>
            </a:r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Ночь</a:t>
            </a:r>
            <a:endParaRPr lang="en-US" sz="2588" dirty="0"/>
          </a:p>
        </p:txBody>
      </p:sp>
      <p:sp>
        <p:nvSpPr>
          <p:cNvPr id="4" name="Text 2"/>
          <p:cNvSpPr/>
          <p:nvPr/>
        </p:nvSpPr>
        <p:spPr>
          <a:xfrm>
            <a:off x="460772" y="1692511"/>
            <a:ext cx="2450306" cy="2050256"/>
          </a:xfrm>
          <a:prstGeom prst="roundRect">
            <a:avLst>
              <a:gd name="adj" fmla="val 371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1867533"/>
            <a:ext cx="212883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C94B4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621506" y="2281870"/>
            <a:ext cx="21288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5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КОНТРАКТ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621506" y="2571192"/>
            <a:ext cx="257175" cy="7144"/>
          </a:xfrm>
          <a:prstGeom prst="rect">
            <a:avLst/>
          </a:prstGeom>
          <a:solidFill>
            <a:srgbClr val="C0A77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2664061"/>
            <a:ext cx="2128838" cy="89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Доска задач с торгом: цена, сроки, валюта, свидетели. Условия меняются в диалоге — свидетели помнят уговор, и скупой торг вернётся книгой памяти спутника.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3014663" y="2546189"/>
            <a:ext cx="228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A7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46847" y="1692511"/>
            <a:ext cx="2450306" cy="2050256"/>
          </a:xfrm>
          <a:prstGeom prst="roundRect">
            <a:avLst>
              <a:gd name="adj" fmla="val 371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07581" y="1867533"/>
            <a:ext cx="212883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C94B4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3507581" y="2281870"/>
            <a:ext cx="2128837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5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ЛАГЕРЬ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3507581" y="2571192"/>
            <a:ext cx="257175" cy="7144"/>
          </a:xfrm>
          <a:prstGeom prst="rect">
            <a:avLst/>
          </a:prstGeom>
          <a:solidFill>
            <a:srgbClr val="C0A77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07581" y="2664061"/>
            <a:ext cx="2128838" cy="71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разговор до ночи: состав вылазки — до трёх братьев, снаряжение: масло, ловушки, струны. Подарки и обеты остаются в памяти ватаги.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5900738" y="2546189"/>
            <a:ext cx="228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A7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32922" y="1692511"/>
            <a:ext cx="2450306" cy="2050256"/>
          </a:xfrm>
          <a:prstGeom prst="roundRect">
            <a:avLst>
              <a:gd name="adj" fmla="val 371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93656" y="1867533"/>
            <a:ext cx="212883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C94B4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6393656" y="2281870"/>
            <a:ext cx="21288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5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НОЧЬ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6393656" y="2571192"/>
            <a:ext cx="257175" cy="7144"/>
          </a:xfrm>
          <a:prstGeom prst="rect">
            <a:avLst/>
          </a:prstGeom>
          <a:solidFill>
            <a:srgbClr val="C0A77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93656" y="2664061"/>
            <a:ext cx="2128838" cy="71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Вылазка в Мглу в реальном времени с обетной паузой. После боя — право слова: брат может выйти из тени с претензией, и атаман отвечает.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60772" y="4414838"/>
            <a:ext cx="8222456" cy="396478"/>
          </a:xfrm>
          <a:prstGeom prst="roundRect">
            <a:avLst>
              <a:gd name="adj" fmla="val 19219"/>
            </a:avLst>
          </a:prstGeom>
          <a:solidFill>
            <a:srgbClr val="A82727">
              <a:alpha val="10000"/>
            </a:srgbClr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30474" y="4532709"/>
            <a:ext cx="548294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Между ночами мир живёт без игрока: фракции делают ходы, слухи расползаются корчмами, Мгла копит силу.</a:t>
            </a:r>
            <a:endParaRPr lang="en-US" sz="8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42913"/>
            <a:ext cx="58869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БОЕВАЯ СИСТЕМА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05445"/>
            <a:ext cx="4400550" cy="79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Реальное время под обетной паузой</a:t>
            </a:r>
            <a:endParaRPr lang="en-US" sz="2588" dirty="0"/>
          </a:p>
        </p:txBody>
      </p:sp>
      <p:sp>
        <p:nvSpPr>
          <p:cNvPr id="4" name="Text 2"/>
          <p:cNvSpPr/>
          <p:nvPr/>
        </p:nvSpPr>
        <p:spPr>
          <a:xfrm>
            <a:off x="514350" y="1570062"/>
            <a:ext cx="3971925" cy="77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Пробел останавливает время в любой момент: атаман раздаёт приказы братьям, выбирает облик зарницы и возобновляет бой. Рефлекс решает меньше, чем полчаса подготовки, — тактика „взял и пошёл“ наказывается естественно.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517922" y="2464817"/>
            <a:ext cx="1935956" cy="460772"/>
          </a:xfrm>
          <a:prstGeom prst="roundRect">
            <a:avLst>
              <a:gd name="adj" fmla="val 1653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2589833"/>
            <a:ext cx="57150" cy="57150"/>
          </a:xfrm>
          <a:prstGeom prst="ellipse">
            <a:avLst/>
          </a:prstGeom>
          <a:solidFill>
            <a:srgbClr val="E8DF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4381" y="2575545"/>
            <a:ext cx="513779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· Белая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4381" y="2575545"/>
            <a:ext cx="1511796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пять усиленных ударов подряд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46747" y="2464817"/>
            <a:ext cx="1935956" cy="460772"/>
          </a:xfrm>
          <a:prstGeom prst="roundRect">
            <a:avLst>
              <a:gd name="adj" fmla="val 1653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57475" y="2589833"/>
            <a:ext cx="57150" cy="57150"/>
          </a:xfrm>
          <a:prstGeom prst="ellipse">
            <a:avLst/>
          </a:prstGeom>
          <a:solidFill>
            <a:srgbClr val="7D94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93206" y="2575545"/>
            <a:ext cx="520494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· Синяя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93206" y="2575545"/>
            <a:ext cx="155532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поле замедления вокруг точки броска</a:t>
            </a:r>
            <a:endParaRPr lang="en-US" sz="703" dirty="0"/>
          </a:p>
        </p:txBody>
      </p:sp>
      <p:sp>
        <p:nvSpPr>
          <p:cNvPr id="13" name="Text 11"/>
          <p:cNvSpPr/>
          <p:nvPr/>
        </p:nvSpPr>
        <p:spPr>
          <a:xfrm>
            <a:off x="517922" y="3018458"/>
            <a:ext cx="1935956" cy="460772"/>
          </a:xfrm>
          <a:prstGeom prst="roundRect">
            <a:avLst>
              <a:gd name="adj" fmla="val 1653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3143473"/>
            <a:ext cx="57150" cy="57150"/>
          </a:xfrm>
          <a:prstGeom prst="ellipse">
            <a:avLst/>
          </a:prstGeom>
          <a:solidFill>
            <a:srgbClr val="C0A7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7611" y="3129186"/>
            <a:ext cx="608625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· Золотая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4381" y="3129186"/>
            <a:ext cx="1525386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щит и лечение всей ватаги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6747" y="3018458"/>
            <a:ext cx="1935956" cy="460772"/>
          </a:xfrm>
          <a:prstGeom prst="roundRect">
            <a:avLst>
              <a:gd name="adj" fmla="val 16537"/>
            </a:avLst>
          </a:prstGeom>
          <a:solidFill>
            <a:srgbClr val="A82727">
              <a:alpha val="10000"/>
            </a:srgbClr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57475" y="3143473"/>
            <a:ext cx="57150" cy="57150"/>
          </a:xfrm>
          <a:prstGeom prst="ellipse">
            <a:avLst/>
          </a:prstGeom>
          <a:solidFill>
            <a:srgbClr val="C94B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77875" y="3129186"/>
            <a:ext cx="608625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· Красная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93206" y="3129186"/>
            <a:ext cx="139426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детонация накопленной Мглы по всей гати</a:t>
            </a:r>
            <a:endParaRPr lang="en-US" sz="703" dirty="0"/>
          </a:p>
        </p:txBody>
      </p:sp>
      <p:sp>
        <p:nvSpPr>
          <p:cNvPr id="21" name="Shape 19"/>
          <p:cNvSpPr/>
          <p:nvPr/>
        </p:nvSpPr>
        <p:spPr>
          <a:xfrm>
            <a:off x="514350" y="4354116"/>
            <a:ext cx="3971925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350" y="4350544"/>
            <a:ext cx="3971925" cy="500360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0A77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Жар и перегрев: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каждый облик греет силу — при перегреве удары обжигают своих. Обетный огонь держит строй: навьи обходят пламя по дуге.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75634" y="483096"/>
            <a:ext cx="3607594" cy="3993356"/>
          </a:xfrm>
          <a:prstGeom prst="roundRect">
            <a:avLst>
              <a:gd name="adj" fmla="val 2112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  <a:effectLst>
            <a:outerShdw sx="100000" sy="100000" kx="0" ky="0" algn="bl" rotWithShape="0" blurRad="476250" dist="190500" dir="5400000">
              <a:srgbClr val="000000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0" descr="/tmp/h2p-fit-1792618029704-sgvh1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206" y="486668"/>
            <a:ext cx="3600450" cy="398621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72063" y="4551462"/>
            <a:ext cx="36147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Прототип: обетная пауза, приказы братьям и четыре облика зарницы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ВАТАГА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48295"/>
            <a:ext cx="8629650" cy="39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Шесть, которые могут предать</a:t>
            </a:r>
            <a:endParaRPr lang="en-US" sz="2588" dirty="0"/>
          </a:p>
        </p:txBody>
      </p:sp>
      <p:sp>
        <p:nvSpPr>
          <p:cNvPr id="4" name="Text 2"/>
          <p:cNvSpPr/>
          <p:nvPr/>
        </p:nvSpPr>
        <p:spPr>
          <a:xfrm>
            <a:off x="517922" y="1543943"/>
            <a:ext cx="2640732" cy="1193006"/>
          </a:xfrm>
          <a:prstGeom prst="roundRect">
            <a:avLst>
              <a:gd name="adj" fmla="val 638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0791" y="1829693"/>
            <a:ext cx="621506" cy="621506"/>
          </a:xfrm>
          <a:prstGeom prst="roundRect">
            <a:avLst>
              <a:gd name="adj" fmla="val 919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h2p-fit-1792618029920-w1qt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3" y="1833265"/>
            <a:ext cx="614363" cy="6143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881" y="1826791"/>
            <a:ext cx="1733476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Ратмир</a:t>
            </a:r>
            <a:endParaRPr lang="en-US" sz="1069" dirty="0"/>
          </a:p>
        </p:txBody>
      </p:sp>
      <p:sp>
        <p:nvSpPr>
          <p:cNvPr id="8" name="Text 5"/>
          <p:cNvSpPr/>
          <p:nvPr/>
        </p:nvSpPr>
        <p:spPr>
          <a:xfrm>
            <a:off x="1335881" y="2018221"/>
            <a:ext cx="17334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СТРАЖ · ЛИНИЯ ОБОРОНЫ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335881" y="2195029"/>
            <a:ext cx="173347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«Уводит братьев, если ватагу жертвуют ради выгоды»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80097" y="1543943"/>
            <a:ext cx="2640843" cy="1193006"/>
          </a:xfrm>
          <a:prstGeom prst="roundRect">
            <a:avLst>
              <a:gd name="adj" fmla="val 638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72966" y="1829693"/>
            <a:ext cx="621506" cy="621506"/>
          </a:xfrm>
          <a:prstGeom prst="roundRect">
            <a:avLst>
              <a:gd name="adj" fmla="val 919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tmp/h2p-fit-1792618029926-r8s2m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538" y="1833265"/>
            <a:ext cx="614363" cy="6143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98057" y="1826791"/>
            <a:ext cx="1733587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Василиса</a:t>
            </a:r>
            <a:endParaRPr lang="en-US" sz="1069" dirty="0"/>
          </a:p>
        </p:txBody>
      </p:sp>
      <p:sp>
        <p:nvSpPr>
          <p:cNvPr id="14" name="Text 10"/>
          <p:cNvSpPr/>
          <p:nvPr/>
        </p:nvSpPr>
        <p:spPr>
          <a:xfrm>
            <a:off x="4098057" y="2018221"/>
            <a:ext cx="1733587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ВЕЩУНЬЯ · ЖАР-ПОДДЕРЖКА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098057" y="2195029"/>
            <a:ext cx="1733587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«Уходит к вещим кругам при разгроме хранилища»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042385" y="1543943"/>
            <a:ext cx="2640732" cy="1193006"/>
          </a:xfrm>
          <a:prstGeom prst="roundRect">
            <a:avLst>
              <a:gd name="adj" fmla="val 638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135253" y="1829693"/>
            <a:ext cx="621506" cy="621506"/>
          </a:xfrm>
          <a:prstGeom prst="roundRect">
            <a:avLst>
              <a:gd name="adj" fmla="val 919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tmp/h2p-fit-1792618029934-3thgl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825" y="1833265"/>
            <a:ext cx="614363" cy="6143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60344" y="1891531"/>
            <a:ext cx="1733476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Гаврила</a:t>
            </a:r>
            <a:endParaRPr lang="en-US" sz="1069" dirty="0"/>
          </a:p>
        </p:txBody>
      </p:sp>
      <p:sp>
        <p:nvSpPr>
          <p:cNvPr id="20" name="Text 15"/>
          <p:cNvSpPr/>
          <p:nvPr/>
        </p:nvSpPr>
        <p:spPr>
          <a:xfrm>
            <a:off x="6860344" y="2082961"/>
            <a:ext cx="17334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СТРЕЛОК · ЛОГИСТИКА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860344" y="2259769"/>
            <a:ext cx="183748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«Продаёт планы атамана за золото»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17922" y="2858393"/>
            <a:ext cx="2640732" cy="1193006"/>
          </a:xfrm>
          <a:prstGeom prst="roundRect">
            <a:avLst>
              <a:gd name="adj" fmla="val 638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10791" y="3144143"/>
            <a:ext cx="621506" cy="621506"/>
          </a:xfrm>
          <a:prstGeom prst="roundRect">
            <a:avLst>
              <a:gd name="adj" fmla="val 919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/tmp/h2p-fit-1792618029936-bf428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147715"/>
            <a:ext cx="614363" cy="61436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35881" y="3141241"/>
            <a:ext cx="1733476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Ходата</a:t>
            </a:r>
            <a:endParaRPr lang="en-US" sz="1069" dirty="0"/>
          </a:p>
        </p:txBody>
      </p:sp>
      <p:sp>
        <p:nvSpPr>
          <p:cNvPr id="26" name="Text 20"/>
          <p:cNvSpPr/>
          <p:nvPr/>
        </p:nvSpPr>
        <p:spPr>
          <a:xfrm>
            <a:off x="1335881" y="3332671"/>
            <a:ext cx="17334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ДОГОВОРНИЦА · КОНТРОЛЬ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335881" y="3509479"/>
            <a:ext cx="173347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«Переходит к навьим дворам при резне навьев»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3280097" y="2858393"/>
            <a:ext cx="2640843" cy="1193006"/>
          </a:xfrm>
          <a:prstGeom prst="roundRect">
            <a:avLst>
              <a:gd name="adj" fmla="val 638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372966" y="3144143"/>
            <a:ext cx="621506" cy="621506"/>
          </a:xfrm>
          <a:prstGeom prst="roundRect">
            <a:avLst>
              <a:gd name="adj" fmla="val 919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4" descr="/tmp/h2p-fit-1792618029938-d7jxqz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538" y="3147715"/>
            <a:ext cx="614363" cy="61436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98057" y="3141241"/>
            <a:ext cx="1733587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Одинец</a:t>
            </a:r>
            <a:endParaRPr lang="en-US" sz="1069" dirty="0"/>
          </a:p>
        </p:txBody>
      </p:sp>
      <p:sp>
        <p:nvSpPr>
          <p:cNvPr id="32" name="Text 25"/>
          <p:cNvSpPr/>
          <p:nvPr/>
        </p:nvSpPr>
        <p:spPr>
          <a:xfrm>
            <a:off x="4098057" y="3332671"/>
            <a:ext cx="1733587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ЛУЧНИК · РАЗВЕДКА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4098057" y="3509479"/>
            <a:ext cx="1733587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«Спроектированная ересь: отдельная ветка сюжета»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6042385" y="2858393"/>
            <a:ext cx="2640732" cy="1193006"/>
          </a:xfrm>
          <a:prstGeom prst="roundRect">
            <a:avLst>
              <a:gd name="adj" fmla="val 638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6135253" y="3144143"/>
            <a:ext cx="621506" cy="621506"/>
          </a:xfrm>
          <a:prstGeom prst="roundRect">
            <a:avLst>
              <a:gd name="adj" fmla="val 919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5" descr="/tmp/h2p-fit-1792618029939-1xiqm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8825" y="3147715"/>
            <a:ext cx="614363" cy="61436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60344" y="3141241"/>
            <a:ext cx="1733476" cy="163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Милута</a:t>
            </a:r>
            <a:endParaRPr lang="en-US" sz="1069" dirty="0"/>
          </a:p>
        </p:txBody>
      </p:sp>
      <p:sp>
        <p:nvSpPr>
          <p:cNvPr id="38" name="Text 30"/>
          <p:cNvSpPr/>
          <p:nvPr/>
        </p:nvSpPr>
        <p:spPr>
          <a:xfrm>
            <a:off x="6860344" y="3332671"/>
            <a:ext cx="17334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ПЕВЧИЙ · ЛЕТОПИСЕЦ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6860344" y="3509479"/>
            <a:ext cx="173347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«Клеветная летопись против атамана»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514350" y="4582716"/>
            <a:ext cx="817245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14350" y="4579144"/>
            <a:ext cx="8172450" cy="307238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Память каждого — теги четырёх видов: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0A77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честь · кровь · злато · вера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Теги двигают спутника по лестнице разрыва — от сомнения до „ночи ножей“.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18031342-giy8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347" y="0"/>
            <a:ext cx="3474653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347" y="0"/>
            <a:ext cx="3474653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4350" y="457200"/>
            <a:ext cx="67778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КООПЕРАТИВ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514350" y="719733"/>
            <a:ext cx="4429125" cy="79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Вылазки 2–4, которые остаются в летописи</a:t>
            </a:r>
            <a:endParaRPr lang="en-US" sz="2588" dirty="0"/>
          </a:p>
        </p:txBody>
      </p:sp>
      <p:sp>
        <p:nvSpPr>
          <p:cNvPr id="6" name="Text 2"/>
          <p:cNvSpPr/>
          <p:nvPr/>
        </p:nvSpPr>
        <p:spPr>
          <a:xfrm>
            <a:off x="514350" y="1598637"/>
            <a:ext cx="4286250" cy="77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Гибрид без компромисса: сингл-кампания держит нарратив, кооп-вылазки собираются из дневных контрактов и проходят в ночном слое. Кросс-плей всех платформ с первого дня. Вылазка сохраняется „чертой“ в летописи обоих игроков — кооп не выбрасывает историю, а дописывает её.</a:t>
            </a:r>
            <a:endParaRPr lang="en-US" sz="844" dirty="0"/>
          </a:p>
        </p:txBody>
      </p:sp>
      <p:sp>
        <p:nvSpPr>
          <p:cNvPr id="7" name="Text 3"/>
          <p:cNvSpPr/>
          <p:nvPr/>
        </p:nvSpPr>
        <p:spPr>
          <a:xfrm>
            <a:off x="517922" y="2521967"/>
            <a:ext cx="4279106" cy="732904"/>
          </a:xfrm>
          <a:prstGeom prst="roundRect">
            <a:avLst>
              <a:gd name="adj" fmla="val 10397"/>
            </a:avLst>
          </a:prstGeom>
          <a:solidFill>
            <a:srgbClr val="241F1B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07231" y="2682701"/>
            <a:ext cx="782598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×8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1382092" y="2682701"/>
            <a:ext cx="7144" cy="411435"/>
          </a:xfrm>
          <a:prstGeom prst="rect">
            <a:avLst/>
          </a:prstGeom>
          <a:solidFill>
            <a:srgbClr val="E8DFC8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574974" y="2745544"/>
            <a:ext cx="3032745" cy="348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 столько раз типичная кооп-игра продаёт лучше не-кооп на Steam: около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 тыс. копий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против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тыс.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(VGI · Sensor Tower)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14350" y="4539853"/>
            <a:ext cx="1571625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4350" y="4629150"/>
            <a:ext cx="428625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запуска: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не менее 18% игроков проводят хотя бы одну вылазку.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047" y="2073808"/>
            <a:ext cx="2202018" cy="107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41"/>
              </a:lnSpc>
              <a:buNone/>
            </a:pPr>
            <a:r>
              <a:rPr lang="en-US" sz="9563" b="1" spc="-191" kern="0" dirty="0">
                <a:solidFill>
                  <a:srgbClr val="A82727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563" dirty="0"/>
          </a:p>
        </p:txBody>
      </p:sp>
      <p:sp>
        <p:nvSpPr>
          <p:cNvPr id="3" name="Text 1"/>
          <p:cNvSpPr/>
          <p:nvPr/>
        </p:nvSpPr>
        <p:spPr>
          <a:xfrm>
            <a:off x="2080282" y="1906935"/>
            <a:ext cx="3756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46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02 /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80282" y="2169468"/>
            <a:ext cx="4318218" cy="577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12"/>
              </a:lnSpc>
              <a:buNone/>
            </a:pPr>
            <a:r>
              <a:rPr lang="en-US" sz="4050" b="1" spc="243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РЫНОК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2080282" y="2882950"/>
            <a:ext cx="85725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80282" y="3032968"/>
            <a:ext cx="2914797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i="1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Аудитория, конкуренты и модель продаж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7376703" y="4745236"/>
            <a:ext cx="14328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ЗАРНИЦА · питч для издателя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286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АУДИТОРИЯ И СПРОС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6870"/>
            <a:ext cx="8629650" cy="39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Подтверждённый рынок, свободная ниша</a:t>
            </a:r>
            <a:endParaRPr lang="en-US" sz="2588" dirty="0"/>
          </a:p>
        </p:txBody>
      </p:sp>
      <p:sp>
        <p:nvSpPr>
          <p:cNvPr id="4" name="Text 2"/>
          <p:cNvSpPr/>
          <p:nvPr/>
        </p:nvSpPr>
        <p:spPr>
          <a:xfrm>
            <a:off x="514350" y="1173473"/>
            <a:ext cx="6429375" cy="38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E8DFC8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Ядро — игроки 20–40 лет, выросшие на Witcher 3 и Baldur’s Gate 3: сюжет, выборы, длинные кампании. Вторичный сегмент — стримеры: у каждой ватаги своё предательство, и каждая „ночь ножей“ — готовый эфир.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517922" y="1751223"/>
            <a:ext cx="1935956" cy="2402867"/>
          </a:xfrm>
          <a:prstGeom prst="roundRect">
            <a:avLst>
              <a:gd name="adj" fmla="val 3936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4369" y="1911958"/>
            <a:ext cx="164306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50+ млн</a:t>
            </a:r>
            <a:endParaRPr lang="en-US" sz="2588" dirty="0"/>
          </a:p>
        </p:txBody>
      </p:sp>
      <p:sp>
        <p:nvSpPr>
          <p:cNvPr id="7" name="Text 5"/>
          <p:cNvSpPr/>
          <p:nvPr/>
        </p:nvSpPr>
        <p:spPr>
          <a:xfrm>
            <a:off x="664369" y="2354870"/>
            <a:ext cx="314325" cy="7144"/>
          </a:xfrm>
          <a:prstGeom prst="rect">
            <a:avLst/>
          </a:prstGeom>
          <a:solidFill>
            <a:srgbClr val="E8DFC8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69" y="2447739"/>
            <a:ext cx="174164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Ведьмак 3: эталон сюжетной RPG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75322" y="1751223"/>
            <a:ext cx="1935956" cy="2402867"/>
          </a:xfrm>
          <a:prstGeom prst="roundRect">
            <a:avLst>
              <a:gd name="adj" fmla="val 3936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21769" y="1911958"/>
            <a:ext cx="164306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20+ млн</a:t>
            </a:r>
            <a:endParaRPr lang="en-US" sz="2588" dirty="0"/>
          </a:p>
        </p:txBody>
      </p:sp>
      <p:sp>
        <p:nvSpPr>
          <p:cNvPr id="11" name="Text 9"/>
          <p:cNvSpPr/>
          <p:nvPr/>
        </p:nvSpPr>
        <p:spPr>
          <a:xfrm>
            <a:off x="2721769" y="2354870"/>
            <a:ext cx="314325" cy="7144"/>
          </a:xfrm>
          <a:prstGeom prst="rect">
            <a:avLst/>
          </a:prstGeom>
          <a:solidFill>
            <a:srgbClr val="E8DFC8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1769" y="2447739"/>
            <a:ext cx="1643063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Baldur’s Gate 3 к декабрю 2025 (Bloomberg)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2722" y="1751223"/>
            <a:ext cx="1935956" cy="2402867"/>
          </a:xfrm>
          <a:prstGeom prst="roundRect">
            <a:avLst>
              <a:gd name="adj" fmla="val 3936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9169" y="1911958"/>
            <a:ext cx="164306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30 млн</a:t>
            </a:r>
            <a:endParaRPr lang="en-US" sz="2588" dirty="0"/>
          </a:p>
        </p:txBody>
      </p:sp>
      <p:sp>
        <p:nvSpPr>
          <p:cNvPr id="15" name="Text 13"/>
          <p:cNvSpPr/>
          <p:nvPr/>
        </p:nvSpPr>
        <p:spPr>
          <a:xfrm>
            <a:off x="4779169" y="2354870"/>
            <a:ext cx="314325" cy="7144"/>
          </a:xfrm>
          <a:prstGeom prst="rect">
            <a:avLst/>
          </a:prstGeom>
          <a:solidFill>
            <a:srgbClr val="E8DFC8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79169" y="2447739"/>
            <a:ext cx="1643063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Takes Two: кооп-феномен; у Hazelight всего 50+ млн (A Way Out 13 млн, Split Fiction 7 млн)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0122" y="1751223"/>
            <a:ext cx="1935956" cy="2402867"/>
          </a:xfrm>
          <a:prstGeom prst="roundRect">
            <a:avLst>
              <a:gd name="adj" fmla="val 3936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36569" y="1911958"/>
            <a:ext cx="1643062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100 тыс.</a:t>
            </a:r>
            <a:endParaRPr lang="en-US" sz="2588" dirty="0"/>
          </a:p>
        </p:txBody>
      </p:sp>
      <p:sp>
        <p:nvSpPr>
          <p:cNvPr id="19" name="Text 17"/>
          <p:cNvSpPr/>
          <p:nvPr/>
        </p:nvSpPr>
        <p:spPr>
          <a:xfrm>
            <a:off x="6836569" y="2354870"/>
            <a:ext cx="314325" cy="7144"/>
          </a:xfrm>
          <a:prstGeom prst="rect">
            <a:avLst/>
          </a:prstGeom>
          <a:solidFill>
            <a:srgbClr val="E8DFC8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36569" y="2447739"/>
            <a:ext cx="1643063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3 недели — Black Book: спрос на славянский сеттинг (Morteshka, 2021)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4350" y="4357688"/>
            <a:ext cx="8115300" cy="414338"/>
          </a:xfrm>
          <a:prstGeom prst="rect">
            <a:avLst/>
          </a:prstGeom>
          <a:solidFill>
            <a:srgbClr val="1B18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25066" y="4357688"/>
            <a:ext cx="0" cy="414338"/>
          </a:xfrm>
          <a:prstGeom prst="line">
            <a:avLst/>
          </a:prstGeom>
          <a:noFill/>
          <a:ln w="21431">
            <a:solidFill>
              <a:srgbClr val="A827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4357688"/>
            <a:ext cx="8115300" cy="447485"/>
          </a:xfrm>
          <a:prstGeom prst="rect">
            <a:avLst/>
          </a:prstGeom>
          <a:noFill/>
          <a:ln/>
        </p:spPr>
        <p:txBody>
          <a:bodyPr wrap="square" lIns="171450" tIns="121444" rIns="171450" bIns="121444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i="1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Ниша „взрослого тёмного фэнтези с компаньонами“ свободна с уходом Dragon Age в мультиплеерные эксперименты.</a:t>
            </a:r>
            <a:endParaRPr lang="en-US" sz="8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11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КОНКУРЕНТНОЕ ПОЗИЦИОНИРОВАНИЕ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48295"/>
            <a:ext cx="8629650" cy="39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588" b="1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Берём сочетание, нишу — себе</a:t>
            </a:r>
            <a:endParaRPr lang="en-US" sz="2588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659136"/>
          <a:ext cx="8115300" cy="914400"/>
        </p:xfrm>
        <a:graphic>
          <a:graphicData uri="http://schemas.openxmlformats.org/drawingml/2006/table">
            <a:tbl>
              <a:tblPr/>
              <a:tblGrid>
                <a:gridCol w="1379525"/>
                <a:gridCol w="2353419"/>
                <a:gridCol w="2515716"/>
                <a:gridCol w="18666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Игра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8229600" marT="0" marB="56578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Сильная сторона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8229600" marT="0" marB="56578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Чего не хватает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8229600" marT="0" marB="56578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Наш ответ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0" marR="114300" marT="114300" marB="78581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9" b="1" dirty="0">
                          <a:solidFill>
                            <a:srgbClr val="E8DFC8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Ведьмак 3</a:t>
                      </a:r>
                      <a:endParaRPr lang="en-US" sz="1069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Плотность квестов, взрослые моральные дилеммы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Спутники — декорации, предательство по сценарию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Спутники — ядро симуляции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9" b="1" dirty="0">
                          <a:solidFill>
                            <a:srgbClr val="E8DFC8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Baldur’s Gate 3</a:t>
                      </a:r>
                      <a:endParaRPr lang="en-US" sz="1069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Свобода решений, репутация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Мир не живёт вне партии; нет автономных целей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Цели компаньонов исполняются вне кадра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9" b="1" dirty="0">
                          <a:solidFill>
                            <a:srgbClr val="E8DFC8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Dragon Age</a:t>
                      </a:r>
                      <a:endParaRPr lang="en-US" sz="1069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Ансамбль персонажей, банter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Одно число одобрения; разрывы косметические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Пять необратимых ступеней разрыва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9" b="1" dirty="0">
                          <a:solidFill>
                            <a:srgbClr val="E8DFC8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Kingdom Come 2</a:t>
                      </a:r>
                      <a:endParaRPr lang="en-US" sz="1069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Симуляция подготовки и быта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A89E8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Нет party-механик и сюжетной ватаги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229600" marR="8229600" marT="0" marB="82296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DFC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Подготовка + ансамбль в одном цикле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14300" marT="114300" marB="1143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14350" y="4368403"/>
            <a:ext cx="811530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4471988"/>
            <a:ext cx="81153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i="1" dirty="0">
                <a:solidFill>
                  <a:srgbClr val="C0A77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 мира — у CD Projekt RED. Плотность симуляции — у Larian. Ансамблевая драма — у BioWare. Память и предательство товарищей — только у нас.</a:t>
            </a:r>
            <a:endParaRPr lang="en-US" sz="8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46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ПРОДАЖ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5433"/>
            <a:ext cx="6880157" cy="38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26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Премиум с длинным жизненным циклом</a:t>
            </a:r>
            <a:endParaRPr lang="en-US" sz="2588" dirty="0"/>
          </a:p>
        </p:txBody>
      </p:sp>
      <p:sp>
        <p:nvSpPr>
          <p:cNvPr id="4" name="Shape 2"/>
          <p:cNvSpPr/>
          <p:nvPr/>
        </p:nvSpPr>
        <p:spPr>
          <a:xfrm>
            <a:off x="7115175" y="870979"/>
            <a:ext cx="1571625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0772" y="1302395"/>
            <a:ext cx="2659819" cy="732569"/>
          </a:xfrm>
          <a:prstGeom prst="roundRect">
            <a:avLst>
              <a:gd name="adj" fmla="val 10402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5794" y="1463129"/>
            <a:ext cx="2309775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$69,99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635794" y="1740284"/>
            <a:ext cx="23097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базовой игры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42035" y="1302395"/>
            <a:ext cx="2659819" cy="732569"/>
          </a:xfrm>
          <a:prstGeom prst="roundRect">
            <a:avLst>
              <a:gd name="adj" fmla="val 10402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17057" y="1463129"/>
            <a:ext cx="2309775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PC · консоли · облако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3417057" y="1740284"/>
            <a:ext cx="23097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платформы релиза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23297" y="1302395"/>
            <a:ext cx="2659931" cy="732569"/>
          </a:xfrm>
          <a:prstGeom prst="roundRect">
            <a:avLst>
              <a:gd name="adj" fmla="val 10402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8319" y="1463129"/>
            <a:ext cx="2309887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Кросс-плей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6198319" y="1740284"/>
            <a:ext cx="230988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единый пул с первого дня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377083"/>
            <a:ext cx="15458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77" kern="0" dirty="0">
                <a:solidFill>
                  <a:srgbClr val="C0A77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ЖИЗНЕННЫЙ ЦИКЛ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37370" y="2433340"/>
            <a:ext cx="704943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772" y="2607469"/>
            <a:ext cx="2659819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06" y="2753916"/>
            <a:ext cx="2338350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5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МЕСЯЦ 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506" y="2930723"/>
            <a:ext cx="2338350" cy="219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„Зимние обеты“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621506" y="3177183"/>
            <a:ext cx="244807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бесплатная патч-кампания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42035" y="2607469"/>
            <a:ext cx="2659819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02769" y="2753916"/>
            <a:ext cx="2338350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5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МЕСЯЦ 10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02769" y="2930723"/>
            <a:ext cx="2338350" cy="219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DLC „Дети Зари“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3402769" y="3177183"/>
            <a:ext cx="23383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продолжение арки ватаги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23297" y="2607469"/>
            <a:ext cx="2659931" cy="850106"/>
          </a:xfrm>
          <a:prstGeom prst="roundRect">
            <a:avLst>
              <a:gd name="adj" fmla="val 8964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4032" y="2753916"/>
            <a:ext cx="2338462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5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МЕСЯЦ 20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84032" y="2930723"/>
            <a:ext cx="2338462" cy="219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DLC „Стоячее дно“</a:t>
            </a:r>
            <a:endParaRPr lang="en-US" sz="1069" dirty="0"/>
          </a:p>
        </p:txBody>
      </p:sp>
      <p:sp>
        <p:nvSpPr>
          <p:cNvPr id="27" name="Text 25"/>
          <p:cNvSpPr/>
          <p:nvPr/>
        </p:nvSpPr>
        <p:spPr>
          <a:xfrm>
            <a:off x="6184032" y="3177183"/>
            <a:ext cx="244819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подводный слой Стоячего моря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856844"/>
            <a:ext cx="2980601" cy="24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 млн копий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457200" y="4129646"/>
            <a:ext cx="30932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 первого года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3972" y="3799694"/>
            <a:ext cx="0" cy="499616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7569" y="3856844"/>
            <a:ext cx="2336006" cy="24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20 млн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3407569" y="4129646"/>
            <a:ext cx="23360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 жизненного цикла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7172" y="3799694"/>
            <a:ext cx="0" cy="499616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0769" y="3856844"/>
            <a:ext cx="2536031" cy="24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5,2 млн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6150769" y="4129646"/>
            <a:ext cx="2645759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точка окупаемости (чистая цена $42)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641428"/>
            <a:ext cx="822960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0019" y="4797698"/>
            <a:ext cx="35719" cy="35719"/>
          </a:xfrm>
          <a:prstGeom prst="ellipse">
            <a:avLst/>
          </a:prstGeom>
          <a:solidFill>
            <a:srgbClr val="C0A7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255751" y="4759300"/>
            <a:ext cx="468250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41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Завершаемость ≥ 38% · Сессии 75+ минут · Увидевших ступень IV разрыва ≥ 55% · Кооп-игроки ≥ 18% · Пресса 85+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988262" y="4797698"/>
            <a:ext cx="35719" cy="35719"/>
          </a:xfrm>
          <a:prstGeom prst="ellipse">
            <a:avLst/>
          </a:prstGeom>
          <a:solidFill>
            <a:srgbClr val="C0A7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824" y="1962745"/>
            <a:ext cx="2202018" cy="1114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28"/>
              </a:lnSpc>
              <a:buNone/>
            </a:pPr>
            <a:r>
              <a:rPr lang="en-US" sz="9563" b="1" spc="191" kern="0" dirty="0">
                <a:solidFill>
                  <a:srgbClr val="A82727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563" dirty="0"/>
          </a:p>
        </p:txBody>
      </p:sp>
      <p:sp>
        <p:nvSpPr>
          <p:cNvPr id="3" name="Text 1"/>
          <p:cNvSpPr/>
          <p:nvPr/>
        </p:nvSpPr>
        <p:spPr>
          <a:xfrm>
            <a:off x="2206079" y="1797211"/>
            <a:ext cx="41145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46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03 /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06079" y="2074032"/>
            <a:ext cx="3901706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4050" b="1" spc="162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СДЕЛКА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2206079" y="2792648"/>
            <a:ext cx="85725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06079" y="2956954"/>
            <a:ext cx="3192305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i="1" dirty="0">
                <a:solidFill>
                  <a:srgbClr val="A89E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Прототип, план производства, бюджет и условия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6982123" y="4745236"/>
            <a:ext cx="20240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ЗАРНИЦА · ПИТЧ ДЛЯ ИЗДАТЕЛЯ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52694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46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ГОТОВНОСТЬ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76858"/>
            <a:ext cx="4164070" cy="76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26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Вертикальный срез уже играбелен</a:t>
            </a:r>
            <a:endParaRPr lang="en-US" sz="2588" dirty="0"/>
          </a:p>
        </p:txBody>
      </p:sp>
      <p:sp>
        <p:nvSpPr>
          <p:cNvPr id="4" name="Text 2"/>
          <p:cNvSpPr/>
          <p:nvPr/>
        </p:nvSpPr>
        <p:spPr>
          <a:xfrm>
            <a:off x="457200" y="1429420"/>
            <a:ext cx="3785518" cy="95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„ЗАРНИЦА · Три ночи“ — работающий прототип ядра: три дня и три ночи, все четыре системы в одном билде. Реальное время с обетной паузой и четырьмя обликами зарницы; лестница разрыва спутников от сомнения до „ночи ножей“; право слова после боя; фракции, золото и Мгла как мировые ресурсы.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57200" y="2470621"/>
            <a:ext cx="928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C0A7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35794" y="2470621"/>
            <a:ext cx="3606924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Полный золотой путь проверен: титул → контракты → три ночи → финал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2884959"/>
            <a:ext cx="928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C0A7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635794" y="2884959"/>
            <a:ext cx="3606924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финала на трёх линиях поведения атамана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457200" y="3138562"/>
            <a:ext cx="928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C0A77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35794" y="3138562"/>
            <a:ext cx="3606924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спутников с памятью, тегами и правом слова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460772" y="4418409"/>
            <a:ext cx="3778374" cy="407194"/>
          </a:xfrm>
          <a:prstGeom prst="roundRect">
            <a:avLst>
              <a:gd name="adj" fmla="val 18713"/>
            </a:avLst>
          </a:prstGeom>
          <a:solidFill>
            <a:srgbClr val="A82727">
              <a:alpha val="10000"/>
            </a:srgbClr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7219" y="4579144"/>
            <a:ext cx="2453097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Ссылка на билд и полный GDD (30 страниц) — по запросу.</a:t>
            </a:r>
            <a:endParaRPr lang="en-US" sz="703" dirty="0"/>
          </a:p>
        </p:txBody>
      </p:sp>
      <p:sp>
        <p:nvSpPr>
          <p:cNvPr id="13" name="Text 11"/>
          <p:cNvSpPr/>
          <p:nvPr/>
        </p:nvSpPr>
        <p:spPr>
          <a:xfrm>
            <a:off x="4560615" y="346472"/>
            <a:ext cx="4122613" cy="1993106"/>
          </a:xfrm>
          <a:prstGeom prst="roundRect">
            <a:avLst>
              <a:gd name="adj" fmla="val 3823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tmp/h2p-fit-1792618036698-xaybx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4187" y="350044"/>
            <a:ext cx="4115470" cy="198596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57043" y="2400300"/>
            <a:ext cx="44601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Лагерь: память ватаги, разговор и состав вылазки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60615" y="2662833"/>
            <a:ext cx="4122613" cy="1993106"/>
          </a:xfrm>
          <a:prstGeom prst="roundRect">
            <a:avLst>
              <a:gd name="adj" fmla="val 3823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/tmp/h2p-fit-1792618036698-oajvb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87" y="2666405"/>
            <a:ext cx="4115470" cy="198596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57043" y="4716661"/>
            <a:ext cx="41297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Ночь: обетная пауза, приказы и четыре облика зарницы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65637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46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ПРОИЗВОДСТВЕННЫЙ ПЛАН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2570"/>
            <a:ext cx="5186854" cy="38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26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Пять лет, пять фаз — $210 млн</a:t>
            </a:r>
            <a:endParaRPr lang="en-US" sz="2588" dirty="0"/>
          </a:p>
        </p:txBody>
      </p:sp>
      <p:sp>
        <p:nvSpPr>
          <p:cNvPr id="4" name="Shape 2"/>
          <p:cNvSpPr/>
          <p:nvPr/>
        </p:nvSpPr>
        <p:spPr>
          <a:xfrm>
            <a:off x="7115175" y="828117"/>
            <a:ext cx="1571625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0772" y="1174700"/>
            <a:ext cx="1547292" cy="1100361"/>
          </a:xfrm>
          <a:prstGeom prst="roundRect">
            <a:avLst>
              <a:gd name="adj" fmla="val 692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292572"/>
            <a:ext cx="132583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2027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71500" y="1556891"/>
            <a:ext cx="1325835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7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ПРЕ-ПРОДАКШН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500" y="1740843"/>
            <a:ext cx="1405385" cy="20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вертикальный срез: Полесье, бой, память ватаги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1500" y="1973238"/>
            <a:ext cx="1325835" cy="183952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90–120 чел.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29507" y="1174700"/>
            <a:ext cx="1547292" cy="1100361"/>
          </a:xfrm>
          <a:prstGeom prst="roundRect">
            <a:avLst>
              <a:gd name="adj" fmla="val 692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40235" y="1292572"/>
            <a:ext cx="132583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2028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2240235" y="1556891"/>
            <a:ext cx="1325835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7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ПРОИЗВОДСТВО 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40235" y="1740843"/>
            <a:ext cx="1405385" cy="20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региона, полный бестиарий, движок предательства v1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40235" y="1973238"/>
            <a:ext cx="1325835" cy="183952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240–300 чел.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98243" y="1174700"/>
            <a:ext cx="1547403" cy="1100361"/>
          </a:xfrm>
          <a:prstGeom prst="roundRect">
            <a:avLst>
              <a:gd name="adj" fmla="val 692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08971" y="1292572"/>
            <a:ext cx="1325947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2029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3908971" y="1556891"/>
            <a:ext cx="1325947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7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ПРОИЗВОДСТВО II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08971" y="1740843"/>
            <a:ext cx="1405504" cy="20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пять регионов, озвученный сюжетный скелет, кооп-альфа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08971" y="1973238"/>
            <a:ext cx="1325947" cy="183952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360–420 чел.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67090" y="1174700"/>
            <a:ext cx="1547292" cy="1100361"/>
          </a:xfrm>
          <a:prstGeom prst="roundRect">
            <a:avLst>
              <a:gd name="adj" fmla="val 692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77818" y="1292572"/>
            <a:ext cx="132583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2030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577818" y="1556891"/>
            <a:ext cx="1325835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7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АЛЬФА И БЕТА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77818" y="1740843"/>
            <a:ext cx="1405385" cy="20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контент-лок, баланс, кооп-бета, локализации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18" y="1973238"/>
            <a:ext cx="1325835" cy="183952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420–450 чел.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5825" y="1174700"/>
            <a:ext cx="1547403" cy="1100361"/>
          </a:xfrm>
          <a:prstGeom prst="roundRect">
            <a:avLst>
              <a:gd name="adj" fmla="val 6925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46553" y="1292572"/>
            <a:ext cx="1325947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2031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7246553" y="1556891"/>
            <a:ext cx="1325947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70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РЕЛИЗ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46553" y="1740843"/>
            <a:ext cx="1405504" cy="20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оптимизация, сертификация, маркетинговая кампания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46553" y="1973238"/>
            <a:ext cx="1325947" cy="183952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400 → 150 чел.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2532348"/>
            <a:ext cx="1629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77" kern="0" dirty="0">
                <a:solidFill>
                  <a:srgbClr val="C0A77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БЮДЖЕТ: $210 МЛН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94185" y="2588605"/>
            <a:ext cx="6992615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44874"/>
            <a:ext cx="77564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08290" y="2744874"/>
            <a:ext cx="5770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$97M (46%)</a:t>
            </a:r>
            <a:endParaRPr lang="en-US" sz="703" dirty="0"/>
          </a:p>
        </p:txBody>
      </p:sp>
      <p:sp>
        <p:nvSpPr>
          <p:cNvPr id="34" name="Text 32"/>
          <p:cNvSpPr/>
          <p:nvPr/>
        </p:nvSpPr>
        <p:spPr>
          <a:xfrm>
            <a:off x="457200" y="2914538"/>
            <a:ext cx="8229600" cy="57150"/>
          </a:xfrm>
          <a:prstGeom prst="roundRect">
            <a:avLst>
              <a:gd name="adj" fmla="val 66667"/>
            </a:avLst>
          </a:prstGeom>
          <a:solidFill>
            <a:srgbClr val="241F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7200" y="2914538"/>
            <a:ext cx="3785518" cy="57150"/>
          </a:xfrm>
          <a:prstGeom prst="roundRect">
            <a:avLst>
              <a:gd name="adj" fmla="val 66667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" y="3050270"/>
            <a:ext cx="77564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08290" y="3050270"/>
            <a:ext cx="5770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$44M (21%)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457200" y="3219934"/>
            <a:ext cx="8229600" cy="57150"/>
          </a:xfrm>
          <a:prstGeom prst="roundRect">
            <a:avLst>
              <a:gd name="adj" fmla="val 66667"/>
            </a:avLst>
          </a:prstGeom>
          <a:solidFill>
            <a:srgbClr val="241F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7200" y="3219934"/>
            <a:ext cx="1728118" cy="57150"/>
          </a:xfrm>
          <a:prstGeom prst="roundRect">
            <a:avLst>
              <a:gd name="adj" fmla="val 66667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57200" y="3355665"/>
            <a:ext cx="77564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Движок и кооп-технологии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08290" y="3355665"/>
            <a:ext cx="5770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$25M (12%)</a:t>
            </a:r>
            <a:endParaRPr lang="en-US" sz="703" dirty="0"/>
          </a:p>
        </p:txBody>
      </p:sp>
      <p:sp>
        <p:nvSpPr>
          <p:cNvPr id="42" name="Text 40"/>
          <p:cNvSpPr/>
          <p:nvPr/>
        </p:nvSpPr>
        <p:spPr>
          <a:xfrm>
            <a:off x="457200" y="3525329"/>
            <a:ext cx="8229600" cy="57150"/>
          </a:xfrm>
          <a:prstGeom prst="roundRect">
            <a:avLst>
              <a:gd name="adj" fmla="val 66667"/>
            </a:avLst>
          </a:prstGeom>
          <a:solidFill>
            <a:srgbClr val="241F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57200" y="3525329"/>
            <a:ext cx="987512" cy="57150"/>
          </a:xfrm>
          <a:prstGeom prst="roundRect">
            <a:avLst>
              <a:gd name="adj" fmla="val 66667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57200" y="3661060"/>
            <a:ext cx="78010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и первое DLC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46554" y="3661060"/>
            <a:ext cx="5822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$19M (9%)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3830724"/>
            <a:ext cx="8229600" cy="57150"/>
          </a:xfrm>
          <a:prstGeom prst="roundRect">
            <a:avLst>
              <a:gd name="adj" fmla="val 66667"/>
            </a:avLst>
          </a:prstGeom>
          <a:solidFill>
            <a:srgbClr val="241F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57200" y="3830724"/>
            <a:ext cx="740606" cy="57150"/>
          </a:xfrm>
          <a:prstGeom prst="roundRect">
            <a:avLst>
              <a:gd name="adj" fmla="val 66667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57200" y="3966456"/>
            <a:ext cx="78010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Аудио и 6 языков озвучки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46554" y="3966456"/>
            <a:ext cx="5822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$17M (8%)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136120"/>
            <a:ext cx="8229600" cy="57150"/>
          </a:xfrm>
          <a:prstGeom prst="roundRect">
            <a:avLst>
              <a:gd name="adj" fmla="val 66667"/>
            </a:avLst>
          </a:prstGeom>
          <a:solidFill>
            <a:srgbClr val="241F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57200" y="4136120"/>
            <a:ext cx="658341" cy="57150"/>
          </a:xfrm>
          <a:prstGeom prst="roundRect">
            <a:avLst>
              <a:gd name="adj" fmla="val 66667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57200" y="4271851"/>
            <a:ext cx="78457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Резерв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99793" y="4271851"/>
            <a:ext cx="5079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$8M (4%)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4441515"/>
            <a:ext cx="8229600" cy="57150"/>
          </a:xfrm>
          <a:prstGeom prst="roundRect">
            <a:avLst>
              <a:gd name="adj" fmla="val 66667"/>
            </a:avLst>
          </a:prstGeom>
          <a:solidFill>
            <a:srgbClr val="241F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57200" y="4441515"/>
            <a:ext cx="329171" cy="57150"/>
          </a:xfrm>
          <a:prstGeom prst="roundRect">
            <a:avLst>
              <a:gd name="adj" fmla="val 66667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57200" y="47523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Отдельная команда из 14 человек с первого дня строит движок предательства — самую рискованную и самую ценную систему проекта.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7147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46" kern="0" dirty="0">
                <a:solidFill>
                  <a:srgbClr val="C94B4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05433"/>
            <a:ext cx="8629650" cy="383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26" kern="0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Что мы просим</a:t>
            </a:r>
            <a:endParaRPr lang="en-US" sz="2588" dirty="0"/>
          </a:p>
        </p:txBody>
      </p:sp>
      <p:sp>
        <p:nvSpPr>
          <p:cNvPr id="4" name="Text 2"/>
          <p:cNvSpPr/>
          <p:nvPr/>
        </p:nvSpPr>
        <p:spPr>
          <a:xfrm>
            <a:off x="517922" y="1149586"/>
            <a:ext cx="8108156" cy="1032272"/>
          </a:xfrm>
          <a:prstGeom prst="roundRect">
            <a:avLst>
              <a:gd name="adj" fmla="val 7382"/>
            </a:avLst>
          </a:prstGeom>
          <a:solidFill>
            <a:srgbClr val="241F1B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24559" y="1353183"/>
            <a:ext cx="3694881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Финансирование полного производства — </a:t>
            </a:r>
            <a:pPr algn="l" indent="0" marL="0">
              <a:lnSpc>
                <a:spcPts val="1969"/>
              </a:lnSpc>
              <a:buNone/>
            </a:pPr>
            <a:r>
              <a:rPr lang="en-US" sz="1125" dirty="0">
                <a:solidFill>
                  <a:srgbClr val="C0A77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$210 млн</a:t>
            </a:r>
            <a:pPr algn="l" indent="0" marL="0">
              <a:lnSpc>
                <a:spcPts val="1969"/>
              </a:lnSpc>
              <a:buNone/>
            </a:pPr>
            <a:r>
              <a:rPr lang="en-US" sz="844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поэтапно по фазам 2027–2031. Издатель ведёт маркетинг, дистрибуцию и сертификацию; студия держит нарратив и движок предательства.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517922" y="2360451"/>
            <a:ext cx="3979069" cy="2216907"/>
          </a:xfrm>
          <a:prstGeom prst="roundRect">
            <a:avLst>
              <a:gd name="adj" fmla="val 343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1519" y="2535473"/>
            <a:ext cx="35718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Студия „Ватага Геймс“</a:t>
            </a:r>
            <a:endParaRPr lang="en-US" sz="1069" dirty="0"/>
          </a:p>
        </p:txBody>
      </p:sp>
      <p:sp>
        <p:nvSpPr>
          <p:cNvPr id="8" name="Shape 6"/>
          <p:cNvSpPr/>
          <p:nvPr/>
        </p:nvSpPr>
        <p:spPr>
          <a:xfrm>
            <a:off x="721519" y="2828367"/>
            <a:ext cx="45720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727" y="2974814"/>
            <a:ext cx="83625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C0A7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220</a:t>
            </a:r>
            <a:endParaRPr lang="en-US" sz="2588" dirty="0"/>
          </a:p>
        </p:txBody>
      </p:sp>
      <p:sp>
        <p:nvSpPr>
          <p:cNvPr id="10" name="Text 8"/>
          <p:cNvSpPr/>
          <p:nvPr/>
        </p:nvSpPr>
        <p:spPr>
          <a:xfrm>
            <a:off x="1328738" y="3153408"/>
            <a:ext cx="2964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штатных специалистов</a:t>
            </a:r>
            <a:endParaRPr lang="en-US" sz="800" dirty="0"/>
          </a:p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середине производства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21519" y="3582033"/>
            <a:ext cx="645728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519" y="3649898"/>
            <a:ext cx="645728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DF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721519" y="3864211"/>
            <a:ext cx="645728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нарратив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52972" y="3582033"/>
            <a:ext cx="64584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2972" y="3649898"/>
            <a:ext cx="645840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DF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1452972" y="3864211"/>
            <a:ext cx="645840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дизайн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84536" y="3582033"/>
            <a:ext cx="645728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84536" y="3649898"/>
            <a:ext cx="645728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DF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2184536" y="3864211"/>
            <a:ext cx="645728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6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программирование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915989" y="3582033"/>
            <a:ext cx="64584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5989" y="3649898"/>
            <a:ext cx="645840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DF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2915989" y="3864211"/>
            <a:ext cx="645840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47554" y="3582033"/>
            <a:ext cx="64584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7554" y="3649898"/>
            <a:ext cx="645840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DFC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3647554" y="3864211"/>
            <a:ext cx="645840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60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QA и локализация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721519" y="4168378"/>
            <a:ext cx="3571875" cy="233958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Аутсорс — до 230 мест в пик.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7009" y="2360451"/>
            <a:ext cx="3979069" cy="2216907"/>
          </a:xfrm>
          <a:prstGeom prst="roundRect">
            <a:avLst>
              <a:gd name="adj" fmla="val 3437"/>
            </a:avLst>
          </a:prstGeom>
          <a:solidFill>
            <a:srgbClr val="1B1817"/>
          </a:solidFill>
          <a:ln w="7144">
            <a:solidFill>
              <a:srgbClr val="E8DFC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50606" y="2535473"/>
            <a:ext cx="35718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E8DFC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Следующие шаги</a:t>
            </a:r>
            <a:endParaRPr lang="en-US" sz="1069" dirty="0"/>
          </a:p>
        </p:txBody>
      </p:sp>
      <p:sp>
        <p:nvSpPr>
          <p:cNvPr id="29" name="Shape 27"/>
          <p:cNvSpPr/>
          <p:nvPr/>
        </p:nvSpPr>
        <p:spPr>
          <a:xfrm>
            <a:off x="4850606" y="2828367"/>
            <a:ext cx="45720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0606" y="3348410"/>
            <a:ext cx="3571875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4969" y="3120703"/>
            <a:ext cx="291486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1181" dirty="0">
                <a:solidFill>
                  <a:srgbClr val="C94B4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·</a:t>
            </a:r>
            <a:endParaRPr lang="en-US" sz="1181" dirty="0"/>
          </a:p>
        </p:txBody>
      </p:sp>
      <p:sp>
        <p:nvSpPr>
          <p:cNvPr id="32" name="Text 30"/>
          <p:cNvSpPr/>
          <p:nvPr/>
        </p:nvSpPr>
        <p:spPr>
          <a:xfrm>
            <a:off x="5098963" y="3149278"/>
            <a:ext cx="3323518" cy="13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прототипа и разбор GDD — 60 минут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50606" y="3797015"/>
            <a:ext cx="3571875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4969" y="3569308"/>
            <a:ext cx="291486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1181" dirty="0">
                <a:solidFill>
                  <a:srgbClr val="C94B4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·</a:t>
            </a:r>
            <a:endParaRPr lang="en-US" sz="1181" dirty="0"/>
          </a:p>
        </p:txBody>
      </p:sp>
      <p:sp>
        <p:nvSpPr>
          <p:cNvPr id="35" name="Text 33"/>
          <p:cNvSpPr/>
          <p:nvPr/>
        </p:nvSpPr>
        <p:spPr>
          <a:xfrm>
            <a:off x="5098963" y="3597883"/>
            <a:ext cx="3323518" cy="13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 к полной финмодели и матрице предательств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34969" y="4017913"/>
            <a:ext cx="291486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1181" dirty="0">
                <a:solidFill>
                  <a:srgbClr val="C94B4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·</a:t>
            </a:r>
            <a:endParaRPr lang="en-US" sz="1181" dirty="0"/>
          </a:p>
        </p:txBody>
      </p:sp>
      <p:sp>
        <p:nvSpPr>
          <p:cNvPr id="37" name="Text 35"/>
          <p:cNvSpPr/>
          <p:nvPr/>
        </p:nvSpPr>
        <p:spPr>
          <a:xfrm>
            <a:off x="5098963" y="4046488"/>
            <a:ext cx="332351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E8DF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Term sheet до конца Q1 2027 — пре-продакшн стартует летом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46400" y="4833640"/>
            <a:ext cx="85725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2237" y="4766667"/>
            <a:ext cx="246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56" kern="0" dirty="0">
                <a:solidFill>
                  <a:srgbClr val="A89E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Ватага Геймс · hello@vataga.games · питч 2026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840350" y="4833640"/>
            <a:ext cx="857250" cy="0"/>
          </a:xfrm>
          <a:prstGeom prst="line">
            <a:avLst/>
          </a:prstGeom>
          <a:noFill/>
          <a:ln w="7144">
            <a:solidFill>
              <a:srgbClr val="E8DF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2026-10-21T21:27:17Z</dcterms:created>
  <dcterms:modified xsi:type="dcterms:W3CDTF">2026-10-21T21:27:17Z</dcterms:modified>
</cp:coreProperties>
</file>